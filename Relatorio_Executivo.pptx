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8" r:id="rId3"/>
    <p:sldId id="259" r:id="rId4"/>
    <p:sldId id="260" r:id="rId5"/>
    <p:sldId id="261" r:id="rId6"/>
    <p:sldId id="262" r:id="rId7"/>
    <p:sldId id="264" r:id="rId8"/>
    <p:sldId id="265" r:id="rId9"/>
    <p:sldId id="266" r:id="rId10"/>
    <p:sldId id="267" r:id="rId11"/>
    <p:sldId id="268" r:id="rId12"/>
    <p:sldId id="275" r:id="rId13"/>
    <p:sldId id="276" r:id="rId14"/>
    <p:sldId id="277" r:id="rId15"/>
    <p:sldId id="278" r:id="rId16"/>
    <p:sldId id="280" r:id="rId17"/>
    <p:sldId id="273" r:id="rId18"/>
    <p:sldId id="274" r:id="rId19"/>
    <p:sldId id="270" r:id="rId20"/>
    <p:sldId id="281" r:id="rId21"/>
    <p:sldId id="282"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45B"/>
    <a:srgbClr val="000000"/>
    <a:srgbClr val="0B3D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3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53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CF70A-8D2C-E978-0B5E-8DA27BB15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7FC12-DB8A-590A-39C3-CEBB489DAF4F}"/>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4B202CB-AF6D-E891-241C-3D42DD8E4E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CD1D8B-DDAE-6059-8FDB-7D11D7D4880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512065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91739-9D64-7190-1E40-281240543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1CF0BE-6DB4-E16D-7097-ACD498E9C87D}"/>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FEA89C4C-D1DE-CA99-8C16-A2F2E6D4EC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E16EB5-B4F8-C0DF-9189-4E9B664F6FE1}"/>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977692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8EFA4-AF3D-DC93-D32E-5E35C52B2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E6481-C181-2B81-A30F-C45B5AAAA8B6}"/>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CCA7D1B6-C862-9A36-9EF6-9743B2A207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E61F2-97CC-5E3C-5250-7C3C5CBC6F7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264553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8B13F-B626-0339-AF2F-C0F44884A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BDFEA-9AFE-6E24-E554-E85067A65715}"/>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D2302076-73F8-03FE-EDA3-39DA680043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11CA4E-693A-C84F-F722-A9FE9F03F88B}"/>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368834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A7129-3FA4-B83F-74B1-92313AA70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11C2DA-5716-D165-D6A8-6ED8503815DA}"/>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C900916B-077C-FFFA-3A75-FB6B986C73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709ED9-79AD-6335-53CE-8BCCCC331957}"/>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619618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timesbrasil.com.br/brasil/economia-brasileira/logistica-nordeste-desafios-2026/" TargetMode="External"/><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hyperlink" Target="https://inpo.com.br/blog/logistica-no-norte-do-brasil-os-desafios-da-regiao/" TargetMode="Externa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hyperlink" Target="https://www.aboutamazon.com.br/noticias/operacoes/por-dentro-do-novo-centro-de-distribuicao-da-amazon-brasil-em-recife?utm_source=chatgpt.com" TargetMode="External"/><Relationship Id="rId2" Type="http://schemas.openxmlformats.org/officeDocument/2006/relationships/hyperlink" Target="https://shopee.com.br/blog/shopee-aumenta-capilaridade-de-entregas-com-novos-centros-de-distribuicao-no-nordeste-do-brasil/?utm_source=chatgpt.com" TargetMode="Externa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exame.com/invest/mercados/amazonia-no-mapa-da-amazon-como-varejista-chegou-onde-antes-era-impossivel/?utm_source=chatgpt.com"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boletimamazonico.com.br/mercado-livre-projeta-a-regiao-norte-como-nova-fronteira-economica-e-discute-investimentos-logisticos-com-o-deputado-sidney-leite/?utm_source=chatgpt.com"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9799320" y="-1188720"/>
            <a:ext cx="4114800" cy="4114800"/>
          </a:xfrm>
          <a:prstGeom prst="ellipse">
            <a:avLst/>
          </a:prstGeom>
          <a:solidFill>
            <a:schemeClr val="tx1">
              <a:lumMod val="65000"/>
              <a:lumOff val="35000"/>
              <a:alpha val="30000"/>
            </a:schemeClr>
          </a:solidFill>
          <a:ln>
            <a:solidFill>
              <a:srgbClr val="ED145B"/>
            </a:solidFill>
          </a:ln>
        </p:spPr>
        <p:txBody>
          <a:bodyPr/>
          <a:lstStyle/>
          <a:p>
            <a:endParaRPr lang="pt-BR"/>
          </a:p>
        </p:txBody>
      </p:sp>
      <p:sp>
        <p:nvSpPr>
          <p:cNvPr id="4" name="Text 2"/>
          <p:cNvSpPr/>
          <p:nvPr/>
        </p:nvSpPr>
        <p:spPr>
          <a:xfrm>
            <a:off x="822960" y="1965960"/>
            <a:ext cx="6210138" cy="365760"/>
          </a:xfrm>
          <a:prstGeom prst="rect">
            <a:avLst/>
          </a:prstGeom>
          <a:noFill/>
          <a:ln/>
        </p:spPr>
        <p:txBody>
          <a:bodyPr wrap="square" rtlCol="0" anchor="ctr"/>
          <a:lstStyle/>
          <a:p>
            <a:r>
              <a:rPr lang="en-US" sz="1300" b="1" kern="0" spc="200" dirty="0">
                <a:solidFill>
                  <a:schemeClr val="bg2">
                    <a:lumMod val="75000"/>
                  </a:schemeClr>
                </a:solidFill>
                <a:latin typeface="Calibri" pitchFamily="34" charset="0"/>
                <a:ea typeface="Calibri" pitchFamily="34" charset="-122"/>
                <a:cs typeface="Calibri" pitchFamily="34" charset="-120"/>
              </a:rPr>
              <a:t>TECH CHALLENGE · FASE 1 · POSTECH DATA ANALYTICS · FIAP</a:t>
            </a:r>
            <a:endParaRPr lang="en-US" sz="1300" dirty="0">
              <a:solidFill>
                <a:schemeClr val="bg2">
                  <a:lumMod val="75000"/>
                </a:schemeClr>
              </a:solidFill>
            </a:endParaRPr>
          </a:p>
        </p:txBody>
      </p:sp>
      <p:sp>
        <p:nvSpPr>
          <p:cNvPr id="3" name="Shape 1"/>
          <p:cNvSpPr/>
          <p:nvPr/>
        </p:nvSpPr>
        <p:spPr>
          <a:xfrm>
            <a:off x="-1371600" y="4846320"/>
            <a:ext cx="3657600" cy="3657600"/>
          </a:xfrm>
          <a:prstGeom prst="ellipse">
            <a:avLst/>
          </a:prstGeom>
          <a:solidFill>
            <a:schemeClr val="bg1">
              <a:lumMod val="85000"/>
              <a:alpha val="15000"/>
            </a:schemeClr>
          </a:solidFill>
          <a:ln/>
        </p:spPr>
        <p:txBody>
          <a:bodyPr/>
          <a:lstStyle/>
          <a:p>
            <a:endParaRPr lang="pt-BR"/>
          </a:p>
        </p:txBody>
      </p:sp>
      <p:sp>
        <p:nvSpPr>
          <p:cNvPr id="5" name="Text 3"/>
          <p:cNvSpPr/>
          <p:nvPr/>
        </p:nvSpPr>
        <p:spPr>
          <a:xfrm>
            <a:off x="822960" y="2697480"/>
            <a:ext cx="6210138" cy="640080"/>
          </a:xfrm>
          <a:prstGeom prst="rect">
            <a:avLst/>
          </a:prstGeom>
          <a:solidFill>
            <a:srgbClr val="ED145B"/>
          </a:solidFill>
          <a:ln/>
        </p:spPr>
        <p:txBody>
          <a:bodyPr wrap="square" rtlCol="0" anchor="ctr"/>
          <a:lstStyle/>
          <a:p>
            <a:pPr marL="0" indent="0">
              <a:buNone/>
            </a:pPr>
            <a:r>
              <a:rPr lang="en-US" sz="3600" b="1" dirty="0">
                <a:solidFill>
                  <a:schemeClr val="tx1">
                    <a:lumMod val="85000"/>
                    <a:lumOff val="15000"/>
                  </a:schemeClr>
                </a:solidFill>
                <a:latin typeface="Copperplate Gothic Light" panose="020E0507020206020404" pitchFamily="34" charset="0"/>
                <a:ea typeface="Cambria" pitchFamily="34" charset="-122"/>
              </a:rPr>
              <a:t>RELATÓRIO EXECUTIVO</a:t>
            </a:r>
            <a:endParaRPr lang="en-US" sz="3600" b="1" dirty="0">
              <a:solidFill>
                <a:schemeClr val="tx1">
                  <a:lumMod val="85000"/>
                  <a:lumOff val="15000"/>
                </a:schemeClr>
              </a:solidFill>
              <a:latin typeface="Copperplate Gothic Light" panose="020E0507020206020404" pitchFamily="34" charset="0"/>
            </a:endParaRPr>
          </a:p>
        </p:txBody>
      </p:sp>
      <p:sp>
        <p:nvSpPr>
          <p:cNvPr id="6" name="Text 4"/>
          <p:cNvSpPr/>
          <p:nvPr/>
        </p:nvSpPr>
        <p:spPr>
          <a:xfrm>
            <a:off x="822960" y="3175104"/>
            <a:ext cx="6210138" cy="640080"/>
          </a:xfrm>
          <a:prstGeom prst="rect">
            <a:avLst/>
          </a:prstGeom>
          <a:noFill/>
          <a:ln/>
        </p:spPr>
        <p:txBody>
          <a:bodyPr wrap="square" rtlCol="0" anchor="ctr"/>
          <a:lstStyle/>
          <a:p>
            <a:pPr algn="ctr"/>
            <a:r>
              <a:rPr lang="en-US" sz="1400" dirty="0">
                <a:solidFill>
                  <a:srgbClr val="ED145B"/>
                </a:solidFill>
                <a:latin typeface="Calibri" pitchFamily="34" charset="0"/>
                <a:ea typeface="Calibri" pitchFamily="34" charset="-122"/>
                <a:cs typeface="Calibri" pitchFamily="34" charset="-120"/>
              </a:rPr>
              <a:t>Case </a:t>
            </a:r>
            <a:r>
              <a:rPr lang="en-US" sz="1400" dirty="0" err="1">
                <a:solidFill>
                  <a:srgbClr val="ED145B"/>
                </a:solidFill>
                <a:latin typeface="Calibri" pitchFamily="34" charset="0"/>
                <a:ea typeface="Calibri" pitchFamily="34" charset="-122"/>
                <a:cs typeface="Calibri" pitchFamily="34" charset="-120"/>
              </a:rPr>
              <a:t>Olist</a:t>
            </a:r>
            <a:r>
              <a:rPr lang="en-US" sz="1400" dirty="0">
                <a:solidFill>
                  <a:srgbClr val="ED145B"/>
                </a:solidFill>
                <a:latin typeface="Calibri" pitchFamily="34" charset="0"/>
                <a:ea typeface="Calibri" pitchFamily="34" charset="-122"/>
                <a:cs typeface="Calibri" pitchFamily="34" charset="-120"/>
              </a:rPr>
              <a:t> e-commerce: </a:t>
            </a:r>
            <a:r>
              <a:rPr lang="en-US" sz="1400" dirty="0" err="1">
                <a:solidFill>
                  <a:srgbClr val="ED145B"/>
                </a:solidFill>
                <a:latin typeface="Calibri" pitchFamily="34" charset="0"/>
                <a:ea typeface="Calibri" pitchFamily="34" charset="-122"/>
                <a:cs typeface="Calibri" pitchFamily="34" charset="-120"/>
              </a:rPr>
              <a:t>Desempenho</a:t>
            </a:r>
            <a:r>
              <a:rPr lang="en-US" sz="1400" dirty="0">
                <a:solidFill>
                  <a:srgbClr val="ED145B"/>
                </a:solidFill>
                <a:latin typeface="Calibri" pitchFamily="34" charset="0"/>
                <a:ea typeface="Calibri" pitchFamily="34" charset="-122"/>
                <a:cs typeface="Calibri" pitchFamily="34" charset="-120"/>
              </a:rPr>
              <a:t> </a:t>
            </a:r>
            <a:r>
              <a:rPr lang="en-US" sz="1400" dirty="0" err="1">
                <a:solidFill>
                  <a:srgbClr val="ED145B"/>
                </a:solidFill>
                <a:latin typeface="Calibri" pitchFamily="34" charset="0"/>
                <a:ea typeface="Calibri" pitchFamily="34" charset="-122"/>
                <a:cs typeface="Calibri" pitchFamily="34" charset="-120"/>
              </a:rPr>
              <a:t>Comercial</a:t>
            </a:r>
            <a:r>
              <a:rPr lang="en-US" sz="1400" dirty="0">
                <a:solidFill>
                  <a:srgbClr val="ED145B"/>
                </a:solidFill>
                <a:latin typeface="Calibri" pitchFamily="34" charset="0"/>
                <a:ea typeface="Calibri" pitchFamily="34" charset="-122"/>
                <a:cs typeface="Calibri" pitchFamily="34" charset="-120"/>
              </a:rPr>
              <a:t>, </a:t>
            </a:r>
            <a:r>
              <a:rPr lang="en-US" sz="1400" dirty="0" err="1">
                <a:solidFill>
                  <a:srgbClr val="ED145B"/>
                </a:solidFill>
                <a:latin typeface="Calibri" pitchFamily="34" charset="0"/>
                <a:ea typeface="Calibri" pitchFamily="34" charset="-122"/>
                <a:cs typeface="Calibri" pitchFamily="34" charset="-120"/>
              </a:rPr>
              <a:t>Logística</a:t>
            </a:r>
            <a:r>
              <a:rPr lang="en-US" sz="1400" dirty="0">
                <a:solidFill>
                  <a:srgbClr val="ED145B"/>
                </a:solidFill>
                <a:latin typeface="Calibri" pitchFamily="34" charset="0"/>
                <a:ea typeface="Calibri" pitchFamily="34" charset="-122"/>
                <a:cs typeface="Calibri" pitchFamily="34" charset="-120"/>
              </a:rPr>
              <a:t> e </a:t>
            </a:r>
            <a:r>
              <a:rPr lang="en-US" sz="1400" dirty="0" err="1">
                <a:solidFill>
                  <a:srgbClr val="ED145B"/>
                </a:solidFill>
                <a:latin typeface="Calibri" pitchFamily="34" charset="0"/>
                <a:ea typeface="Calibri" pitchFamily="34" charset="-122"/>
                <a:cs typeface="Calibri" pitchFamily="34" charset="-120"/>
              </a:rPr>
              <a:t>Satisfação</a:t>
            </a:r>
            <a:r>
              <a:rPr lang="en-US" sz="1400" dirty="0">
                <a:solidFill>
                  <a:srgbClr val="ED145B"/>
                </a:solidFill>
                <a:latin typeface="Calibri" pitchFamily="34" charset="0"/>
                <a:ea typeface="Calibri" pitchFamily="34" charset="-122"/>
                <a:cs typeface="Calibri" pitchFamily="34" charset="-120"/>
              </a:rPr>
              <a:t> do </a:t>
            </a:r>
            <a:r>
              <a:rPr lang="en-US" sz="1400" dirty="0" err="1">
                <a:solidFill>
                  <a:srgbClr val="ED145B"/>
                </a:solidFill>
                <a:latin typeface="Calibri" pitchFamily="34" charset="0"/>
                <a:ea typeface="Calibri" pitchFamily="34" charset="-122"/>
                <a:cs typeface="Calibri" pitchFamily="34" charset="-120"/>
              </a:rPr>
              <a:t>Cliente</a:t>
            </a:r>
            <a:endParaRPr lang="en-US" sz="1400" dirty="0">
              <a:solidFill>
                <a:srgbClr val="ED145B"/>
              </a:solidFill>
            </a:endParaRPr>
          </a:p>
        </p:txBody>
      </p:sp>
      <p:sp>
        <p:nvSpPr>
          <p:cNvPr id="12" name="Elipse 11">
            <a:extLst>
              <a:ext uri="{FF2B5EF4-FFF2-40B4-BE49-F238E27FC236}">
                <a16:creationId xmlns:a16="http://schemas.microsoft.com/office/drawing/2014/main" id="{8935DE95-C534-366F-BA32-835D17320FE4}"/>
              </a:ext>
            </a:extLst>
          </p:cNvPr>
          <p:cNvSpPr/>
          <p:nvPr/>
        </p:nvSpPr>
        <p:spPr>
          <a:xfrm>
            <a:off x="-941205" y="5845240"/>
            <a:ext cx="2052320" cy="1798320"/>
          </a:xfrm>
          <a:prstGeom prst="ellipse">
            <a:avLst/>
          </a:prstGeom>
          <a:solidFill>
            <a:srgbClr val="ED14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6">
            <a:extLst>
              <a:ext uri="{FF2B5EF4-FFF2-40B4-BE49-F238E27FC236}">
                <a16:creationId xmlns:a16="http://schemas.microsoft.com/office/drawing/2014/main" id="{D6007C1F-5942-DC35-3B21-43361EF22CDB}"/>
              </a:ext>
            </a:extLst>
          </p:cNvPr>
          <p:cNvSpPr/>
          <p:nvPr/>
        </p:nvSpPr>
        <p:spPr>
          <a:xfrm>
            <a:off x="822960" y="3925000"/>
            <a:ext cx="6210138" cy="365760"/>
          </a:xfrm>
          <a:prstGeom prst="rect">
            <a:avLst/>
          </a:prstGeom>
          <a:noFill/>
          <a:ln/>
        </p:spPr>
        <p:txBody>
          <a:bodyPr wrap="square" rtlCol="0" anchor="ctr"/>
          <a:lstStyle/>
          <a:p>
            <a:pPr marL="0" indent="0" algn="ctr">
              <a:buNone/>
            </a:pPr>
            <a:r>
              <a:rPr lang="en-US" sz="1300" dirty="0">
                <a:solidFill>
                  <a:schemeClr val="bg2">
                    <a:lumMod val="75000"/>
                  </a:schemeClr>
                </a:solidFill>
                <a:latin typeface="Calibri" pitchFamily="34" charset="0"/>
                <a:ea typeface="Calibri" pitchFamily="34" charset="-122"/>
                <a:cs typeface="Calibri" pitchFamily="34" charset="-120"/>
              </a:rPr>
              <a:t>Base: Brazilian E-Commerce Public Dataset by Olist  ·  Período analisado: 2016–2018</a:t>
            </a:r>
            <a:endParaRPr lang="en-US" sz="1300" dirty="0">
              <a:solidFill>
                <a:schemeClr val="bg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chemeClr val="bg2"/>
        </a:solidFill>
        <a:effectLst/>
      </p:bgPr>
    </p:bg>
    <p:spTree>
      <p:nvGrpSpPr>
        <p:cNvPr id="1" name=""/>
        <p:cNvGrpSpPr/>
        <p:nvPr/>
      </p:nvGrpSpPr>
      <p:grpSpPr>
        <a:xfrm>
          <a:off x="0" y="0"/>
          <a:ext cx="0" cy="0"/>
          <a:chOff x="0" y="0"/>
          <a:chExt cx="0" cy="0"/>
        </a:xfrm>
      </p:grpSpPr>
      <p:sp>
        <p:nvSpPr>
          <p:cNvPr id="28" name="Retângulo: Cantos Arredondados 27">
            <a:extLst>
              <a:ext uri="{FF2B5EF4-FFF2-40B4-BE49-F238E27FC236}">
                <a16:creationId xmlns:a16="http://schemas.microsoft.com/office/drawing/2014/main" id="{5DEF7B8A-9667-2A04-2CD9-0A39E3AFD283}"/>
              </a:ext>
            </a:extLst>
          </p:cNvPr>
          <p:cNvSpPr/>
          <p:nvPr/>
        </p:nvSpPr>
        <p:spPr>
          <a:xfrm rot="18547115">
            <a:off x="6839434" y="-504231"/>
            <a:ext cx="8528711" cy="7597454"/>
          </a:xfrm>
          <a:prstGeom prst="roundRect">
            <a:avLst>
              <a:gd name="adj" fmla="val 10101"/>
            </a:avLst>
          </a:prstGeom>
          <a:solidFill>
            <a:schemeClr val="bg2">
              <a:lumMod val="10000"/>
            </a:schemeClr>
          </a:solidFill>
          <a:ln/>
        </p:spPr>
        <p:txBody>
          <a:bodyPr/>
          <a:lstStyle/>
          <a:p>
            <a:endParaRPr lang="pt-BR">
              <a:solidFill>
                <a:schemeClr val="tx1"/>
              </a:solidFill>
            </a:endParaRPr>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2800" b="1" dirty="0">
                <a:solidFill>
                  <a:srgbClr val="ED145B"/>
                </a:solidFill>
                <a:latin typeface="Cambria" pitchFamily="34" charset="0"/>
                <a:ea typeface="Cambria" pitchFamily="34" charset="-122"/>
                <a:cs typeface="Cambria" pitchFamily="34" charset="-120"/>
              </a:rPr>
              <a:t>Contexto &amp; Metodologia</a:t>
            </a:r>
            <a:endParaRPr lang="en-US" sz="2800" dirty="0">
              <a:solidFill>
                <a:srgbClr val="ED145B"/>
              </a:solidFill>
            </a:endParaRPr>
          </a:p>
        </p:txBody>
      </p:sp>
      <p:sp>
        <p:nvSpPr>
          <p:cNvPr id="4" name="Text 2"/>
          <p:cNvSpPr/>
          <p:nvPr/>
        </p:nvSpPr>
        <p:spPr>
          <a:xfrm>
            <a:off x="548640" y="1600200"/>
            <a:ext cx="5486400" cy="365760"/>
          </a:xfrm>
          <a:prstGeom prst="rect">
            <a:avLst/>
          </a:prstGeom>
          <a:noFill/>
          <a:ln/>
        </p:spPr>
        <p:txBody>
          <a:bodyPr wrap="square" rtlCol="0" anchor="ctr"/>
          <a:lstStyle/>
          <a:p>
            <a:r>
              <a:rPr lang="en-US" sz="1400" b="1" dirty="0">
                <a:solidFill>
                  <a:srgbClr val="ED145B"/>
                </a:solidFill>
                <a:latin typeface="Calibri" pitchFamily="34" charset="0"/>
                <a:ea typeface="Calibri" pitchFamily="34" charset="-122"/>
                <a:cs typeface="Calibri" pitchFamily="34" charset="-120"/>
              </a:rPr>
              <a:t>Sobre a base </a:t>
            </a:r>
            <a:r>
              <a:rPr lang="en-US" sz="1400" b="1" dirty="0" err="1">
                <a:solidFill>
                  <a:srgbClr val="ED145B"/>
                </a:solidFill>
                <a:latin typeface="Calibri" pitchFamily="34" charset="0"/>
                <a:ea typeface="Calibri" pitchFamily="34" charset="-122"/>
                <a:cs typeface="Calibri" pitchFamily="34" charset="-120"/>
              </a:rPr>
              <a:t>analisada</a:t>
            </a:r>
            <a:endParaRPr lang="en-US" sz="1400" b="1" dirty="0">
              <a:solidFill>
                <a:srgbClr val="ED145B"/>
              </a:solidFill>
              <a:latin typeface="Calibri" pitchFamily="34" charset="0"/>
              <a:ea typeface="Calibri" pitchFamily="34" charset="-122"/>
              <a:cs typeface="Calibri" pitchFamily="34" charset="-120"/>
            </a:endParaRPr>
          </a:p>
        </p:txBody>
      </p:sp>
      <p:sp>
        <p:nvSpPr>
          <p:cNvPr id="5" name="Text 3"/>
          <p:cNvSpPr/>
          <p:nvPr/>
        </p:nvSpPr>
        <p:spPr>
          <a:xfrm>
            <a:off x="548640" y="1993392"/>
            <a:ext cx="5623560" cy="1554480"/>
          </a:xfrm>
          <a:prstGeom prst="rect">
            <a:avLst/>
          </a:prstGeom>
          <a:noFill/>
          <a:ln/>
        </p:spPr>
        <p:txBody>
          <a:bodyPr wrap="square" rtlCol="0" anchor="t"/>
          <a:lstStyle/>
          <a:p>
            <a:pPr marL="0" indent="0">
              <a:lnSpc>
                <a:spcPct val="125000"/>
              </a:lnSpc>
              <a:buNone/>
            </a:pPr>
            <a:r>
              <a:rPr lang="en-US" sz="1300" dirty="0">
                <a:solidFill>
                  <a:schemeClr val="bg2">
                    <a:lumMod val="10000"/>
                  </a:schemeClr>
                </a:solidFill>
                <a:latin typeface="Calibri" pitchFamily="34" charset="0"/>
                <a:ea typeface="Calibri" pitchFamily="34" charset="-122"/>
                <a:cs typeface="Calibri" pitchFamily="34" charset="-120"/>
              </a:rPr>
              <a:t>O estudo utiliza o Brazilian E-Commerce Public Dataset, disponibilizado pela Olist, reunindo pedidos reais e anonimizados de múltiplos marketplaces no Brasil entre 2016 e 2018. As bases foram consolidadas em nível de pedido e de item, cobrindo clientes, vendedores, produtos, pagamentos e avaliações.</a:t>
            </a:r>
            <a:endParaRPr lang="en-US" sz="1300" dirty="0">
              <a:solidFill>
                <a:schemeClr val="bg2">
                  <a:lumMod val="10000"/>
                </a:schemeClr>
              </a:solidFill>
            </a:endParaRPr>
          </a:p>
        </p:txBody>
      </p:sp>
      <p:sp>
        <p:nvSpPr>
          <p:cNvPr id="6" name="Text 4"/>
          <p:cNvSpPr/>
          <p:nvPr/>
        </p:nvSpPr>
        <p:spPr>
          <a:xfrm>
            <a:off x="548640" y="3657600"/>
            <a:ext cx="5486400" cy="365760"/>
          </a:xfrm>
          <a:prstGeom prst="rect">
            <a:avLst/>
          </a:prstGeom>
          <a:noFill/>
          <a:ln/>
        </p:spPr>
        <p:txBody>
          <a:bodyPr wrap="square" rtlCol="0" anchor="ctr"/>
          <a:lstStyle/>
          <a:p>
            <a:pPr marL="0" indent="0">
              <a:buNone/>
            </a:pPr>
            <a:r>
              <a:rPr lang="en-US" sz="1400" b="1" dirty="0" err="1">
                <a:solidFill>
                  <a:srgbClr val="ED145B"/>
                </a:solidFill>
                <a:latin typeface="Calibri" pitchFamily="34" charset="0"/>
                <a:ea typeface="Calibri" pitchFamily="34" charset="-122"/>
                <a:cs typeface="Calibri" pitchFamily="34" charset="-120"/>
              </a:rPr>
              <a:t>Abordagem</a:t>
            </a:r>
            <a:r>
              <a:rPr lang="en-US" sz="1400" b="1" dirty="0">
                <a:solidFill>
                  <a:srgbClr val="ED145B"/>
                </a:solidFill>
                <a:latin typeface="Calibri" pitchFamily="34" charset="0"/>
                <a:ea typeface="Calibri" pitchFamily="34" charset="-122"/>
                <a:cs typeface="Calibri" pitchFamily="34" charset="-120"/>
              </a:rPr>
              <a:t> </a:t>
            </a:r>
            <a:r>
              <a:rPr lang="en-US" sz="1400" b="1" dirty="0" err="1">
                <a:solidFill>
                  <a:srgbClr val="ED145B"/>
                </a:solidFill>
                <a:latin typeface="Calibri" pitchFamily="34" charset="0"/>
                <a:ea typeface="Calibri" pitchFamily="34" charset="-122"/>
                <a:cs typeface="Calibri" pitchFamily="34" charset="-120"/>
              </a:rPr>
              <a:t>analítica</a:t>
            </a:r>
            <a:endParaRPr lang="en-US" sz="1400" b="1" dirty="0">
              <a:solidFill>
                <a:srgbClr val="ED145B"/>
              </a:solidFill>
              <a:latin typeface="Calibri" pitchFamily="34" charset="0"/>
              <a:ea typeface="Calibri" pitchFamily="34" charset="-122"/>
              <a:cs typeface="Calibri" pitchFamily="34" charset="-120"/>
            </a:endParaRPr>
          </a:p>
        </p:txBody>
      </p:sp>
      <p:sp>
        <p:nvSpPr>
          <p:cNvPr id="7" name="Shape 5"/>
          <p:cNvSpPr/>
          <p:nvPr/>
        </p:nvSpPr>
        <p:spPr>
          <a:xfrm>
            <a:off x="645920" y="4096512"/>
            <a:ext cx="109728" cy="109728"/>
          </a:xfrm>
          <a:prstGeom prst="ellipse">
            <a:avLst/>
          </a:prstGeom>
          <a:solidFill>
            <a:schemeClr val="bg2">
              <a:lumMod val="90000"/>
            </a:schemeClr>
          </a:solidFill>
          <a:ln/>
        </p:spPr>
        <p:txBody>
          <a:bodyPr/>
          <a:lstStyle/>
          <a:p>
            <a:endParaRPr lang="pt-BR"/>
          </a:p>
        </p:txBody>
      </p:sp>
      <p:sp>
        <p:nvSpPr>
          <p:cNvPr id="8" name="Text 6"/>
          <p:cNvSpPr/>
          <p:nvPr/>
        </p:nvSpPr>
        <p:spPr>
          <a:xfrm>
            <a:off x="822960" y="3968496"/>
            <a:ext cx="4994180" cy="502920"/>
          </a:xfrm>
          <a:prstGeom prst="rect">
            <a:avLst/>
          </a:prstGeom>
          <a:noFill/>
          <a:ln/>
        </p:spPr>
        <p:txBody>
          <a:bodyPr wrap="square" rtlCol="0" anchor="t"/>
          <a:lstStyle/>
          <a:p>
            <a:pPr marL="0" indent="0">
              <a:buNone/>
            </a:pPr>
            <a:r>
              <a:rPr lang="en-US" sz="1300" dirty="0">
                <a:solidFill>
                  <a:schemeClr val="bg2">
                    <a:lumMod val="10000"/>
                  </a:schemeClr>
                </a:solidFill>
                <a:latin typeface="Calibri" pitchFamily="34" charset="0"/>
                <a:ea typeface="Calibri" pitchFamily="34" charset="-122"/>
                <a:cs typeface="Calibri" pitchFamily="34" charset="-120"/>
              </a:rPr>
              <a:t>Consolidação e tratamento das bases (pedidos, itens, produtos, clientes, vendedores, pagamentos, reviews)</a:t>
            </a:r>
            <a:endParaRPr lang="en-US" sz="1300" dirty="0">
              <a:solidFill>
                <a:schemeClr val="bg2">
                  <a:lumMod val="10000"/>
                </a:schemeClr>
              </a:solidFill>
            </a:endParaRPr>
          </a:p>
        </p:txBody>
      </p:sp>
      <p:sp>
        <p:nvSpPr>
          <p:cNvPr id="9" name="Shape 7"/>
          <p:cNvSpPr/>
          <p:nvPr/>
        </p:nvSpPr>
        <p:spPr>
          <a:xfrm>
            <a:off x="655648" y="4718304"/>
            <a:ext cx="109728" cy="109728"/>
          </a:xfrm>
          <a:prstGeom prst="ellipse">
            <a:avLst/>
          </a:prstGeom>
          <a:solidFill>
            <a:schemeClr val="bg2">
              <a:lumMod val="90000"/>
            </a:schemeClr>
          </a:solidFill>
          <a:ln/>
        </p:spPr>
        <p:txBody>
          <a:bodyPr/>
          <a:lstStyle/>
          <a:p>
            <a:endParaRPr lang="pt-BR"/>
          </a:p>
        </p:txBody>
      </p:sp>
      <p:sp>
        <p:nvSpPr>
          <p:cNvPr id="10" name="Text 8"/>
          <p:cNvSpPr/>
          <p:nvPr/>
        </p:nvSpPr>
        <p:spPr>
          <a:xfrm>
            <a:off x="822960" y="4590288"/>
            <a:ext cx="4994180" cy="502920"/>
          </a:xfrm>
          <a:prstGeom prst="rect">
            <a:avLst/>
          </a:prstGeom>
          <a:noFill/>
          <a:ln/>
        </p:spPr>
        <p:txBody>
          <a:bodyPr wrap="square" rtlCol="0" anchor="t"/>
          <a:lstStyle/>
          <a:p>
            <a:pPr marL="0" indent="0">
              <a:buNone/>
            </a:pPr>
            <a:r>
              <a:rPr lang="en-US" sz="1300" dirty="0">
                <a:solidFill>
                  <a:schemeClr val="bg2">
                    <a:lumMod val="10000"/>
                  </a:schemeClr>
                </a:solidFill>
                <a:latin typeface="Calibri" pitchFamily="34" charset="0"/>
                <a:ea typeface="Calibri" pitchFamily="34" charset="-122"/>
                <a:cs typeface="Calibri" pitchFamily="34" charset="-120"/>
              </a:rPr>
              <a:t>Construção de métricas de negócio: receita, ticket médio, tempo de entrega, atraso, RFM</a:t>
            </a:r>
            <a:endParaRPr lang="en-US" sz="1300" dirty="0">
              <a:solidFill>
                <a:schemeClr val="bg2">
                  <a:lumMod val="10000"/>
                </a:schemeClr>
              </a:solidFill>
            </a:endParaRPr>
          </a:p>
        </p:txBody>
      </p:sp>
      <p:sp>
        <p:nvSpPr>
          <p:cNvPr id="11" name="Shape 9"/>
          <p:cNvSpPr/>
          <p:nvPr/>
        </p:nvSpPr>
        <p:spPr>
          <a:xfrm>
            <a:off x="645920" y="5340096"/>
            <a:ext cx="109728" cy="109728"/>
          </a:xfrm>
          <a:prstGeom prst="ellipse">
            <a:avLst/>
          </a:prstGeom>
          <a:solidFill>
            <a:schemeClr val="bg2">
              <a:lumMod val="90000"/>
            </a:schemeClr>
          </a:solidFill>
          <a:ln/>
        </p:spPr>
        <p:txBody>
          <a:bodyPr/>
          <a:lstStyle/>
          <a:p>
            <a:endParaRPr lang="pt-BR"/>
          </a:p>
        </p:txBody>
      </p:sp>
      <p:sp>
        <p:nvSpPr>
          <p:cNvPr id="12" name="Text 10"/>
          <p:cNvSpPr/>
          <p:nvPr/>
        </p:nvSpPr>
        <p:spPr>
          <a:xfrm>
            <a:off x="822960" y="5221224"/>
            <a:ext cx="4994180" cy="502920"/>
          </a:xfrm>
          <a:prstGeom prst="rect">
            <a:avLst/>
          </a:prstGeom>
          <a:noFill/>
          <a:ln/>
        </p:spPr>
        <p:txBody>
          <a:bodyPr wrap="square" rtlCol="0" anchor="t"/>
          <a:lstStyle/>
          <a:p>
            <a:pPr marL="0" indent="0">
              <a:buNone/>
            </a:pPr>
            <a:r>
              <a:rPr lang="en-US" sz="1300" dirty="0">
                <a:solidFill>
                  <a:schemeClr val="bg2">
                    <a:lumMod val="10000"/>
                  </a:schemeClr>
                </a:solidFill>
                <a:latin typeface="Calibri" pitchFamily="34" charset="0"/>
                <a:ea typeface="Calibri" pitchFamily="34" charset="-122"/>
                <a:cs typeface="Calibri" pitchFamily="34" charset="-120"/>
              </a:rPr>
              <a:t>Leitura executiva de cada indicador, com foco em decisões de investimento</a:t>
            </a:r>
            <a:endParaRPr lang="en-US" sz="1300" dirty="0">
              <a:solidFill>
                <a:schemeClr val="bg2">
                  <a:lumMod val="10000"/>
                </a:schemeClr>
              </a:solidFill>
            </a:endParaRPr>
          </a:p>
        </p:txBody>
      </p:sp>
      <p:sp>
        <p:nvSpPr>
          <p:cNvPr id="14" name="Text 12"/>
          <p:cNvSpPr/>
          <p:nvPr/>
        </p:nvSpPr>
        <p:spPr>
          <a:xfrm>
            <a:off x="7256552" y="1396492"/>
            <a:ext cx="4572000" cy="365760"/>
          </a:xfrm>
          <a:prstGeom prst="rect">
            <a:avLst/>
          </a:prstGeom>
          <a:noFill/>
          <a:ln/>
        </p:spPr>
        <p:txBody>
          <a:bodyPr wrap="square" rtlCol="0" anchor="ctr"/>
          <a:lstStyle/>
          <a:p>
            <a:pPr marL="0" indent="0" algn="ctr">
              <a:buNone/>
            </a:pPr>
            <a:r>
              <a:rPr lang="en-US" sz="1400" b="1" dirty="0">
                <a:solidFill>
                  <a:srgbClr val="ED145B"/>
                </a:solidFill>
                <a:latin typeface="Calibri" pitchFamily="34" charset="0"/>
                <a:ea typeface="Calibri" pitchFamily="34" charset="-122"/>
                <a:cs typeface="Calibri" pitchFamily="34" charset="-120"/>
              </a:rPr>
              <a:t>A base em números</a:t>
            </a:r>
            <a:endParaRPr lang="en-US" sz="1400" dirty="0">
              <a:solidFill>
                <a:srgbClr val="ED145B"/>
              </a:solidFill>
            </a:endParaRPr>
          </a:p>
        </p:txBody>
      </p:sp>
      <p:sp>
        <p:nvSpPr>
          <p:cNvPr id="15" name="Text 13"/>
          <p:cNvSpPr/>
          <p:nvPr/>
        </p:nvSpPr>
        <p:spPr>
          <a:xfrm>
            <a:off x="7223760" y="1894840"/>
            <a:ext cx="1554480" cy="457200"/>
          </a:xfrm>
          <a:prstGeom prst="rect">
            <a:avLst/>
          </a:prstGeom>
          <a:noFill/>
          <a:ln/>
        </p:spPr>
        <p:txBody>
          <a:bodyPr wrap="square" rtlCol="0" anchor="t"/>
          <a:lstStyle/>
          <a:p>
            <a:pPr marL="0" indent="0">
              <a:buNone/>
            </a:pPr>
            <a:r>
              <a:rPr lang="en-US" b="1" dirty="0">
                <a:solidFill>
                  <a:srgbClr val="ED145B"/>
                </a:solidFill>
                <a:latin typeface="Calibri" pitchFamily="34" charset="0"/>
                <a:ea typeface="Calibri" pitchFamily="34" charset="-122"/>
                <a:cs typeface="Calibri" pitchFamily="34" charset="-120"/>
              </a:rPr>
              <a:t>~99,4 mil</a:t>
            </a:r>
          </a:p>
        </p:txBody>
      </p:sp>
      <p:sp>
        <p:nvSpPr>
          <p:cNvPr id="16" name="Text 14"/>
          <p:cNvSpPr/>
          <p:nvPr/>
        </p:nvSpPr>
        <p:spPr>
          <a:xfrm>
            <a:off x="8732520" y="1913128"/>
            <a:ext cx="3063240" cy="457200"/>
          </a:xfrm>
          <a:prstGeom prst="rect">
            <a:avLst/>
          </a:prstGeom>
          <a:noFill/>
          <a:ln/>
        </p:spPr>
        <p:txBody>
          <a:bodyPr wrap="square" rtlCol="0" anchor="t"/>
          <a:lstStyle/>
          <a:p>
            <a:pPr marL="0" indent="0">
              <a:buNone/>
            </a:pPr>
            <a:r>
              <a:rPr lang="en-US" sz="1200" dirty="0">
                <a:solidFill>
                  <a:schemeClr val="bg2"/>
                </a:solidFill>
                <a:latin typeface="Calibri" pitchFamily="34" charset="0"/>
                <a:ea typeface="Calibri" pitchFamily="34" charset="-122"/>
                <a:cs typeface="Calibri" pitchFamily="34" charset="-120"/>
              </a:rPr>
              <a:t>pedidos registrados (2016–2018)</a:t>
            </a:r>
            <a:endParaRPr lang="en-US" sz="1200" dirty="0">
              <a:solidFill>
                <a:schemeClr val="bg2"/>
              </a:solidFill>
            </a:endParaRPr>
          </a:p>
        </p:txBody>
      </p:sp>
      <p:sp>
        <p:nvSpPr>
          <p:cNvPr id="17" name="Text 15"/>
          <p:cNvSpPr/>
          <p:nvPr/>
        </p:nvSpPr>
        <p:spPr>
          <a:xfrm>
            <a:off x="7223760" y="2580640"/>
            <a:ext cx="1554480" cy="457200"/>
          </a:xfrm>
          <a:prstGeom prst="rect">
            <a:avLst/>
          </a:prstGeom>
          <a:noFill/>
          <a:ln/>
        </p:spPr>
        <p:txBody>
          <a:bodyPr wrap="square" rtlCol="0" anchor="t"/>
          <a:lstStyle/>
          <a:p>
            <a:pPr marL="0" indent="0">
              <a:buNone/>
            </a:pPr>
            <a:r>
              <a:rPr lang="en-US" b="1" dirty="0">
                <a:solidFill>
                  <a:srgbClr val="ED145B"/>
                </a:solidFill>
                <a:latin typeface="Calibri" pitchFamily="34" charset="0"/>
                <a:ea typeface="Calibri" pitchFamily="34" charset="-122"/>
                <a:cs typeface="Calibri" pitchFamily="34" charset="-120"/>
              </a:rPr>
              <a:t>98.816</a:t>
            </a:r>
          </a:p>
        </p:txBody>
      </p:sp>
      <p:sp>
        <p:nvSpPr>
          <p:cNvPr id="18" name="Text 16"/>
          <p:cNvSpPr/>
          <p:nvPr/>
        </p:nvSpPr>
        <p:spPr>
          <a:xfrm>
            <a:off x="8732520" y="2598928"/>
            <a:ext cx="3063240" cy="457200"/>
          </a:xfrm>
          <a:prstGeom prst="rect">
            <a:avLst/>
          </a:prstGeom>
          <a:noFill/>
          <a:ln/>
        </p:spPr>
        <p:txBody>
          <a:bodyPr wrap="square" rtlCol="0" anchor="t"/>
          <a:lstStyle/>
          <a:p>
            <a:pPr marL="0" indent="0">
              <a:buNone/>
            </a:pPr>
            <a:r>
              <a:rPr lang="en-US" sz="1200" dirty="0">
                <a:solidFill>
                  <a:schemeClr val="bg2"/>
                </a:solidFill>
                <a:latin typeface="Calibri" pitchFamily="34" charset="0"/>
                <a:ea typeface="Calibri" pitchFamily="34" charset="-122"/>
                <a:cs typeface="Calibri" pitchFamily="34" charset="-120"/>
              </a:rPr>
              <a:t>pedidos válidos (não cancelados) — 99,4% da base</a:t>
            </a:r>
            <a:endParaRPr lang="en-US" sz="1200" dirty="0">
              <a:solidFill>
                <a:schemeClr val="bg2"/>
              </a:solidFill>
            </a:endParaRPr>
          </a:p>
        </p:txBody>
      </p:sp>
      <p:sp>
        <p:nvSpPr>
          <p:cNvPr id="19" name="Text 17"/>
          <p:cNvSpPr/>
          <p:nvPr/>
        </p:nvSpPr>
        <p:spPr>
          <a:xfrm>
            <a:off x="7223760" y="3266440"/>
            <a:ext cx="1554480" cy="457200"/>
          </a:xfrm>
          <a:prstGeom prst="rect">
            <a:avLst/>
          </a:prstGeom>
          <a:noFill/>
          <a:ln/>
        </p:spPr>
        <p:txBody>
          <a:bodyPr wrap="square" rtlCol="0" anchor="t"/>
          <a:lstStyle/>
          <a:p>
            <a:r>
              <a:rPr lang="en-US" b="1" dirty="0">
                <a:solidFill>
                  <a:srgbClr val="ED145B"/>
                </a:solidFill>
                <a:latin typeface="Calibri" pitchFamily="34" charset="0"/>
                <a:ea typeface="Calibri" pitchFamily="34" charset="-122"/>
                <a:cs typeface="Calibri" pitchFamily="34" charset="-120"/>
              </a:rPr>
              <a:t>112.108</a:t>
            </a:r>
          </a:p>
        </p:txBody>
      </p:sp>
      <p:sp>
        <p:nvSpPr>
          <p:cNvPr id="20" name="Text 18"/>
          <p:cNvSpPr/>
          <p:nvPr/>
        </p:nvSpPr>
        <p:spPr>
          <a:xfrm>
            <a:off x="8732520" y="3284728"/>
            <a:ext cx="3063240" cy="457200"/>
          </a:xfrm>
          <a:prstGeom prst="rect">
            <a:avLst/>
          </a:prstGeom>
          <a:noFill/>
          <a:ln/>
        </p:spPr>
        <p:txBody>
          <a:bodyPr wrap="square" rtlCol="0" anchor="t"/>
          <a:lstStyle/>
          <a:p>
            <a:pPr marL="0" indent="0">
              <a:buNone/>
            </a:pPr>
            <a:r>
              <a:rPr lang="en-US" sz="1200" dirty="0">
                <a:solidFill>
                  <a:schemeClr val="bg2"/>
                </a:solidFill>
                <a:latin typeface="Calibri" pitchFamily="34" charset="0"/>
                <a:ea typeface="Calibri" pitchFamily="34" charset="-122"/>
                <a:cs typeface="Calibri" pitchFamily="34" charset="-120"/>
              </a:rPr>
              <a:t>itens de pedido na base analítica consolidada</a:t>
            </a:r>
            <a:endParaRPr lang="en-US" sz="1200" dirty="0">
              <a:solidFill>
                <a:schemeClr val="bg2"/>
              </a:solidFill>
            </a:endParaRPr>
          </a:p>
        </p:txBody>
      </p:sp>
      <p:sp>
        <p:nvSpPr>
          <p:cNvPr id="21" name="Text 19"/>
          <p:cNvSpPr/>
          <p:nvPr/>
        </p:nvSpPr>
        <p:spPr>
          <a:xfrm>
            <a:off x="7223760" y="3952240"/>
            <a:ext cx="1554480" cy="457200"/>
          </a:xfrm>
          <a:prstGeom prst="rect">
            <a:avLst/>
          </a:prstGeom>
          <a:noFill/>
          <a:ln/>
        </p:spPr>
        <p:txBody>
          <a:bodyPr wrap="square" rtlCol="0" anchor="t"/>
          <a:lstStyle/>
          <a:p>
            <a:pPr marL="0" indent="0">
              <a:buNone/>
            </a:pPr>
            <a:r>
              <a:rPr lang="en-US" b="1" dirty="0">
                <a:solidFill>
                  <a:srgbClr val="ED145B"/>
                </a:solidFill>
                <a:latin typeface="Calibri" pitchFamily="34" charset="0"/>
                <a:ea typeface="Calibri" pitchFamily="34" charset="-122"/>
                <a:cs typeface="Calibri" pitchFamily="34" charset="-120"/>
              </a:rPr>
              <a:t>27</a:t>
            </a:r>
          </a:p>
        </p:txBody>
      </p:sp>
      <p:sp>
        <p:nvSpPr>
          <p:cNvPr id="22" name="Text 20"/>
          <p:cNvSpPr/>
          <p:nvPr/>
        </p:nvSpPr>
        <p:spPr>
          <a:xfrm>
            <a:off x="8732520" y="3970528"/>
            <a:ext cx="3063240" cy="457200"/>
          </a:xfrm>
          <a:prstGeom prst="rect">
            <a:avLst/>
          </a:prstGeom>
          <a:noFill/>
          <a:ln/>
        </p:spPr>
        <p:txBody>
          <a:bodyPr wrap="square" rtlCol="0" anchor="t"/>
          <a:lstStyle/>
          <a:p>
            <a:pPr marL="0" indent="0">
              <a:buNone/>
            </a:pPr>
            <a:r>
              <a:rPr lang="en-US" sz="1200" dirty="0">
                <a:solidFill>
                  <a:schemeClr val="bg2"/>
                </a:solidFill>
                <a:latin typeface="Calibri" pitchFamily="34" charset="0"/>
                <a:ea typeface="Calibri" pitchFamily="34" charset="-122"/>
                <a:cs typeface="Calibri" pitchFamily="34" charset="-120"/>
              </a:rPr>
              <a:t>estados (UF) representados</a:t>
            </a:r>
            <a:endParaRPr lang="en-US" sz="1200" dirty="0">
              <a:solidFill>
                <a:schemeClr val="bg2"/>
              </a:solidFill>
            </a:endParaRPr>
          </a:p>
        </p:txBody>
      </p:sp>
      <p:sp>
        <p:nvSpPr>
          <p:cNvPr id="23" name="Text 21"/>
          <p:cNvSpPr/>
          <p:nvPr/>
        </p:nvSpPr>
        <p:spPr>
          <a:xfrm>
            <a:off x="7223760" y="4638040"/>
            <a:ext cx="1554480" cy="457200"/>
          </a:xfrm>
          <a:prstGeom prst="rect">
            <a:avLst/>
          </a:prstGeom>
          <a:noFill/>
          <a:ln/>
        </p:spPr>
        <p:txBody>
          <a:bodyPr wrap="square" rtlCol="0" anchor="t"/>
          <a:lstStyle/>
          <a:p>
            <a:pPr marL="0" indent="0">
              <a:buNone/>
            </a:pPr>
            <a:r>
              <a:rPr lang="en-US" b="1" dirty="0">
                <a:solidFill>
                  <a:srgbClr val="ED145B"/>
                </a:solidFill>
                <a:latin typeface="Calibri" pitchFamily="34" charset="0"/>
                <a:ea typeface="Calibri" pitchFamily="34" charset="-122"/>
                <a:cs typeface="Calibri" pitchFamily="34" charset="-120"/>
              </a:rPr>
              <a:t>8</a:t>
            </a:r>
          </a:p>
        </p:txBody>
      </p:sp>
      <p:sp>
        <p:nvSpPr>
          <p:cNvPr id="24" name="Text 22"/>
          <p:cNvSpPr/>
          <p:nvPr/>
        </p:nvSpPr>
        <p:spPr>
          <a:xfrm>
            <a:off x="8732520" y="4656328"/>
            <a:ext cx="3063240" cy="457200"/>
          </a:xfrm>
          <a:prstGeom prst="rect">
            <a:avLst/>
          </a:prstGeom>
          <a:noFill/>
          <a:ln/>
        </p:spPr>
        <p:txBody>
          <a:bodyPr wrap="square" rtlCol="0" anchor="t"/>
          <a:lstStyle/>
          <a:p>
            <a:pPr marL="0" indent="0">
              <a:buNone/>
            </a:pPr>
            <a:r>
              <a:rPr lang="en-US" sz="1200" dirty="0">
                <a:solidFill>
                  <a:schemeClr val="bg2"/>
                </a:solidFill>
                <a:latin typeface="Calibri" pitchFamily="34" charset="0"/>
                <a:ea typeface="Calibri" pitchFamily="34" charset="-122"/>
                <a:cs typeface="Calibri" pitchFamily="34" charset="-120"/>
              </a:rPr>
              <a:t>tabelas relacionadas: clientes, pedidos, itens, produtos, vendedores, pagamentos, avaliações, geolocalização</a:t>
            </a:r>
            <a:endParaRPr lang="en-US" sz="1200" dirty="0">
              <a:solidFill>
                <a:schemeClr val="bg2"/>
              </a:solidFill>
            </a:endParaRPr>
          </a:p>
        </p:txBody>
      </p:sp>
      <p:sp>
        <p:nvSpPr>
          <p:cNvPr id="25" name="Text 23"/>
          <p:cNvSpPr/>
          <p:nvPr/>
        </p:nvSpPr>
        <p:spPr>
          <a:xfrm>
            <a:off x="7928044" y="5645509"/>
            <a:ext cx="3852348" cy="609374"/>
          </a:xfrm>
          <a:prstGeom prst="rect">
            <a:avLst/>
          </a:prstGeom>
          <a:noFill/>
          <a:ln/>
        </p:spPr>
        <p:txBody>
          <a:bodyPr wrap="square" rtlCol="0" anchor="ctr"/>
          <a:lstStyle/>
          <a:p>
            <a:pPr marL="0" indent="0">
              <a:buNone/>
            </a:pPr>
            <a:r>
              <a:rPr lang="en-US" sz="1200" i="1" dirty="0">
                <a:solidFill>
                  <a:schemeClr val="bg2"/>
                </a:solidFill>
                <a:latin typeface="Calibri" pitchFamily="34" charset="0"/>
                <a:ea typeface="Calibri" pitchFamily="34" charset="-122"/>
                <a:cs typeface="Calibri" pitchFamily="34" charset="-120"/>
              </a:rPr>
              <a:t>Governança: valores de receita consideram apenas o preço do produto (price), excluindo frete, e somente pedidos não cancelados.</a:t>
            </a:r>
            <a:endParaRPr lang="en-US" sz="1200" dirty="0">
              <a:solidFill>
                <a:schemeClr val="bg2"/>
              </a:solidFill>
            </a:endParaRPr>
          </a:p>
        </p:txBody>
      </p:sp>
      <p:sp>
        <p:nvSpPr>
          <p:cNvPr id="26" name="Text 24"/>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472"/>
                </a:solidFill>
                <a:latin typeface="Calibri" pitchFamily="34" charset="0"/>
                <a:ea typeface="Calibri" pitchFamily="34" charset="-122"/>
                <a:cs typeface="Calibri" pitchFamily="34" charset="-120"/>
              </a:rPr>
              <a:t>Relatório Executivo — Case Olist</a:t>
            </a:r>
            <a:endParaRPr lang="en-US" sz="900" dirty="0"/>
          </a:p>
        </p:txBody>
      </p:sp>
      <p:sp>
        <p:nvSpPr>
          <p:cNvPr id="27" name="Text 2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ED145B"/>
        </a:solidFill>
        <a:effectLst/>
      </p:bgPr>
    </p:bg>
    <p:spTree>
      <p:nvGrpSpPr>
        <p:cNvPr id="1" name=""/>
        <p:cNvGrpSpPr/>
        <p:nvPr/>
      </p:nvGrpSpPr>
      <p:grpSpPr>
        <a:xfrm>
          <a:off x="0" y="0"/>
          <a:ext cx="0" cy="0"/>
          <a:chOff x="0" y="0"/>
          <a:chExt cx="0" cy="0"/>
        </a:xfrm>
      </p:grpSpPr>
      <p:sp>
        <p:nvSpPr>
          <p:cNvPr id="3" name="Text 1"/>
          <p:cNvSpPr/>
          <p:nvPr/>
        </p:nvSpPr>
        <p:spPr>
          <a:xfrm>
            <a:off x="548640" y="731520"/>
            <a:ext cx="9144000" cy="640080"/>
          </a:xfrm>
          <a:prstGeom prst="rect">
            <a:avLst/>
          </a:prstGeom>
          <a:noFill/>
          <a:ln/>
        </p:spPr>
        <p:txBody>
          <a:bodyPr wrap="square" rtlCol="0" anchor="ctr"/>
          <a:lstStyle/>
          <a:p>
            <a:pPr marL="0" indent="0">
              <a:buNone/>
            </a:pPr>
            <a:r>
              <a:rPr lang="en-US" sz="3000" b="1" dirty="0">
                <a:solidFill>
                  <a:schemeClr val="bg2"/>
                </a:solidFill>
                <a:latin typeface="Cambria" pitchFamily="34" charset="0"/>
                <a:ea typeface="Cambria" pitchFamily="34" charset="-122"/>
                <a:cs typeface="Cambria" pitchFamily="34" charset="-120"/>
              </a:rPr>
              <a:t>KPIs</a:t>
            </a:r>
            <a:endParaRPr lang="en-US" sz="3000" dirty="0">
              <a:solidFill>
                <a:schemeClr val="bg2"/>
              </a:solidFill>
            </a:endParaRPr>
          </a:p>
        </p:txBody>
      </p:sp>
      <p:sp>
        <p:nvSpPr>
          <p:cNvPr id="4" name="Shape 2"/>
          <p:cNvSpPr/>
          <p:nvPr/>
        </p:nvSpPr>
        <p:spPr>
          <a:xfrm>
            <a:off x="548640" y="1554480"/>
            <a:ext cx="3520440" cy="2103120"/>
          </a:xfrm>
          <a:prstGeom prst="roundRect">
            <a:avLst>
              <a:gd name="adj" fmla="val 3478"/>
            </a:avLst>
          </a:prstGeom>
          <a:solidFill>
            <a:schemeClr val="bg2">
              <a:lumMod val="10000"/>
            </a:schemeClr>
          </a:solidFill>
          <a:ln w="12700">
            <a:solidFill>
              <a:schemeClr val="bg2"/>
            </a:solidFill>
            <a:prstDash val="solid"/>
          </a:ln>
        </p:spPr>
        <p:txBody>
          <a:bodyPr/>
          <a:lstStyle/>
          <a:p>
            <a:endParaRPr lang="pt-BR"/>
          </a:p>
        </p:txBody>
      </p:sp>
      <p:sp>
        <p:nvSpPr>
          <p:cNvPr id="5" name="Text 3"/>
          <p:cNvSpPr/>
          <p:nvPr/>
        </p:nvSpPr>
        <p:spPr>
          <a:xfrm>
            <a:off x="777240" y="1783080"/>
            <a:ext cx="3063240" cy="822960"/>
          </a:xfrm>
          <a:prstGeom prst="rect">
            <a:avLst/>
          </a:prstGeom>
          <a:noFill/>
          <a:ln/>
        </p:spPr>
        <p:txBody>
          <a:bodyPr wrap="square" rtlCol="0" anchor="t"/>
          <a:lstStyle/>
          <a:p>
            <a:pPr marL="0" indent="0">
              <a:buNone/>
            </a:pPr>
            <a:r>
              <a:rPr lang="en-US" sz="3400" b="1" dirty="0">
                <a:solidFill>
                  <a:schemeClr val="bg2"/>
                </a:solidFill>
                <a:latin typeface="Cambria" pitchFamily="34" charset="0"/>
                <a:ea typeface="Cambria" pitchFamily="34" charset="-122"/>
                <a:cs typeface="Cambria" pitchFamily="34" charset="-120"/>
              </a:rPr>
              <a:t>R$ 13,5 mi</a:t>
            </a:r>
            <a:endParaRPr lang="en-US" sz="3400" dirty="0">
              <a:solidFill>
                <a:schemeClr val="bg2"/>
              </a:solidFill>
            </a:endParaRPr>
          </a:p>
        </p:txBody>
      </p:sp>
      <p:sp>
        <p:nvSpPr>
          <p:cNvPr id="6" name="Text 4"/>
          <p:cNvSpPr/>
          <p:nvPr/>
        </p:nvSpPr>
        <p:spPr>
          <a:xfrm>
            <a:off x="815340" y="2651760"/>
            <a:ext cx="3063240" cy="411480"/>
          </a:xfrm>
          <a:prstGeom prst="rect">
            <a:avLst/>
          </a:prstGeom>
          <a:noFill/>
          <a:ln/>
        </p:spPr>
        <p:txBody>
          <a:bodyPr wrap="square" rtlCol="0" anchor="t"/>
          <a:lstStyle/>
          <a:p>
            <a:pPr marL="0" indent="0">
              <a:buNone/>
            </a:pPr>
            <a:r>
              <a:rPr lang="en-US" sz="1400" b="1" dirty="0">
                <a:solidFill>
                  <a:srgbClr val="ED145B"/>
                </a:solidFill>
                <a:latin typeface="Calibri" pitchFamily="34" charset="0"/>
                <a:ea typeface="Calibri" pitchFamily="34" charset="-122"/>
                <a:cs typeface="Calibri" pitchFamily="34" charset="-120"/>
              </a:rPr>
              <a:t>Receita bruta analisada</a:t>
            </a:r>
            <a:endParaRPr lang="en-US" sz="1400" dirty="0">
              <a:solidFill>
                <a:srgbClr val="ED145B"/>
              </a:solidFill>
            </a:endParaRPr>
          </a:p>
        </p:txBody>
      </p:sp>
      <p:sp>
        <p:nvSpPr>
          <p:cNvPr id="7" name="Text 5"/>
          <p:cNvSpPr/>
          <p:nvPr/>
        </p:nvSpPr>
        <p:spPr>
          <a:xfrm>
            <a:off x="777240" y="3090672"/>
            <a:ext cx="3063240" cy="548640"/>
          </a:xfrm>
          <a:prstGeom prst="rect">
            <a:avLst/>
          </a:prstGeom>
          <a:noFill/>
          <a:ln/>
        </p:spPr>
        <p:txBody>
          <a:bodyPr wrap="square" rtlCol="0" anchor="t"/>
          <a:lstStyle/>
          <a:p>
            <a:pPr marL="0" indent="0">
              <a:buNone/>
            </a:pPr>
            <a:r>
              <a:rPr lang="en-US" sz="1050" dirty="0">
                <a:solidFill>
                  <a:schemeClr val="bg2"/>
                </a:solidFill>
                <a:latin typeface="Calibri" pitchFamily="34" charset="0"/>
                <a:ea typeface="Calibri" pitchFamily="34" charset="-122"/>
                <a:cs typeface="Calibri" pitchFamily="34" charset="-120"/>
              </a:rPr>
              <a:t>(2016–2018, exclui frete)</a:t>
            </a:r>
            <a:endParaRPr lang="en-US" sz="1050" dirty="0">
              <a:solidFill>
                <a:schemeClr val="bg2"/>
              </a:solidFill>
            </a:endParaRPr>
          </a:p>
        </p:txBody>
      </p:sp>
      <p:sp>
        <p:nvSpPr>
          <p:cNvPr id="8" name="Shape 6"/>
          <p:cNvSpPr/>
          <p:nvPr/>
        </p:nvSpPr>
        <p:spPr>
          <a:xfrm>
            <a:off x="4297680" y="1554480"/>
            <a:ext cx="3520440" cy="2103120"/>
          </a:xfrm>
          <a:prstGeom prst="roundRect">
            <a:avLst>
              <a:gd name="adj" fmla="val 3478"/>
            </a:avLst>
          </a:prstGeom>
          <a:solidFill>
            <a:schemeClr val="bg2">
              <a:lumMod val="10000"/>
            </a:schemeClr>
          </a:solidFill>
          <a:ln w="12700">
            <a:solidFill>
              <a:schemeClr val="bg2"/>
            </a:solidFill>
            <a:prstDash val="solid"/>
          </a:ln>
        </p:spPr>
        <p:txBody>
          <a:bodyPr/>
          <a:lstStyle/>
          <a:p>
            <a:endParaRPr lang="pt-BR"/>
          </a:p>
        </p:txBody>
      </p:sp>
      <p:sp>
        <p:nvSpPr>
          <p:cNvPr id="9" name="Text 7"/>
          <p:cNvSpPr/>
          <p:nvPr/>
        </p:nvSpPr>
        <p:spPr>
          <a:xfrm>
            <a:off x="4526280" y="1783080"/>
            <a:ext cx="3063240" cy="822960"/>
          </a:xfrm>
          <a:prstGeom prst="rect">
            <a:avLst/>
          </a:prstGeom>
          <a:noFill/>
          <a:ln/>
        </p:spPr>
        <p:txBody>
          <a:bodyPr wrap="square" rtlCol="0" anchor="t"/>
          <a:lstStyle/>
          <a:p>
            <a:pPr marL="0" indent="0">
              <a:buNone/>
            </a:pPr>
            <a:r>
              <a:rPr lang="en-US" sz="3400" b="1" dirty="0">
                <a:solidFill>
                  <a:schemeClr val="bg2"/>
                </a:solidFill>
                <a:latin typeface="Cambria" pitchFamily="34" charset="0"/>
                <a:ea typeface="Cambria" pitchFamily="34" charset="-122"/>
                <a:cs typeface="Cambria" pitchFamily="34" charset="-120"/>
              </a:rPr>
              <a:t>4,08 / 5</a:t>
            </a:r>
            <a:endParaRPr lang="en-US" sz="3400" dirty="0">
              <a:solidFill>
                <a:schemeClr val="bg2"/>
              </a:solidFill>
            </a:endParaRPr>
          </a:p>
        </p:txBody>
      </p:sp>
      <p:sp>
        <p:nvSpPr>
          <p:cNvPr id="10" name="Text 8"/>
          <p:cNvSpPr/>
          <p:nvPr/>
        </p:nvSpPr>
        <p:spPr>
          <a:xfrm>
            <a:off x="4564380" y="2651760"/>
            <a:ext cx="3063240" cy="411480"/>
          </a:xfrm>
          <a:prstGeom prst="rect">
            <a:avLst/>
          </a:prstGeom>
          <a:noFill/>
          <a:ln/>
        </p:spPr>
        <p:txBody>
          <a:bodyPr wrap="square" rtlCol="0" anchor="t"/>
          <a:lstStyle/>
          <a:p>
            <a:pPr marL="0" indent="0">
              <a:buNone/>
            </a:pPr>
            <a:r>
              <a:rPr lang="en-US" sz="1400" b="1" dirty="0">
                <a:solidFill>
                  <a:srgbClr val="ED145B"/>
                </a:solidFill>
                <a:latin typeface="Calibri" pitchFamily="34" charset="0"/>
                <a:ea typeface="Calibri" pitchFamily="34" charset="-122"/>
                <a:cs typeface="Calibri" pitchFamily="34" charset="-120"/>
              </a:rPr>
              <a:t>Nota média de satisfação</a:t>
            </a:r>
            <a:endParaRPr lang="en-US" sz="1400" dirty="0">
              <a:solidFill>
                <a:srgbClr val="ED145B"/>
              </a:solidFill>
            </a:endParaRPr>
          </a:p>
        </p:txBody>
      </p:sp>
      <p:sp>
        <p:nvSpPr>
          <p:cNvPr id="11" name="Text 9"/>
          <p:cNvSpPr/>
          <p:nvPr/>
        </p:nvSpPr>
        <p:spPr>
          <a:xfrm>
            <a:off x="4526280" y="3090672"/>
            <a:ext cx="3063240" cy="548640"/>
          </a:xfrm>
          <a:prstGeom prst="rect">
            <a:avLst/>
          </a:prstGeom>
          <a:noFill/>
          <a:ln/>
        </p:spPr>
        <p:txBody>
          <a:bodyPr wrap="square" rtlCol="0" anchor="t"/>
          <a:lstStyle/>
          <a:p>
            <a:pPr marL="0" indent="0">
              <a:buNone/>
            </a:pPr>
            <a:r>
              <a:rPr lang="en-US" sz="1050" dirty="0">
                <a:solidFill>
                  <a:schemeClr val="bg2"/>
                </a:solidFill>
                <a:latin typeface="Calibri" pitchFamily="34" charset="0"/>
                <a:ea typeface="Calibri" pitchFamily="34" charset="-122"/>
                <a:cs typeface="Calibri" pitchFamily="34" charset="-120"/>
              </a:rPr>
              <a:t>avaliação dos clientes</a:t>
            </a:r>
            <a:endParaRPr lang="en-US" sz="1050" dirty="0">
              <a:solidFill>
                <a:schemeClr val="bg2"/>
              </a:solidFill>
            </a:endParaRPr>
          </a:p>
        </p:txBody>
      </p:sp>
      <p:sp>
        <p:nvSpPr>
          <p:cNvPr id="12" name="Shape 10"/>
          <p:cNvSpPr/>
          <p:nvPr/>
        </p:nvSpPr>
        <p:spPr>
          <a:xfrm>
            <a:off x="8046720" y="1554480"/>
            <a:ext cx="3520440" cy="2103120"/>
          </a:xfrm>
          <a:prstGeom prst="roundRect">
            <a:avLst>
              <a:gd name="adj" fmla="val 3478"/>
            </a:avLst>
          </a:prstGeom>
          <a:solidFill>
            <a:schemeClr val="bg2">
              <a:lumMod val="10000"/>
            </a:schemeClr>
          </a:solidFill>
          <a:ln w="12700">
            <a:solidFill>
              <a:schemeClr val="bg2"/>
            </a:solidFill>
            <a:prstDash val="solid"/>
          </a:ln>
        </p:spPr>
        <p:txBody>
          <a:bodyPr/>
          <a:lstStyle/>
          <a:p>
            <a:endParaRPr lang="pt-BR"/>
          </a:p>
        </p:txBody>
      </p:sp>
      <p:sp>
        <p:nvSpPr>
          <p:cNvPr id="13" name="Text 11"/>
          <p:cNvSpPr/>
          <p:nvPr/>
        </p:nvSpPr>
        <p:spPr>
          <a:xfrm>
            <a:off x="8275320" y="1783080"/>
            <a:ext cx="3063240" cy="822960"/>
          </a:xfrm>
          <a:prstGeom prst="rect">
            <a:avLst/>
          </a:prstGeom>
          <a:noFill/>
          <a:ln/>
        </p:spPr>
        <p:txBody>
          <a:bodyPr wrap="square" rtlCol="0" anchor="t"/>
          <a:lstStyle/>
          <a:p>
            <a:pPr marL="0" indent="0">
              <a:buNone/>
            </a:pPr>
            <a:r>
              <a:rPr lang="en-US" sz="3400" b="1" dirty="0">
                <a:solidFill>
                  <a:schemeClr val="bg2"/>
                </a:solidFill>
                <a:latin typeface="Cambria" pitchFamily="34" charset="0"/>
                <a:ea typeface="Cambria" pitchFamily="34" charset="-122"/>
                <a:cs typeface="Cambria" pitchFamily="34" charset="-120"/>
              </a:rPr>
              <a:t>12 dias</a:t>
            </a:r>
            <a:endParaRPr lang="en-US" sz="3400" dirty="0">
              <a:solidFill>
                <a:schemeClr val="bg2"/>
              </a:solidFill>
            </a:endParaRPr>
          </a:p>
        </p:txBody>
      </p:sp>
      <p:sp>
        <p:nvSpPr>
          <p:cNvPr id="14" name="Text 12"/>
          <p:cNvSpPr/>
          <p:nvPr/>
        </p:nvSpPr>
        <p:spPr>
          <a:xfrm>
            <a:off x="8313420" y="2651760"/>
            <a:ext cx="3063240" cy="411480"/>
          </a:xfrm>
          <a:prstGeom prst="rect">
            <a:avLst/>
          </a:prstGeom>
          <a:noFill/>
          <a:ln/>
        </p:spPr>
        <p:txBody>
          <a:bodyPr wrap="square" rtlCol="0" anchor="t"/>
          <a:lstStyle/>
          <a:p>
            <a:pPr marL="0" indent="0">
              <a:buNone/>
            </a:pPr>
            <a:r>
              <a:rPr lang="en-US" sz="1400" b="1" dirty="0">
                <a:solidFill>
                  <a:srgbClr val="ED145B"/>
                </a:solidFill>
                <a:latin typeface="Calibri" pitchFamily="34" charset="0"/>
                <a:ea typeface="Calibri" pitchFamily="34" charset="-122"/>
                <a:cs typeface="Calibri" pitchFamily="34" charset="-120"/>
              </a:rPr>
              <a:t>Tempo médio de entrega</a:t>
            </a:r>
            <a:endParaRPr lang="en-US" sz="1400" dirty="0">
              <a:solidFill>
                <a:srgbClr val="ED145B"/>
              </a:solidFill>
            </a:endParaRPr>
          </a:p>
        </p:txBody>
      </p:sp>
      <p:sp>
        <p:nvSpPr>
          <p:cNvPr id="15" name="Text 13"/>
          <p:cNvSpPr/>
          <p:nvPr/>
        </p:nvSpPr>
        <p:spPr>
          <a:xfrm>
            <a:off x="8275320" y="3090672"/>
            <a:ext cx="3063240" cy="548640"/>
          </a:xfrm>
          <a:prstGeom prst="rect">
            <a:avLst/>
          </a:prstGeom>
          <a:noFill/>
          <a:ln/>
        </p:spPr>
        <p:txBody>
          <a:bodyPr wrap="square" rtlCol="0" anchor="t"/>
          <a:lstStyle/>
          <a:p>
            <a:pPr marL="0" indent="0">
              <a:buNone/>
            </a:pPr>
            <a:r>
              <a:rPr lang="en-US" sz="1050" dirty="0">
                <a:solidFill>
                  <a:schemeClr val="bg2"/>
                </a:solidFill>
                <a:latin typeface="Calibri" pitchFamily="34" charset="0"/>
                <a:ea typeface="Calibri" pitchFamily="34" charset="-122"/>
                <a:cs typeface="Calibri" pitchFamily="34" charset="-120"/>
              </a:rPr>
              <a:t>da compra à entrega</a:t>
            </a:r>
            <a:endParaRPr lang="en-US" sz="1050" dirty="0">
              <a:solidFill>
                <a:schemeClr val="bg2"/>
              </a:solidFill>
            </a:endParaRPr>
          </a:p>
        </p:txBody>
      </p:sp>
      <p:sp>
        <p:nvSpPr>
          <p:cNvPr id="16" name="Shape 14"/>
          <p:cNvSpPr/>
          <p:nvPr/>
        </p:nvSpPr>
        <p:spPr>
          <a:xfrm>
            <a:off x="548640" y="3886200"/>
            <a:ext cx="3520440" cy="2103120"/>
          </a:xfrm>
          <a:prstGeom prst="roundRect">
            <a:avLst>
              <a:gd name="adj" fmla="val 3478"/>
            </a:avLst>
          </a:prstGeom>
          <a:solidFill>
            <a:schemeClr val="bg2">
              <a:lumMod val="10000"/>
            </a:schemeClr>
          </a:solidFill>
          <a:ln w="12700">
            <a:solidFill>
              <a:schemeClr val="bg2"/>
            </a:solidFill>
            <a:prstDash val="solid"/>
          </a:ln>
        </p:spPr>
        <p:txBody>
          <a:bodyPr/>
          <a:lstStyle/>
          <a:p>
            <a:endParaRPr lang="pt-BR"/>
          </a:p>
        </p:txBody>
      </p:sp>
      <p:sp>
        <p:nvSpPr>
          <p:cNvPr id="17" name="Text 15"/>
          <p:cNvSpPr/>
          <p:nvPr/>
        </p:nvSpPr>
        <p:spPr>
          <a:xfrm>
            <a:off x="777240" y="4114800"/>
            <a:ext cx="3063240" cy="822960"/>
          </a:xfrm>
          <a:prstGeom prst="rect">
            <a:avLst/>
          </a:prstGeom>
          <a:noFill/>
          <a:ln/>
        </p:spPr>
        <p:txBody>
          <a:bodyPr wrap="square" rtlCol="0" anchor="t"/>
          <a:lstStyle/>
          <a:p>
            <a:pPr marL="0" indent="0">
              <a:buNone/>
            </a:pPr>
            <a:r>
              <a:rPr lang="en-US" sz="3400" b="1" dirty="0">
                <a:solidFill>
                  <a:schemeClr val="bg2"/>
                </a:solidFill>
                <a:latin typeface="Cambria" pitchFamily="34" charset="0"/>
                <a:ea typeface="Cambria" pitchFamily="34" charset="-122"/>
                <a:cs typeface="Cambria" pitchFamily="34" charset="-120"/>
              </a:rPr>
              <a:t>3,12%</a:t>
            </a:r>
            <a:endParaRPr lang="en-US" sz="3400" dirty="0">
              <a:solidFill>
                <a:schemeClr val="bg2"/>
              </a:solidFill>
            </a:endParaRPr>
          </a:p>
        </p:txBody>
      </p:sp>
      <p:sp>
        <p:nvSpPr>
          <p:cNvPr id="18" name="Text 16"/>
          <p:cNvSpPr/>
          <p:nvPr/>
        </p:nvSpPr>
        <p:spPr>
          <a:xfrm>
            <a:off x="777240" y="4983480"/>
            <a:ext cx="3063240" cy="411480"/>
          </a:xfrm>
          <a:prstGeom prst="rect">
            <a:avLst/>
          </a:prstGeom>
          <a:noFill/>
          <a:ln/>
        </p:spPr>
        <p:txBody>
          <a:bodyPr wrap="square" rtlCol="0" anchor="t"/>
          <a:lstStyle/>
          <a:p>
            <a:pPr marL="0" indent="0">
              <a:buNone/>
            </a:pPr>
            <a:r>
              <a:rPr lang="en-US" sz="1400" b="1" dirty="0">
                <a:solidFill>
                  <a:srgbClr val="ED145B"/>
                </a:solidFill>
                <a:latin typeface="Calibri" pitchFamily="34" charset="0"/>
                <a:ea typeface="Calibri" pitchFamily="34" charset="-122"/>
                <a:cs typeface="Calibri" pitchFamily="34" charset="-120"/>
              </a:rPr>
              <a:t>Taxa de recompra</a:t>
            </a:r>
            <a:endParaRPr lang="en-US" sz="1400" dirty="0">
              <a:solidFill>
                <a:srgbClr val="ED145B"/>
              </a:solidFill>
            </a:endParaRPr>
          </a:p>
        </p:txBody>
      </p:sp>
      <p:sp>
        <p:nvSpPr>
          <p:cNvPr id="19" name="Text 17"/>
          <p:cNvSpPr/>
          <p:nvPr/>
        </p:nvSpPr>
        <p:spPr>
          <a:xfrm>
            <a:off x="777240" y="5422392"/>
            <a:ext cx="3063240" cy="548640"/>
          </a:xfrm>
          <a:prstGeom prst="rect">
            <a:avLst/>
          </a:prstGeom>
          <a:noFill/>
          <a:ln/>
        </p:spPr>
        <p:txBody>
          <a:bodyPr wrap="square" rtlCol="0" anchor="t"/>
          <a:lstStyle/>
          <a:p>
            <a:pPr marL="0" indent="0">
              <a:buNone/>
            </a:pPr>
            <a:r>
              <a:rPr lang="en-US" sz="1050" dirty="0">
                <a:solidFill>
                  <a:schemeClr val="bg2"/>
                </a:solidFill>
                <a:latin typeface="Calibri" pitchFamily="34" charset="0"/>
                <a:ea typeface="Calibri" pitchFamily="34" charset="-122"/>
                <a:cs typeface="Calibri" pitchFamily="34" charset="-120"/>
              </a:rPr>
              <a:t>clientes com 2+ pedidos</a:t>
            </a:r>
            <a:endParaRPr lang="en-US" sz="1050" dirty="0">
              <a:solidFill>
                <a:schemeClr val="bg2"/>
              </a:solidFill>
            </a:endParaRPr>
          </a:p>
        </p:txBody>
      </p:sp>
      <p:sp>
        <p:nvSpPr>
          <p:cNvPr id="20" name="Shape 18"/>
          <p:cNvSpPr/>
          <p:nvPr/>
        </p:nvSpPr>
        <p:spPr>
          <a:xfrm>
            <a:off x="4297680" y="3886200"/>
            <a:ext cx="3520440" cy="2103120"/>
          </a:xfrm>
          <a:prstGeom prst="roundRect">
            <a:avLst>
              <a:gd name="adj" fmla="val 3478"/>
            </a:avLst>
          </a:prstGeom>
          <a:solidFill>
            <a:schemeClr val="bg2">
              <a:lumMod val="10000"/>
            </a:schemeClr>
          </a:solidFill>
          <a:ln w="12700">
            <a:solidFill>
              <a:schemeClr val="bg2"/>
            </a:solidFill>
            <a:prstDash val="solid"/>
          </a:ln>
        </p:spPr>
        <p:txBody>
          <a:bodyPr/>
          <a:lstStyle/>
          <a:p>
            <a:endParaRPr lang="pt-BR"/>
          </a:p>
        </p:txBody>
      </p:sp>
      <p:sp>
        <p:nvSpPr>
          <p:cNvPr id="21" name="Text 19"/>
          <p:cNvSpPr/>
          <p:nvPr/>
        </p:nvSpPr>
        <p:spPr>
          <a:xfrm>
            <a:off x="4526280" y="4114800"/>
            <a:ext cx="3063240" cy="822960"/>
          </a:xfrm>
          <a:prstGeom prst="rect">
            <a:avLst/>
          </a:prstGeom>
          <a:noFill/>
          <a:ln/>
        </p:spPr>
        <p:txBody>
          <a:bodyPr wrap="square" rtlCol="0" anchor="t"/>
          <a:lstStyle/>
          <a:p>
            <a:pPr marL="0" indent="0">
              <a:buNone/>
            </a:pPr>
            <a:r>
              <a:rPr lang="en-US" sz="3400" b="1" dirty="0">
                <a:solidFill>
                  <a:schemeClr val="bg2"/>
                </a:solidFill>
                <a:latin typeface="Cambria" pitchFamily="34" charset="0"/>
                <a:ea typeface="Cambria" pitchFamily="34" charset="-122"/>
                <a:cs typeface="Cambria" pitchFamily="34" charset="-120"/>
              </a:rPr>
              <a:t>98.816</a:t>
            </a:r>
            <a:endParaRPr lang="en-US" sz="3400" dirty="0">
              <a:solidFill>
                <a:schemeClr val="bg2"/>
              </a:solidFill>
            </a:endParaRPr>
          </a:p>
        </p:txBody>
      </p:sp>
      <p:sp>
        <p:nvSpPr>
          <p:cNvPr id="22" name="Text 20"/>
          <p:cNvSpPr/>
          <p:nvPr/>
        </p:nvSpPr>
        <p:spPr>
          <a:xfrm>
            <a:off x="4564380" y="4983480"/>
            <a:ext cx="3063240" cy="411480"/>
          </a:xfrm>
          <a:prstGeom prst="rect">
            <a:avLst/>
          </a:prstGeom>
          <a:noFill/>
          <a:ln/>
        </p:spPr>
        <p:txBody>
          <a:bodyPr wrap="square" rtlCol="0" anchor="t"/>
          <a:lstStyle/>
          <a:p>
            <a:pPr marL="0" indent="0">
              <a:buNone/>
            </a:pPr>
            <a:r>
              <a:rPr lang="en-US" sz="1400" b="1" dirty="0">
                <a:solidFill>
                  <a:srgbClr val="ED145B"/>
                </a:solidFill>
                <a:latin typeface="Calibri" pitchFamily="34" charset="0"/>
                <a:ea typeface="Calibri" pitchFamily="34" charset="-122"/>
                <a:cs typeface="Calibri" pitchFamily="34" charset="-120"/>
              </a:rPr>
              <a:t>Pedidos válidos analisados</a:t>
            </a:r>
            <a:endParaRPr lang="en-US" sz="1400" dirty="0">
              <a:solidFill>
                <a:srgbClr val="ED145B"/>
              </a:solidFill>
            </a:endParaRPr>
          </a:p>
        </p:txBody>
      </p:sp>
      <p:sp>
        <p:nvSpPr>
          <p:cNvPr id="23" name="Text 21"/>
          <p:cNvSpPr/>
          <p:nvPr/>
        </p:nvSpPr>
        <p:spPr>
          <a:xfrm>
            <a:off x="4526280" y="5422392"/>
            <a:ext cx="3063240" cy="548640"/>
          </a:xfrm>
          <a:prstGeom prst="rect">
            <a:avLst/>
          </a:prstGeom>
          <a:noFill/>
          <a:ln/>
        </p:spPr>
        <p:txBody>
          <a:bodyPr wrap="square" rtlCol="0" anchor="t"/>
          <a:lstStyle/>
          <a:p>
            <a:pPr marL="0" indent="0">
              <a:buNone/>
            </a:pPr>
            <a:r>
              <a:rPr lang="en-US" sz="1050" dirty="0">
                <a:solidFill>
                  <a:schemeClr val="bg2"/>
                </a:solidFill>
                <a:latin typeface="Calibri" pitchFamily="34" charset="0"/>
                <a:ea typeface="Calibri" pitchFamily="34" charset="-122"/>
                <a:cs typeface="Calibri" pitchFamily="34" charset="-120"/>
              </a:rPr>
              <a:t>99,4% da base total</a:t>
            </a:r>
            <a:endParaRPr lang="en-US" sz="1050" dirty="0">
              <a:solidFill>
                <a:schemeClr val="bg2"/>
              </a:solidFill>
            </a:endParaRPr>
          </a:p>
        </p:txBody>
      </p:sp>
      <p:sp>
        <p:nvSpPr>
          <p:cNvPr id="24" name="Shape 22"/>
          <p:cNvSpPr/>
          <p:nvPr/>
        </p:nvSpPr>
        <p:spPr>
          <a:xfrm>
            <a:off x="8046720" y="3886200"/>
            <a:ext cx="3520440" cy="2103120"/>
          </a:xfrm>
          <a:prstGeom prst="roundRect">
            <a:avLst>
              <a:gd name="adj" fmla="val 3478"/>
            </a:avLst>
          </a:prstGeom>
          <a:solidFill>
            <a:schemeClr val="bg2">
              <a:lumMod val="10000"/>
            </a:schemeClr>
          </a:solidFill>
          <a:ln w="12700">
            <a:solidFill>
              <a:schemeClr val="bg2"/>
            </a:solidFill>
            <a:prstDash val="solid"/>
          </a:ln>
        </p:spPr>
        <p:txBody>
          <a:bodyPr/>
          <a:lstStyle/>
          <a:p>
            <a:endParaRPr lang="pt-BR"/>
          </a:p>
        </p:txBody>
      </p:sp>
      <p:sp>
        <p:nvSpPr>
          <p:cNvPr id="25" name="Text 23"/>
          <p:cNvSpPr/>
          <p:nvPr/>
        </p:nvSpPr>
        <p:spPr>
          <a:xfrm>
            <a:off x="8275320" y="4114800"/>
            <a:ext cx="3063240" cy="822960"/>
          </a:xfrm>
          <a:prstGeom prst="rect">
            <a:avLst/>
          </a:prstGeom>
          <a:noFill/>
          <a:ln/>
        </p:spPr>
        <p:txBody>
          <a:bodyPr wrap="square" rtlCol="0" anchor="t"/>
          <a:lstStyle/>
          <a:p>
            <a:pPr marL="0" indent="0">
              <a:buNone/>
            </a:pPr>
            <a:r>
              <a:rPr lang="en-US" sz="3400" b="1" dirty="0">
                <a:solidFill>
                  <a:schemeClr val="bg2"/>
                </a:solidFill>
                <a:latin typeface="Cambria" pitchFamily="34" charset="0"/>
                <a:ea typeface="Cambria" pitchFamily="34" charset="-122"/>
                <a:cs typeface="Cambria" pitchFamily="34" charset="-120"/>
              </a:rPr>
              <a:t>74%</a:t>
            </a:r>
            <a:endParaRPr lang="en-US" sz="3400" dirty="0">
              <a:solidFill>
                <a:schemeClr val="bg2"/>
              </a:solidFill>
            </a:endParaRPr>
          </a:p>
        </p:txBody>
      </p:sp>
      <p:sp>
        <p:nvSpPr>
          <p:cNvPr id="26" name="Text 24"/>
          <p:cNvSpPr/>
          <p:nvPr/>
        </p:nvSpPr>
        <p:spPr>
          <a:xfrm>
            <a:off x="8313420" y="4983480"/>
            <a:ext cx="3063240" cy="411480"/>
          </a:xfrm>
          <a:prstGeom prst="rect">
            <a:avLst/>
          </a:prstGeom>
          <a:noFill/>
          <a:ln/>
        </p:spPr>
        <p:txBody>
          <a:bodyPr wrap="square" rtlCol="0" anchor="t"/>
          <a:lstStyle/>
          <a:p>
            <a:pPr marL="0" indent="0">
              <a:buNone/>
            </a:pPr>
            <a:r>
              <a:rPr lang="en-US" sz="1400" b="1" dirty="0">
                <a:solidFill>
                  <a:srgbClr val="ED145B"/>
                </a:solidFill>
                <a:latin typeface="Calibri" pitchFamily="34" charset="0"/>
                <a:ea typeface="Calibri" pitchFamily="34" charset="-122"/>
                <a:cs typeface="Calibri" pitchFamily="34" charset="-120"/>
              </a:rPr>
              <a:t>Pedidos pagos em cartão</a:t>
            </a:r>
            <a:endParaRPr lang="en-US" sz="1400" dirty="0">
              <a:solidFill>
                <a:srgbClr val="ED145B"/>
              </a:solidFill>
            </a:endParaRPr>
          </a:p>
        </p:txBody>
      </p:sp>
      <p:sp>
        <p:nvSpPr>
          <p:cNvPr id="27" name="Text 25"/>
          <p:cNvSpPr/>
          <p:nvPr/>
        </p:nvSpPr>
        <p:spPr>
          <a:xfrm>
            <a:off x="8275320" y="5422392"/>
            <a:ext cx="3063240" cy="548640"/>
          </a:xfrm>
          <a:prstGeom prst="rect">
            <a:avLst/>
          </a:prstGeom>
          <a:noFill/>
          <a:ln/>
        </p:spPr>
        <p:txBody>
          <a:bodyPr wrap="square" rtlCol="0" anchor="t"/>
          <a:lstStyle/>
          <a:p>
            <a:pPr marL="0" indent="0">
              <a:buNone/>
            </a:pPr>
            <a:r>
              <a:rPr lang="en-US" sz="1050" dirty="0">
                <a:solidFill>
                  <a:schemeClr val="bg2"/>
                </a:solidFill>
                <a:latin typeface="Calibri" pitchFamily="34" charset="0"/>
                <a:ea typeface="Calibri" pitchFamily="34" charset="-122"/>
                <a:cs typeface="Calibri" pitchFamily="34" charset="-120"/>
              </a:rPr>
              <a:t>de crédito</a:t>
            </a:r>
            <a:endParaRPr lang="en-US" sz="1050" dirty="0">
              <a:solidFill>
                <a:schemeClr val="bg2"/>
              </a:solidFill>
            </a:endParaRPr>
          </a:p>
        </p:txBody>
      </p:sp>
      <p:sp>
        <p:nvSpPr>
          <p:cNvPr id="28" name="Text 2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472"/>
                </a:solidFill>
                <a:latin typeface="Calibri" pitchFamily="34" charset="0"/>
                <a:ea typeface="Calibri" pitchFamily="34" charset="-122"/>
                <a:cs typeface="Calibri" pitchFamily="34" charset="-120"/>
              </a:rPr>
              <a:t>Relatório Executivo — Case Olist</a:t>
            </a:r>
            <a:endParaRPr lang="en-US" sz="900" dirty="0"/>
          </a:p>
        </p:txBody>
      </p:sp>
      <p:sp>
        <p:nvSpPr>
          <p:cNvPr id="29" name="Text 2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457200" y="6473952"/>
            <a:ext cx="7315200" cy="274320"/>
          </a:xfrm>
          <a:prstGeom prst="rect">
            <a:avLst/>
          </a:prstGeom>
          <a:noFill/>
          <a:ln/>
        </p:spPr>
        <p:txBody>
          <a:bodyPr wrap="square" rtlCol="0" anchor="ctr"/>
          <a:lstStyle/>
          <a:p>
            <a:pPr marL="0" indent="0">
              <a:buNone/>
            </a:pPr>
            <a:r>
              <a:rPr lang="en-US" sz="900" dirty="0">
                <a:solidFill>
                  <a:schemeClr val="bg2"/>
                </a:solidFill>
                <a:latin typeface="Calibri" pitchFamily="34" charset="0"/>
                <a:ea typeface="Calibri" pitchFamily="34" charset="-122"/>
                <a:cs typeface="Calibri" pitchFamily="34" charset="-120"/>
              </a:rPr>
              <a:t>Relatório Executivo — Case Olist</a:t>
            </a:r>
            <a:endParaRPr lang="en-US" sz="900" dirty="0">
              <a:solidFill>
                <a:schemeClr val="bg2"/>
              </a:solidFill>
            </a:endParaRPr>
          </a:p>
        </p:txBody>
      </p:sp>
      <p:sp>
        <p:nvSpPr>
          <p:cNvPr id="31" name="Text 2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098C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chemeClr val="bg2">
            <a:lumMod val="10000"/>
          </a:schemeClr>
        </a:solidFill>
        <a:effectLst/>
      </p:bgPr>
    </p:bg>
    <p:spTree>
      <p:nvGrpSpPr>
        <p:cNvPr id="1" name=""/>
        <p:cNvGrpSpPr/>
        <p:nvPr/>
      </p:nvGrpSpPr>
      <p:grpSpPr>
        <a:xfrm>
          <a:off x="0" y="0"/>
          <a:ext cx="0" cy="0"/>
          <a:chOff x="0" y="0"/>
          <a:chExt cx="0" cy="0"/>
        </a:xfrm>
      </p:grpSpPr>
      <p:pic>
        <p:nvPicPr>
          <p:cNvPr id="4" name="Image 0" descr="/home/claude/nb_images/cresc_10_1.png"/>
          <p:cNvPicPr>
            <a:picLocks noChangeAspect="1"/>
          </p:cNvPicPr>
          <p:nvPr/>
        </p:nvPicPr>
        <p:blipFill>
          <a:blip r:embed="rId3"/>
          <a:stretch>
            <a:fillRect/>
          </a:stretch>
        </p:blipFill>
        <p:spPr>
          <a:xfrm>
            <a:off x="629920" y="1691640"/>
            <a:ext cx="6120000" cy="385869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1" name="Retângulo: Cantos Arredondados 10">
            <a:extLst>
              <a:ext uri="{FF2B5EF4-FFF2-40B4-BE49-F238E27FC236}">
                <a16:creationId xmlns:a16="http://schemas.microsoft.com/office/drawing/2014/main" id="{28260ACE-4181-F326-379F-112A9B8B505E}"/>
              </a:ext>
            </a:extLst>
          </p:cNvPr>
          <p:cNvSpPr/>
          <p:nvPr/>
        </p:nvSpPr>
        <p:spPr>
          <a:xfrm rot="17315163">
            <a:off x="6798417" y="317176"/>
            <a:ext cx="7710434" cy="5223268"/>
          </a:xfrm>
          <a:prstGeom prst="roundRect">
            <a:avLst>
              <a:gd name="adj" fmla="val 10101"/>
            </a:avLst>
          </a:prstGeom>
          <a:solidFill>
            <a:srgbClr val="ED145B"/>
          </a:solidFill>
          <a:ln/>
        </p:spPr>
        <p:txBody>
          <a:bodyPr/>
          <a:lstStyle/>
          <a:p>
            <a:endParaRPr lang="pt-BR">
              <a:solidFill>
                <a:schemeClr val="tx1"/>
              </a:solidFill>
            </a:endParaRPr>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2800" b="1" dirty="0">
                <a:solidFill>
                  <a:schemeClr val="bg2"/>
                </a:solidFill>
                <a:latin typeface="Cambria" pitchFamily="34" charset="0"/>
                <a:ea typeface="Cambria" pitchFamily="34" charset="-122"/>
                <a:cs typeface="Cambria" pitchFamily="34" charset="-120"/>
              </a:rPr>
              <a:t>Crescimento e Receita</a:t>
            </a:r>
            <a:endParaRPr lang="en-US" sz="2800" dirty="0">
              <a:solidFill>
                <a:schemeClr val="bg2"/>
              </a:solidFill>
            </a:endParaRPr>
          </a:p>
        </p:txBody>
      </p:sp>
      <p:sp>
        <p:nvSpPr>
          <p:cNvPr id="6" name="Text 3"/>
          <p:cNvSpPr/>
          <p:nvPr/>
        </p:nvSpPr>
        <p:spPr>
          <a:xfrm>
            <a:off x="8417560" y="2225040"/>
            <a:ext cx="3383280" cy="365760"/>
          </a:xfrm>
          <a:prstGeom prst="rect">
            <a:avLst/>
          </a:prstGeom>
          <a:noFill/>
          <a:ln/>
        </p:spPr>
        <p:txBody>
          <a:bodyPr wrap="square" rtlCol="0" anchor="ctr"/>
          <a:lstStyle/>
          <a:p>
            <a:pPr marL="0" indent="0">
              <a:buNone/>
            </a:pPr>
            <a:r>
              <a:rPr lang="en-US" sz="1400" b="1" dirty="0">
                <a:solidFill>
                  <a:schemeClr val="bg2">
                    <a:lumMod val="10000"/>
                  </a:schemeClr>
                </a:solidFill>
                <a:latin typeface="Calibri" pitchFamily="34" charset="0"/>
                <a:ea typeface="Calibri" pitchFamily="34" charset="-122"/>
                <a:cs typeface="Calibri" pitchFamily="34" charset="-120"/>
              </a:rPr>
              <a:t>Leitura executiva</a:t>
            </a:r>
            <a:endParaRPr lang="en-US" sz="1400" dirty="0">
              <a:solidFill>
                <a:schemeClr val="bg2">
                  <a:lumMod val="10000"/>
                </a:schemeClr>
              </a:solidFill>
            </a:endParaRPr>
          </a:p>
        </p:txBody>
      </p:sp>
      <p:sp>
        <p:nvSpPr>
          <p:cNvPr id="7" name="Text 4"/>
          <p:cNvSpPr/>
          <p:nvPr/>
        </p:nvSpPr>
        <p:spPr>
          <a:xfrm>
            <a:off x="8417560" y="2636520"/>
            <a:ext cx="3383280" cy="3566160"/>
          </a:xfrm>
          <a:prstGeom prst="rect">
            <a:avLst/>
          </a:prstGeom>
          <a:noFill/>
          <a:ln/>
        </p:spPr>
        <p:txBody>
          <a:bodyPr wrap="square" rtlCol="0" anchor="t"/>
          <a:lstStyle/>
          <a:p>
            <a:pPr marL="0" indent="0">
              <a:lnSpc>
                <a:spcPct val="120000"/>
              </a:lnSpc>
              <a:buNone/>
            </a:pPr>
            <a:r>
              <a:rPr lang="en-US" sz="1300" dirty="0">
                <a:solidFill>
                  <a:schemeClr val="bg2"/>
                </a:solidFill>
                <a:latin typeface="Calibri" pitchFamily="34" charset="0"/>
                <a:ea typeface="Calibri" pitchFamily="34" charset="-122"/>
                <a:cs typeface="Calibri" pitchFamily="34" charset="-120"/>
              </a:rPr>
              <a:t>Crescimento consistente de pedidos e receita entre 2016 e meados de 2018, com forte aceleração ao longo de 2017’.
O ticket médio se estabiliza na faixa de R$ 130–145 a partir de 2017 — sinal de que o crescimento vem principalmente de volume, não de aumento de preço.
Queda no último mês reflete corte de dados incompletos, não retração real do negócio.</a:t>
            </a:r>
            <a:endParaRPr lang="en-US" sz="1300" dirty="0">
              <a:solidFill>
                <a:schemeClr val="bg2"/>
              </a:solidFill>
            </a:endParaRPr>
          </a:p>
        </p:txBody>
      </p:sp>
      <p:sp>
        <p:nvSpPr>
          <p:cNvPr id="8"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chemeClr val="bg2"/>
                </a:solidFill>
                <a:latin typeface="Calibri" pitchFamily="34" charset="0"/>
                <a:ea typeface="Calibri" pitchFamily="34" charset="-122"/>
                <a:cs typeface="Calibri" pitchFamily="34" charset="-120"/>
              </a:rPr>
              <a:t>Relatório Executivo — Case Olist</a:t>
            </a:r>
            <a:endParaRPr lang="en-US" sz="900" dirty="0">
              <a:solidFill>
                <a:schemeClr val="bg2"/>
              </a:solidFill>
            </a:endParaRPr>
          </a:p>
        </p:txBody>
      </p:sp>
      <p:sp>
        <p:nvSpPr>
          <p:cNvPr id="9" name="Text 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chemeClr val="bg2">
            <a:lumMod val="10000"/>
          </a:schemeClr>
        </a:solidFill>
        <a:effectLst/>
      </p:bgPr>
    </p:bg>
    <p:spTree>
      <p:nvGrpSpPr>
        <p:cNvPr id="1" name=""/>
        <p:cNvGrpSpPr/>
        <p:nvPr/>
      </p:nvGrpSpPr>
      <p:grpSpPr>
        <a:xfrm>
          <a:off x="0" y="0"/>
          <a:ext cx="0" cy="0"/>
          <a:chOff x="0" y="0"/>
          <a:chExt cx="0" cy="0"/>
        </a:xfrm>
      </p:grpSpPr>
      <p:sp>
        <p:nvSpPr>
          <p:cNvPr id="12" name="Retângulo: Cantos Arredondados 11">
            <a:extLst>
              <a:ext uri="{FF2B5EF4-FFF2-40B4-BE49-F238E27FC236}">
                <a16:creationId xmlns:a16="http://schemas.microsoft.com/office/drawing/2014/main" id="{95096783-7F58-0827-9F2C-8DC4BF78AFEB}"/>
              </a:ext>
            </a:extLst>
          </p:cNvPr>
          <p:cNvSpPr/>
          <p:nvPr/>
        </p:nvSpPr>
        <p:spPr>
          <a:xfrm rot="4014733">
            <a:off x="7335275" y="665935"/>
            <a:ext cx="7625049" cy="5584498"/>
          </a:xfrm>
          <a:prstGeom prst="roundRect">
            <a:avLst>
              <a:gd name="adj" fmla="val 10101"/>
            </a:avLst>
          </a:prstGeom>
          <a:solidFill>
            <a:srgbClr val="ED145B"/>
          </a:solidFill>
          <a:ln/>
        </p:spPr>
        <p:txBody>
          <a:bodyPr/>
          <a:lstStyle/>
          <a:p>
            <a:endParaRPr lang="pt-BR">
              <a:solidFill>
                <a:schemeClr val="tx1"/>
              </a:solidFill>
            </a:endParaRPr>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2800" b="1" dirty="0">
                <a:solidFill>
                  <a:srgbClr val="ED145B"/>
                </a:solidFill>
                <a:latin typeface="Cambria" pitchFamily="34" charset="0"/>
                <a:ea typeface="Cambria" pitchFamily="34" charset="-122"/>
                <a:cs typeface="Cambria" pitchFamily="34" charset="-120"/>
              </a:rPr>
              <a:t>Categorias Estratégicas</a:t>
            </a:r>
            <a:endParaRPr lang="en-US" sz="2800" dirty="0">
              <a:solidFill>
                <a:srgbClr val="ED145B"/>
              </a:solidFill>
            </a:endParaRPr>
          </a:p>
        </p:txBody>
      </p:sp>
      <p:pic>
        <p:nvPicPr>
          <p:cNvPr id="4" name="Image 0" descr="/home/claude/nb_images/cresc_14_2.png"/>
          <p:cNvPicPr>
            <a:picLocks noChangeAspect="1"/>
          </p:cNvPicPr>
          <p:nvPr/>
        </p:nvPicPr>
        <p:blipFill>
          <a:blip r:embed="rId3"/>
          <a:stretch>
            <a:fillRect/>
          </a:stretch>
        </p:blipFill>
        <p:spPr>
          <a:xfrm>
            <a:off x="893605" y="1811517"/>
            <a:ext cx="6029064" cy="3843528"/>
          </a:xfrm>
          <a:prstGeom prst="round2DiagRect">
            <a:avLst>
              <a:gd name="adj1" fmla="val 16667"/>
              <a:gd name="adj2" fmla="val 7087"/>
            </a:avLst>
          </a:prstGeom>
          <a:ln w="88900" cap="sq">
            <a:solidFill>
              <a:srgbClr val="FFFFFF"/>
            </a:solidFill>
            <a:miter lim="800000"/>
          </a:ln>
          <a:effectLst>
            <a:outerShdw blurRad="254000" algn="tl" rotWithShape="0">
              <a:srgbClr val="000000">
                <a:alpha val="43000"/>
              </a:srgbClr>
            </a:outerShdw>
          </a:effectLst>
        </p:spPr>
      </p:pic>
      <p:sp>
        <p:nvSpPr>
          <p:cNvPr id="5" name="Shape 2"/>
          <p:cNvSpPr/>
          <p:nvPr/>
        </p:nvSpPr>
        <p:spPr>
          <a:xfrm>
            <a:off x="8267538" y="1811517"/>
            <a:ext cx="3566160" cy="3347720"/>
          </a:xfrm>
          <a:prstGeom prst="roundRect">
            <a:avLst>
              <a:gd name="adj" fmla="val 2051"/>
            </a:avLst>
          </a:prstGeom>
          <a:noFill/>
          <a:ln/>
        </p:spPr>
        <p:txBody>
          <a:bodyPr/>
          <a:lstStyle/>
          <a:p>
            <a:endParaRPr lang="pt-BR"/>
          </a:p>
        </p:txBody>
      </p:sp>
      <p:sp>
        <p:nvSpPr>
          <p:cNvPr id="6" name="Text 3"/>
          <p:cNvSpPr/>
          <p:nvPr/>
        </p:nvSpPr>
        <p:spPr>
          <a:xfrm>
            <a:off x="8651456" y="1503680"/>
            <a:ext cx="3017520" cy="365760"/>
          </a:xfrm>
          <a:prstGeom prst="rect">
            <a:avLst/>
          </a:prstGeom>
          <a:noFill/>
          <a:ln/>
        </p:spPr>
        <p:txBody>
          <a:bodyPr wrap="square" rtlCol="0" anchor="ctr"/>
          <a:lstStyle/>
          <a:p>
            <a:pPr marL="0" indent="0">
              <a:buNone/>
            </a:pPr>
            <a:r>
              <a:rPr lang="en-US" sz="1400" b="1" dirty="0">
                <a:solidFill>
                  <a:schemeClr val="bg2">
                    <a:lumMod val="10000"/>
                  </a:schemeClr>
                </a:solidFill>
                <a:latin typeface="Calibri" pitchFamily="34" charset="0"/>
                <a:ea typeface="Calibri" pitchFamily="34" charset="-122"/>
                <a:cs typeface="Calibri" pitchFamily="34" charset="-120"/>
              </a:rPr>
              <a:t>Leitura executiva</a:t>
            </a:r>
            <a:endParaRPr lang="en-US" sz="1400" dirty="0">
              <a:solidFill>
                <a:schemeClr val="bg2">
                  <a:lumMod val="10000"/>
                </a:schemeClr>
              </a:solidFill>
            </a:endParaRPr>
          </a:p>
        </p:txBody>
      </p:sp>
      <p:sp>
        <p:nvSpPr>
          <p:cNvPr id="7" name="Text 4"/>
          <p:cNvSpPr/>
          <p:nvPr/>
        </p:nvSpPr>
        <p:spPr>
          <a:xfrm>
            <a:off x="8651456" y="1915160"/>
            <a:ext cx="3017520" cy="685800"/>
          </a:xfrm>
          <a:prstGeom prst="rect">
            <a:avLst/>
          </a:prstGeom>
          <a:noFill/>
          <a:ln/>
        </p:spPr>
        <p:txBody>
          <a:bodyPr wrap="square" rtlCol="0" anchor="t"/>
          <a:lstStyle/>
          <a:p>
            <a:pPr marL="0" indent="0">
              <a:lnSpc>
                <a:spcPct val="120000"/>
              </a:lnSpc>
              <a:buNone/>
            </a:pPr>
            <a:r>
              <a:rPr lang="en-US" sz="1300" dirty="0">
                <a:solidFill>
                  <a:schemeClr val="bg2"/>
                </a:solidFill>
                <a:latin typeface="Calibri" pitchFamily="34" charset="0"/>
                <a:ea typeface="Calibri" pitchFamily="34" charset="-122"/>
                <a:cs typeface="Calibri" pitchFamily="34" charset="-120"/>
              </a:rPr>
              <a:t>Health Beauty (9,3%) e Watches Gifts (8,9%) lideram a receita.</a:t>
            </a:r>
            <a:endParaRPr lang="en-US" sz="1300" dirty="0">
              <a:solidFill>
                <a:schemeClr val="bg2"/>
              </a:solidFill>
            </a:endParaRPr>
          </a:p>
        </p:txBody>
      </p:sp>
      <p:sp>
        <p:nvSpPr>
          <p:cNvPr id="8" name="Text 5"/>
          <p:cNvSpPr/>
          <p:nvPr/>
        </p:nvSpPr>
        <p:spPr>
          <a:xfrm>
            <a:off x="8651456" y="2646680"/>
            <a:ext cx="3017520" cy="914400"/>
          </a:xfrm>
          <a:prstGeom prst="rect">
            <a:avLst/>
          </a:prstGeom>
          <a:noFill/>
          <a:ln/>
        </p:spPr>
        <p:txBody>
          <a:bodyPr wrap="square" rtlCol="0" anchor="t"/>
          <a:lstStyle/>
          <a:p>
            <a:pPr marL="0" indent="0">
              <a:lnSpc>
                <a:spcPct val="120000"/>
              </a:lnSpc>
              <a:buNone/>
            </a:pPr>
            <a:r>
              <a:rPr lang="en-US" sz="1300" dirty="0">
                <a:solidFill>
                  <a:schemeClr val="bg2"/>
                </a:solidFill>
                <a:latin typeface="Calibri" pitchFamily="34" charset="0"/>
                <a:ea typeface="Calibri" pitchFamily="34" charset="-122"/>
                <a:cs typeface="Calibri" pitchFamily="34" charset="-120"/>
              </a:rPr>
              <a:t>As 10 categorias no gráfico concentram 62,4% de toda a receita — forte oportunidade de foco comercial.</a:t>
            </a:r>
            <a:endParaRPr lang="en-US" sz="1300" dirty="0">
              <a:solidFill>
                <a:schemeClr val="bg2"/>
              </a:solidFill>
            </a:endParaRPr>
          </a:p>
        </p:txBody>
      </p:sp>
      <p:sp>
        <p:nvSpPr>
          <p:cNvPr id="9" name="Text 6"/>
          <p:cNvSpPr/>
          <p:nvPr/>
        </p:nvSpPr>
        <p:spPr>
          <a:xfrm>
            <a:off x="8651456" y="3561080"/>
            <a:ext cx="3017520" cy="1097280"/>
          </a:xfrm>
          <a:prstGeom prst="rect">
            <a:avLst/>
          </a:prstGeom>
          <a:noFill/>
          <a:ln/>
        </p:spPr>
        <p:txBody>
          <a:bodyPr wrap="square" rtlCol="0" anchor="t"/>
          <a:lstStyle/>
          <a:p>
            <a:pPr marL="0" indent="0">
              <a:lnSpc>
                <a:spcPct val="120000"/>
              </a:lnSpc>
              <a:buNone/>
            </a:pPr>
            <a:r>
              <a:rPr lang="en-US" sz="1300" dirty="0">
                <a:solidFill>
                  <a:schemeClr val="bg2"/>
                </a:solidFill>
                <a:latin typeface="Calibri" pitchFamily="34" charset="0"/>
                <a:ea typeface="Calibri" pitchFamily="34" charset="-122"/>
                <a:cs typeface="Calibri" pitchFamily="34" charset="-120"/>
              </a:rPr>
              <a:t>Recomenda-se priorizar investimento em marketing e estoque nessas categorias, com atenção à diversificação do portfólio.</a:t>
            </a:r>
            <a:endParaRPr lang="en-US" sz="1300" dirty="0">
              <a:solidFill>
                <a:schemeClr val="bg2"/>
              </a:solidFill>
            </a:endParaRPr>
          </a:p>
        </p:txBody>
      </p:sp>
      <p:sp>
        <p:nvSpPr>
          <p:cNvPr id="10" name="Text 7"/>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chemeClr val="bg2"/>
                </a:solidFill>
                <a:latin typeface="Calibri" pitchFamily="34" charset="0"/>
                <a:ea typeface="Calibri" pitchFamily="34" charset="-122"/>
                <a:cs typeface="Calibri" pitchFamily="34" charset="-120"/>
              </a:rPr>
              <a:t>Relatório Executivo — Case Olist</a:t>
            </a:r>
            <a:endParaRPr lang="en-US" sz="900" dirty="0">
              <a:solidFill>
                <a:schemeClr val="bg2"/>
              </a:solidFill>
            </a:endParaRPr>
          </a:p>
        </p:txBody>
      </p:sp>
      <p:sp>
        <p:nvSpPr>
          <p:cNvPr id="11" name="Text 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ED145B"/>
        </a:solidFill>
        <a:effectLst/>
      </p:bgPr>
    </p:bg>
    <p:spTree>
      <p:nvGrpSpPr>
        <p:cNvPr id="1" name=""/>
        <p:cNvGrpSpPr/>
        <p:nvPr/>
      </p:nvGrpSpPr>
      <p:grpSpPr>
        <a:xfrm>
          <a:off x="0" y="0"/>
          <a:ext cx="0" cy="0"/>
          <a:chOff x="0" y="0"/>
          <a:chExt cx="0" cy="0"/>
        </a:xfrm>
      </p:grpSpPr>
      <p:sp>
        <p:nvSpPr>
          <p:cNvPr id="3" name="Text 1"/>
          <p:cNvSpPr/>
          <p:nvPr/>
        </p:nvSpPr>
        <p:spPr>
          <a:xfrm>
            <a:off x="548640" y="312928"/>
            <a:ext cx="10789920" cy="640080"/>
          </a:xfrm>
          <a:prstGeom prst="rect">
            <a:avLst/>
          </a:prstGeom>
          <a:noFill/>
          <a:ln/>
        </p:spPr>
        <p:txBody>
          <a:bodyPr wrap="square" rtlCol="0" anchor="ctr"/>
          <a:lstStyle/>
          <a:p>
            <a:pPr marL="0" indent="0">
              <a:buNone/>
            </a:pPr>
            <a:r>
              <a:rPr lang="en-US" sz="2800" b="1" dirty="0">
                <a:solidFill>
                  <a:schemeClr val="bg2">
                    <a:lumMod val="10000"/>
                  </a:schemeClr>
                </a:solidFill>
                <a:latin typeface="Cambria" pitchFamily="34" charset="0"/>
                <a:ea typeface="Cambria" pitchFamily="34" charset="-122"/>
                <a:cs typeface="Cambria" pitchFamily="34" charset="-120"/>
              </a:rPr>
              <a:t>Regiões Estratégicas</a:t>
            </a:r>
            <a:endParaRPr lang="en-US" sz="2800" dirty="0">
              <a:solidFill>
                <a:schemeClr val="bg2">
                  <a:lumMod val="10000"/>
                </a:schemeClr>
              </a:solidFill>
            </a:endParaRPr>
          </a:p>
        </p:txBody>
      </p:sp>
      <p:pic>
        <p:nvPicPr>
          <p:cNvPr id="4" name="Image 0" descr="/home/claude/nb_images/cresc_17_3.png"/>
          <p:cNvPicPr>
            <a:picLocks noChangeAspect="1"/>
          </p:cNvPicPr>
          <p:nvPr/>
        </p:nvPicPr>
        <p:blipFill>
          <a:blip r:embed="rId3"/>
          <a:stretch>
            <a:fillRect/>
          </a:stretch>
        </p:blipFill>
        <p:spPr>
          <a:xfrm>
            <a:off x="1986064" y="1405480"/>
            <a:ext cx="8632240" cy="3600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Shape 2"/>
          <p:cNvSpPr/>
          <p:nvPr/>
        </p:nvSpPr>
        <p:spPr>
          <a:xfrm>
            <a:off x="1899920" y="5400040"/>
            <a:ext cx="8859520" cy="777240"/>
          </a:xfrm>
          <a:prstGeom prst="roundRect">
            <a:avLst>
              <a:gd name="adj" fmla="val 9412"/>
            </a:avLst>
          </a:prstGeom>
          <a:solidFill>
            <a:schemeClr val="bg2">
              <a:lumMod val="10000"/>
            </a:schemeClr>
          </a:solidFill>
          <a:ln/>
        </p:spPr>
        <p:txBody>
          <a:bodyPr/>
          <a:lstStyle/>
          <a:p>
            <a:endParaRPr lang="pt-BR"/>
          </a:p>
        </p:txBody>
      </p:sp>
      <p:sp>
        <p:nvSpPr>
          <p:cNvPr id="6" name="Text 3"/>
          <p:cNvSpPr/>
          <p:nvPr/>
        </p:nvSpPr>
        <p:spPr>
          <a:xfrm>
            <a:off x="2195314" y="5537200"/>
            <a:ext cx="8241481" cy="548640"/>
          </a:xfrm>
          <a:prstGeom prst="rect">
            <a:avLst/>
          </a:prstGeom>
          <a:noFill/>
          <a:ln/>
        </p:spPr>
        <p:txBody>
          <a:bodyPr wrap="square" rtlCol="0" anchor="ctr"/>
          <a:lstStyle/>
          <a:p>
            <a:pPr marL="0" indent="0">
              <a:lnSpc>
                <a:spcPct val="110000"/>
              </a:lnSpc>
              <a:buNone/>
            </a:pPr>
            <a:r>
              <a:rPr lang="en-US" sz="1250" dirty="0">
                <a:solidFill>
                  <a:schemeClr val="bg2"/>
                </a:solidFill>
                <a:latin typeface="Calibri" pitchFamily="34" charset="0"/>
                <a:ea typeface="Calibri" pitchFamily="34" charset="-122"/>
                <a:cs typeface="Calibri" pitchFamily="34" charset="-120"/>
              </a:rPr>
              <a:t>SP concentra 38,3% da receita total  ·  Top 5 estados (SP, RJ, MG, RS, PR) somam 73,9% da receita — alta concentração geográfica que representa tanto eficiência de escala quanto risco de dependência regional.</a:t>
            </a:r>
            <a:endParaRPr lang="en-US" sz="1250" dirty="0">
              <a:solidFill>
                <a:schemeClr val="bg2"/>
              </a:solidFill>
            </a:endParaRPr>
          </a:p>
        </p:txBody>
      </p:sp>
      <p:sp>
        <p:nvSpPr>
          <p:cNvPr id="7" name="Text 4"/>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chemeClr val="bg2"/>
                </a:solidFill>
                <a:latin typeface="Calibri" pitchFamily="34" charset="0"/>
                <a:ea typeface="Calibri" pitchFamily="34" charset="-122"/>
                <a:cs typeface="Calibri" pitchFamily="34" charset="-120"/>
              </a:rPr>
              <a:t>Relatório Executivo — Case Olist</a:t>
            </a:r>
            <a:endParaRPr lang="en-US" sz="900" dirty="0">
              <a:solidFill>
                <a:schemeClr val="bg2"/>
              </a:solidFill>
            </a:endParaRPr>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chemeClr val="bg2">
            <a:lumMod val="10000"/>
          </a:schemeClr>
        </a:solidFill>
        <a:effectLst/>
      </p:bgPr>
    </p:bg>
    <p:spTree>
      <p:nvGrpSpPr>
        <p:cNvPr id="1" name=""/>
        <p:cNvGrpSpPr/>
        <p:nvPr/>
      </p:nvGrpSpPr>
      <p:grpSpPr>
        <a:xfrm>
          <a:off x="0" y="0"/>
          <a:ext cx="0" cy="0"/>
          <a:chOff x="0" y="0"/>
          <a:chExt cx="0" cy="0"/>
        </a:xfrm>
      </p:grpSpPr>
      <p:sp useBgFill="1">
        <p:nvSpPr>
          <p:cNvPr id="3" name="Text 1"/>
          <p:cNvSpPr/>
          <p:nvPr/>
        </p:nvSpPr>
        <p:spPr>
          <a:xfrm>
            <a:off x="548640" y="312928"/>
            <a:ext cx="10789920" cy="640080"/>
          </a:xfrm>
          <a:prstGeom prst="rect">
            <a:avLst/>
          </a:prstGeom>
          <a:ln/>
        </p:spPr>
        <p:txBody>
          <a:bodyPr wrap="square" rtlCol="0" anchor="ctr"/>
          <a:lstStyle/>
          <a:p>
            <a:pPr marL="0" indent="0" algn="ctr">
              <a:buNone/>
            </a:pPr>
            <a:r>
              <a:rPr lang="en-US" sz="2800" b="1" dirty="0">
                <a:solidFill>
                  <a:srgbClr val="ED145B"/>
                </a:solidFill>
                <a:latin typeface="Cambria" pitchFamily="34" charset="0"/>
                <a:ea typeface="Cambria" pitchFamily="34" charset="-122"/>
                <a:cs typeface="Cambria" pitchFamily="34" charset="-120"/>
              </a:rPr>
              <a:t>Logística e Satisfação do Cliente</a:t>
            </a:r>
            <a:endParaRPr lang="en-US" sz="2800" dirty="0">
              <a:solidFill>
                <a:srgbClr val="ED145B"/>
              </a:solidFill>
            </a:endParaRPr>
          </a:p>
        </p:txBody>
      </p:sp>
      <p:pic>
        <p:nvPicPr>
          <p:cNvPr id="4" name="Image 0" descr="/home/claude/nb_images/tcf_28_2.png"/>
          <p:cNvPicPr>
            <a:picLocks noChangeAspect="1"/>
          </p:cNvPicPr>
          <p:nvPr/>
        </p:nvPicPr>
        <p:blipFill>
          <a:blip r:embed="rId3"/>
          <a:stretch>
            <a:fillRect/>
          </a:stretch>
        </p:blipFill>
        <p:spPr>
          <a:xfrm>
            <a:off x="904703" y="1488440"/>
            <a:ext cx="4680000" cy="3432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Image 1" descr="/home/claude/nb_images/tcf_32_3.png"/>
          <p:cNvPicPr>
            <a:picLocks noChangeAspect="1"/>
          </p:cNvPicPr>
          <p:nvPr/>
        </p:nvPicPr>
        <p:blipFill>
          <a:blip r:embed="rId4"/>
          <a:stretch>
            <a:fillRect/>
          </a:stretch>
        </p:blipFill>
        <p:spPr>
          <a:xfrm>
            <a:off x="6141721" y="1488440"/>
            <a:ext cx="4680000" cy="3432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Shape 2"/>
          <p:cNvSpPr/>
          <p:nvPr/>
        </p:nvSpPr>
        <p:spPr>
          <a:xfrm>
            <a:off x="1148080" y="5664200"/>
            <a:ext cx="8950960" cy="777240"/>
          </a:xfrm>
          <a:prstGeom prst="roundRect">
            <a:avLst>
              <a:gd name="adj" fmla="val 9412"/>
            </a:avLst>
          </a:prstGeom>
          <a:noFill/>
          <a:ln>
            <a:solidFill>
              <a:srgbClr val="ED145B"/>
            </a:solidFill>
          </a:ln>
        </p:spPr>
        <p:txBody>
          <a:bodyPr/>
          <a:lstStyle/>
          <a:p>
            <a:endParaRPr lang="pt-BR"/>
          </a:p>
        </p:txBody>
      </p:sp>
      <p:sp>
        <p:nvSpPr>
          <p:cNvPr id="7" name="Text 3"/>
          <p:cNvSpPr/>
          <p:nvPr/>
        </p:nvSpPr>
        <p:spPr>
          <a:xfrm>
            <a:off x="1468120" y="5801360"/>
            <a:ext cx="8310880" cy="548640"/>
          </a:xfrm>
          <a:prstGeom prst="rect">
            <a:avLst/>
          </a:prstGeom>
          <a:noFill/>
          <a:ln/>
        </p:spPr>
        <p:txBody>
          <a:bodyPr wrap="square" rtlCol="0" anchor="ctr"/>
          <a:lstStyle/>
          <a:p>
            <a:pPr marL="0" indent="0" algn="ctr">
              <a:lnSpc>
                <a:spcPct val="110000"/>
              </a:lnSpc>
              <a:buNone/>
            </a:pPr>
            <a:r>
              <a:rPr lang="en-US" sz="1300" dirty="0">
                <a:solidFill>
                  <a:schemeClr val="bg2">
                    <a:lumMod val="90000"/>
                  </a:schemeClr>
                </a:solidFill>
                <a:latin typeface="Calibri" pitchFamily="34" charset="0"/>
                <a:ea typeface="Calibri" pitchFamily="34" charset="-122"/>
                <a:cs typeface="Calibri" pitchFamily="34" charset="-120"/>
              </a:rPr>
              <a:t>Insight central:  pedidos entregues no prazo recebem em média 4,21 estrelas, contra apenas 2,55 quando atrasados. Cumprir o prazo prometido é a alavanca mais direta para elevar a satisfação e a fidelização do cliente.</a:t>
            </a:r>
            <a:endParaRPr lang="en-US" sz="1300" dirty="0">
              <a:solidFill>
                <a:schemeClr val="bg2">
                  <a:lumMod val="90000"/>
                </a:schemeClr>
              </a:solidFill>
            </a:endParaRPr>
          </a:p>
        </p:txBody>
      </p:sp>
      <p:sp>
        <p:nvSpPr>
          <p:cNvPr id="8" name="Text 4"/>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chemeClr val="bg2"/>
                </a:solidFill>
                <a:latin typeface="Calibri" pitchFamily="34" charset="0"/>
                <a:ea typeface="Calibri" pitchFamily="34" charset="-122"/>
                <a:cs typeface="Calibri" pitchFamily="34" charset="-120"/>
              </a:rPr>
              <a:t>Relatório Executivo — Case Olist</a:t>
            </a:r>
            <a:endParaRPr lang="en-US" sz="900" dirty="0">
              <a:solidFill>
                <a:schemeClr val="bg2"/>
              </a:solidFill>
            </a:endParaRPr>
          </a:p>
        </p:txBody>
      </p:sp>
      <p:sp>
        <p:nvSpPr>
          <p:cNvPr id="9"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3" name="Text 1"/>
          <p:cNvSpPr/>
          <p:nvPr/>
        </p:nvSpPr>
        <p:spPr>
          <a:xfrm>
            <a:off x="548640" y="465328"/>
            <a:ext cx="10972800" cy="640080"/>
          </a:xfrm>
          <a:prstGeom prst="rect">
            <a:avLst/>
          </a:prstGeom>
          <a:noFill/>
          <a:ln/>
        </p:spPr>
        <p:txBody>
          <a:bodyPr wrap="square" rtlCol="0" anchor="ctr"/>
          <a:lstStyle/>
          <a:p>
            <a:pPr marL="0" indent="0" algn="ctr">
              <a:buNone/>
            </a:pPr>
            <a:r>
              <a:rPr lang="en-US" sz="2800" b="1" dirty="0">
                <a:solidFill>
                  <a:srgbClr val="ED145B"/>
                </a:solidFill>
                <a:latin typeface="Cambria" pitchFamily="34" charset="0"/>
                <a:ea typeface="Cambria" pitchFamily="34" charset="-122"/>
                <a:cs typeface="Cambria" pitchFamily="34" charset="-120"/>
              </a:rPr>
              <a:t>Comportamento de Pagamento</a:t>
            </a:r>
            <a:endParaRPr lang="en-US" sz="2800" dirty="0">
              <a:solidFill>
                <a:srgbClr val="ED145B"/>
              </a:solidFill>
            </a:endParaRPr>
          </a:p>
        </p:txBody>
      </p:sp>
      <p:pic>
        <p:nvPicPr>
          <p:cNvPr id="4" name="Image 0" descr="/home/claude/nb_images/data_6_1.png"/>
          <p:cNvPicPr>
            <a:picLocks noChangeAspect="1"/>
          </p:cNvPicPr>
          <p:nvPr/>
        </p:nvPicPr>
        <p:blipFill>
          <a:blip r:embed="rId3"/>
          <a:stretch>
            <a:fillRect/>
          </a:stretch>
        </p:blipFill>
        <p:spPr>
          <a:xfrm>
            <a:off x="1412241" y="1788160"/>
            <a:ext cx="4145143" cy="3042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Image 1" descr="/home/claude/nb_images/data_11_3.png"/>
          <p:cNvPicPr>
            <a:picLocks noChangeAspect="1"/>
          </p:cNvPicPr>
          <p:nvPr/>
        </p:nvPicPr>
        <p:blipFill>
          <a:blip r:embed="rId4"/>
          <a:stretch>
            <a:fillRect/>
          </a:stretch>
        </p:blipFill>
        <p:spPr>
          <a:xfrm>
            <a:off x="6507480" y="1788160"/>
            <a:ext cx="4143600" cy="292389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Shape 2"/>
          <p:cNvSpPr/>
          <p:nvPr/>
        </p:nvSpPr>
        <p:spPr>
          <a:xfrm>
            <a:off x="1473200" y="5389880"/>
            <a:ext cx="8168640" cy="685800"/>
          </a:xfrm>
          <a:prstGeom prst="roundRect">
            <a:avLst>
              <a:gd name="adj" fmla="val 10667"/>
            </a:avLst>
          </a:prstGeom>
          <a:solidFill>
            <a:schemeClr val="bg2">
              <a:lumMod val="10000"/>
            </a:schemeClr>
          </a:solidFill>
          <a:ln>
            <a:solidFill>
              <a:srgbClr val="ED145B"/>
            </a:solidFill>
          </a:ln>
        </p:spPr>
        <p:txBody>
          <a:bodyPr/>
          <a:lstStyle/>
          <a:p>
            <a:endParaRPr lang="pt-BR"/>
          </a:p>
        </p:txBody>
      </p:sp>
      <p:sp>
        <p:nvSpPr>
          <p:cNvPr id="7" name="Text 3"/>
          <p:cNvSpPr/>
          <p:nvPr/>
        </p:nvSpPr>
        <p:spPr>
          <a:xfrm>
            <a:off x="1508760" y="5508752"/>
            <a:ext cx="8097520" cy="502920"/>
          </a:xfrm>
          <a:prstGeom prst="rect">
            <a:avLst/>
          </a:prstGeom>
          <a:noFill/>
          <a:ln/>
        </p:spPr>
        <p:txBody>
          <a:bodyPr wrap="square" rtlCol="0" anchor="ctr"/>
          <a:lstStyle/>
          <a:p>
            <a:pPr marL="0" indent="0" algn="ctr">
              <a:lnSpc>
                <a:spcPct val="110000"/>
              </a:lnSpc>
              <a:buNone/>
            </a:pPr>
            <a:r>
              <a:rPr lang="en-US" sz="1300" dirty="0">
                <a:solidFill>
                  <a:schemeClr val="bg2"/>
                </a:solidFill>
                <a:latin typeface="Calibri" pitchFamily="34" charset="0"/>
                <a:ea typeface="Calibri" pitchFamily="34" charset="-122"/>
                <a:cs typeface="Calibri" pitchFamily="34" charset="-120"/>
              </a:rPr>
              <a:t>Cartão de crédito domina com 74% dos pedidos, seguido por boleto (19%). Entre os meios de pagamento, apenas o cartão de crédito é parcelado de forma relevante (média de 3,5 parcelas) — uma alavanca de ticket médio a explorar.</a:t>
            </a:r>
            <a:endParaRPr lang="en-US" sz="1300" dirty="0">
              <a:solidFill>
                <a:schemeClr val="bg2"/>
              </a:solidFill>
            </a:endParaRPr>
          </a:p>
        </p:txBody>
      </p:sp>
      <p:sp>
        <p:nvSpPr>
          <p:cNvPr id="8" name="Text 4"/>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chemeClr val="bg2"/>
                </a:solidFill>
                <a:latin typeface="Calibri" pitchFamily="34" charset="0"/>
                <a:ea typeface="Calibri" pitchFamily="34" charset="-122"/>
                <a:cs typeface="Calibri" pitchFamily="34" charset="-120"/>
              </a:rPr>
              <a:t>Relatório Executivo — Case Olist</a:t>
            </a:r>
            <a:endParaRPr lang="en-US" sz="900" dirty="0">
              <a:solidFill>
                <a:schemeClr val="bg2"/>
              </a:solidFill>
            </a:endParaRPr>
          </a:p>
        </p:txBody>
      </p:sp>
      <p:sp>
        <p:nvSpPr>
          <p:cNvPr id="9"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ED145B"/>
        </a:solidFill>
        <a:effectLst/>
      </p:bgPr>
    </p:bg>
    <p:spTree>
      <p:nvGrpSpPr>
        <p:cNvPr id="1" name=""/>
        <p:cNvGrpSpPr/>
        <p:nvPr/>
      </p:nvGrpSpPr>
      <p:grpSpPr>
        <a:xfrm>
          <a:off x="0" y="0"/>
          <a:ext cx="0" cy="0"/>
          <a:chOff x="0" y="0"/>
          <a:chExt cx="0" cy="0"/>
        </a:xfrm>
      </p:grpSpPr>
      <p:sp>
        <p:nvSpPr>
          <p:cNvPr id="13" name="Retângulo: Cantos Arredondados 12">
            <a:extLst>
              <a:ext uri="{FF2B5EF4-FFF2-40B4-BE49-F238E27FC236}">
                <a16:creationId xmlns:a16="http://schemas.microsoft.com/office/drawing/2014/main" id="{761410B1-2B41-42FB-A313-8EC2FAAFD481}"/>
              </a:ext>
            </a:extLst>
          </p:cNvPr>
          <p:cNvSpPr/>
          <p:nvPr/>
        </p:nvSpPr>
        <p:spPr>
          <a:xfrm rot="17315163">
            <a:off x="6798417" y="317176"/>
            <a:ext cx="7710434" cy="5223268"/>
          </a:xfrm>
          <a:prstGeom prst="roundRect">
            <a:avLst>
              <a:gd name="adj" fmla="val 10101"/>
            </a:avLst>
          </a:prstGeom>
          <a:solidFill>
            <a:srgbClr val="000000"/>
          </a:solidFill>
          <a:ln/>
        </p:spPr>
        <p:txBody>
          <a:bodyPr/>
          <a:lstStyle/>
          <a:p>
            <a:endParaRPr lang="pt-BR">
              <a:solidFill>
                <a:schemeClr val="tx1"/>
              </a:solidFill>
            </a:endParaRPr>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2800" b="1" dirty="0">
                <a:solidFill>
                  <a:schemeClr val="bg2"/>
                </a:solidFill>
                <a:latin typeface="Cambria" pitchFamily="34" charset="0"/>
                <a:ea typeface="Cambria" pitchFamily="34" charset="-122"/>
                <a:cs typeface="Cambria" pitchFamily="34" charset="-120"/>
              </a:rPr>
              <a:t>Perfil e Retenção de Clientes</a:t>
            </a:r>
            <a:endParaRPr lang="en-US" sz="2800" dirty="0">
              <a:solidFill>
                <a:schemeClr val="bg2"/>
              </a:solidFill>
            </a:endParaRPr>
          </a:p>
        </p:txBody>
      </p:sp>
      <p:pic>
        <p:nvPicPr>
          <p:cNvPr id="4" name="Image 0" descr="/home/claude/nb_images/data_19_5.png"/>
          <p:cNvPicPr>
            <a:picLocks noChangeAspect="1"/>
          </p:cNvPicPr>
          <p:nvPr/>
        </p:nvPicPr>
        <p:blipFill>
          <a:blip r:embed="rId3"/>
          <a:stretch>
            <a:fillRect/>
          </a:stretch>
        </p:blipFill>
        <p:spPr>
          <a:xfrm>
            <a:off x="489926" y="1692027"/>
            <a:ext cx="6134394" cy="368840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Shape 2"/>
          <p:cNvSpPr/>
          <p:nvPr/>
        </p:nvSpPr>
        <p:spPr>
          <a:xfrm>
            <a:off x="7909560" y="1717040"/>
            <a:ext cx="3794760" cy="4160520"/>
          </a:xfrm>
          <a:prstGeom prst="roundRect">
            <a:avLst>
              <a:gd name="adj" fmla="val 1928"/>
            </a:avLst>
          </a:prstGeom>
          <a:noFill/>
          <a:ln/>
        </p:spPr>
        <p:txBody>
          <a:bodyPr/>
          <a:lstStyle/>
          <a:p>
            <a:endParaRPr lang="pt-BR"/>
          </a:p>
        </p:txBody>
      </p:sp>
      <p:sp>
        <p:nvSpPr>
          <p:cNvPr id="6" name="Text 3"/>
          <p:cNvSpPr/>
          <p:nvPr/>
        </p:nvSpPr>
        <p:spPr>
          <a:xfrm>
            <a:off x="8376920" y="1930400"/>
            <a:ext cx="3291840" cy="685800"/>
          </a:xfrm>
          <a:prstGeom prst="rect">
            <a:avLst/>
          </a:prstGeom>
          <a:noFill/>
          <a:ln/>
        </p:spPr>
        <p:txBody>
          <a:bodyPr wrap="square" rtlCol="0" anchor="ctr"/>
          <a:lstStyle/>
          <a:p>
            <a:pPr marL="0" indent="0">
              <a:buNone/>
            </a:pPr>
            <a:r>
              <a:rPr lang="en-US" sz="3600" b="1" dirty="0">
                <a:solidFill>
                  <a:srgbClr val="ED145B"/>
                </a:solidFill>
                <a:latin typeface="Cambria" pitchFamily="34" charset="0"/>
                <a:ea typeface="Cambria" pitchFamily="34" charset="-122"/>
                <a:cs typeface="Cambria" pitchFamily="34" charset="-120"/>
              </a:rPr>
              <a:t>3,12%</a:t>
            </a:r>
            <a:endParaRPr lang="en-US" sz="3600" dirty="0">
              <a:solidFill>
                <a:srgbClr val="ED145B"/>
              </a:solidFill>
            </a:endParaRPr>
          </a:p>
        </p:txBody>
      </p:sp>
      <p:sp>
        <p:nvSpPr>
          <p:cNvPr id="7" name="Text 4"/>
          <p:cNvSpPr/>
          <p:nvPr/>
        </p:nvSpPr>
        <p:spPr>
          <a:xfrm>
            <a:off x="8341360" y="2616200"/>
            <a:ext cx="3291840" cy="685800"/>
          </a:xfrm>
          <a:prstGeom prst="rect">
            <a:avLst/>
          </a:prstGeom>
          <a:noFill/>
          <a:ln/>
        </p:spPr>
        <p:txBody>
          <a:bodyPr wrap="square" rtlCol="0" anchor="t"/>
          <a:lstStyle/>
          <a:p>
            <a:pPr marL="0" indent="0">
              <a:buNone/>
            </a:pPr>
            <a:r>
              <a:rPr lang="en-US" sz="1300" dirty="0">
                <a:solidFill>
                  <a:schemeClr val="bg2"/>
                </a:solidFill>
                <a:latin typeface="Calibri" pitchFamily="34" charset="0"/>
                <a:ea typeface="Calibri" pitchFamily="34" charset="-122"/>
                <a:cs typeface="Calibri" pitchFamily="34" charset="-120"/>
              </a:rPr>
              <a:t>taxa de recompra — apenas 1 em cada 32 clientes fez um segundo pedido</a:t>
            </a:r>
            <a:endParaRPr lang="en-US" sz="1300" dirty="0">
              <a:solidFill>
                <a:schemeClr val="bg2"/>
              </a:solidFill>
            </a:endParaRPr>
          </a:p>
        </p:txBody>
      </p:sp>
      <p:sp>
        <p:nvSpPr>
          <p:cNvPr id="8" name="Shape 5"/>
          <p:cNvSpPr/>
          <p:nvPr/>
        </p:nvSpPr>
        <p:spPr>
          <a:xfrm>
            <a:off x="8455660" y="3383280"/>
            <a:ext cx="3063240" cy="0"/>
          </a:xfrm>
          <a:prstGeom prst="line">
            <a:avLst/>
          </a:prstGeom>
          <a:noFill/>
          <a:ln w="12700">
            <a:solidFill>
              <a:srgbClr val="C7D6EA"/>
            </a:solidFill>
            <a:prstDash val="solid"/>
          </a:ln>
        </p:spPr>
        <p:txBody>
          <a:bodyPr/>
          <a:lstStyle/>
          <a:p>
            <a:endParaRPr lang="pt-BR" sz="1300"/>
          </a:p>
        </p:txBody>
      </p:sp>
      <p:sp>
        <p:nvSpPr>
          <p:cNvPr id="9" name="Text 6"/>
          <p:cNvSpPr/>
          <p:nvPr/>
        </p:nvSpPr>
        <p:spPr>
          <a:xfrm>
            <a:off x="8341360" y="3576320"/>
            <a:ext cx="3291840" cy="2148840"/>
          </a:xfrm>
          <a:prstGeom prst="rect">
            <a:avLst/>
          </a:prstGeom>
          <a:noFill/>
          <a:ln/>
        </p:spPr>
        <p:txBody>
          <a:bodyPr wrap="square" rtlCol="0" anchor="t"/>
          <a:lstStyle/>
          <a:p>
            <a:pPr marL="0" indent="0">
              <a:lnSpc>
                <a:spcPct val="125000"/>
              </a:lnSpc>
              <a:buNone/>
            </a:pPr>
            <a:r>
              <a:rPr lang="en-US" sz="1300" dirty="0">
                <a:solidFill>
                  <a:schemeClr val="bg2"/>
                </a:solidFill>
                <a:latin typeface="Calibri" pitchFamily="34" charset="0"/>
                <a:ea typeface="Calibri" pitchFamily="34" charset="-122"/>
                <a:cs typeface="Calibri" pitchFamily="34" charset="-120"/>
              </a:rPr>
              <a:t>A maioria dos clientes concentra-se em baixa recência e frequência única — clientes de alta frequência e alto valor (bolhas maiores) são raros e devem ser tratados como contas estratégicas.</a:t>
            </a:r>
            <a:endParaRPr lang="en-US" sz="1300" dirty="0">
              <a:solidFill>
                <a:schemeClr val="bg2"/>
              </a:solidFill>
            </a:endParaRPr>
          </a:p>
        </p:txBody>
      </p:sp>
      <p:sp>
        <p:nvSpPr>
          <p:cNvPr id="10" name="Text 7"/>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chemeClr val="bg2"/>
                </a:solidFill>
                <a:latin typeface="Calibri" pitchFamily="34" charset="0"/>
                <a:ea typeface="Calibri" pitchFamily="34" charset="-122"/>
                <a:cs typeface="Calibri" pitchFamily="34" charset="-120"/>
              </a:rPr>
              <a:t>Relatório Executivo — Case Olist</a:t>
            </a:r>
            <a:endParaRPr lang="en-US" sz="900" dirty="0">
              <a:solidFill>
                <a:schemeClr val="bg2"/>
              </a:solidFill>
            </a:endParaRPr>
          </a:p>
        </p:txBody>
      </p:sp>
      <p:sp>
        <p:nvSpPr>
          <p:cNvPr id="11" name="Text 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chemeClr val="bg2"/>
        </a:solidFill>
        <a:effectLst/>
      </p:bgPr>
    </p:bg>
    <p:spTree>
      <p:nvGrpSpPr>
        <p:cNvPr id="1" name=""/>
        <p:cNvGrpSpPr/>
        <p:nvPr/>
      </p:nvGrpSpPr>
      <p:grpSpPr>
        <a:xfrm>
          <a:off x="0" y="0"/>
          <a:ext cx="0" cy="0"/>
          <a:chOff x="0" y="0"/>
          <a:chExt cx="0" cy="0"/>
        </a:xfrm>
      </p:grpSpPr>
      <p:sp>
        <p:nvSpPr>
          <p:cNvPr id="3" name="Text 1"/>
          <p:cNvSpPr/>
          <p:nvPr/>
        </p:nvSpPr>
        <p:spPr>
          <a:xfrm>
            <a:off x="548640" y="320040"/>
            <a:ext cx="10789920" cy="640080"/>
          </a:xfrm>
          <a:prstGeom prst="rect">
            <a:avLst/>
          </a:prstGeom>
          <a:noFill/>
          <a:ln/>
        </p:spPr>
        <p:txBody>
          <a:bodyPr wrap="square" rtlCol="0" anchor="ctr"/>
          <a:lstStyle/>
          <a:p>
            <a:pPr marL="0" indent="0" algn="ctr">
              <a:buNone/>
            </a:pPr>
            <a:r>
              <a:rPr lang="en-US" sz="2800" b="1" dirty="0">
                <a:solidFill>
                  <a:srgbClr val="ED145B"/>
                </a:solidFill>
                <a:latin typeface="Cambria" pitchFamily="34" charset="0"/>
                <a:ea typeface="Cambria" pitchFamily="34" charset="-122"/>
                <a:cs typeface="Cambria" pitchFamily="34" charset="-120"/>
              </a:rPr>
              <a:t>Voz do Cliente</a:t>
            </a:r>
            <a:endParaRPr lang="en-US" sz="2800" dirty="0">
              <a:solidFill>
                <a:srgbClr val="ED145B"/>
              </a:solidFill>
            </a:endParaRPr>
          </a:p>
        </p:txBody>
      </p:sp>
      <p:pic>
        <p:nvPicPr>
          <p:cNvPr id="4" name="Image 0" descr="/home/claude/nb_images/text_5_1.png"/>
          <p:cNvPicPr>
            <a:picLocks noChangeAspect="1"/>
          </p:cNvPicPr>
          <p:nvPr/>
        </p:nvPicPr>
        <p:blipFill>
          <a:blip r:embed="rId3"/>
          <a:stretch>
            <a:fillRect/>
          </a:stretch>
        </p:blipFill>
        <p:spPr>
          <a:xfrm>
            <a:off x="600140" y="1508760"/>
            <a:ext cx="5040000" cy="3654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Image 1" descr="/home/claude/nb_images/text_5_2.png"/>
          <p:cNvPicPr>
            <a:picLocks noChangeAspect="1"/>
          </p:cNvPicPr>
          <p:nvPr/>
        </p:nvPicPr>
        <p:blipFill>
          <a:blip r:embed="rId4"/>
          <a:stretch>
            <a:fillRect/>
          </a:stretch>
        </p:blipFill>
        <p:spPr>
          <a:xfrm>
            <a:off x="6172200" y="1508760"/>
            <a:ext cx="5040000" cy="3654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Shape 2"/>
          <p:cNvSpPr/>
          <p:nvPr/>
        </p:nvSpPr>
        <p:spPr>
          <a:xfrm>
            <a:off x="457200" y="5593080"/>
            <a:ext cx="11247120" cy="822960"/>
          </a:xfrm>
          <a:prstGeom prst="roundRect">
            <a:avLst>
              <a:gd name="adj" fmla="val 8889"/>
            </a:avLst>
          </a:prstGeom>
          <a:noFill/>
          <a:ln>
            <a:solidFill>
              <a:srgbClr val="ED145B"/>
            </a:solidFill>
          </a:ln>
        </p:spPr>
        <p:txBody>
          <a:bodyPr/>
          <a:lstStyle/>
          <a:p>
            <a:pPr algn="ctr"/>
            <a:endParaRPr lang="pt-BR"/>
          </a:p>
        </p:txBody>
      </p:sp>
      <p:sp>
        <p:nvSpPr>
          <p:cNvPr id="7" name="Text 3"/>
          <p:cNvSpPr/>
          <p:nvPr/>
        </p:nvSpPr>
        <p:spPr>
          <a:xfrm>
            <a:off x="731520" y="5730240"/>
            <a:ext cx="10698480" cy="594360"/>
          </a:xfrm>
          <a:prstGeom prst="rect">
            <a:avLst/>
          </a:prstGeom>
          <a:noFill/>
          <a:ln/>
        </p:spPr>
        <p:txBody>
          <a:bodyPr wrap="square" rtlCol="0" anchor="ctr"/>
          <a:lstStyle/>
          <a:p>
            <a:pPr marL="0" indent="0" algn="ctr">
              <a:lnSpc>
                <a:spcPct val="115000"/>
              </a:lnSpc>
              <a:buNone/>
            </a:pPr>
            <a:r>
              <a:rPr lang="en-US" sz="1300" dirty="0">
                <a:solidFill>
                  <a:srgbClr val="ED145B"/>
                </a:solidFill>
                <a:latin typeface="Calibri" pitchFamily="34" charset="0"/>
                <a:ea typeface="Calibri" pitchFamily="34" charset="-122"/>
                <a:cs typeface="Calibri" pitchFamily="34" charset="-120"/>
              </a:rPr>
              <a:t>Padrão consistente com a análise logística:  reclamações giram em torno de "não recebi" e "não entregue"; elogios giram em torno de "antes do prazo" e "entrega rápida". O prazo de entrega é, isoladamente, o maior tema espontâneo — positivo e negativo — na voz do cliente.</a:t>
            </a:r>
            <a:endParaRPr lang="en-US" sz="1300" dirty="0">
              <a:solidFill>
                <a:srgbClr val="ED145B"/>
              </a:solidFill>
            </a:endParaRPr>
          </a:p>
        </p:txBody>
      </p:sp>
      <p:sp>
        <p:nvSpPr>
          <p:cNvPr id="8" name="Text 4"/>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472"/>
                </a:solidFill>
                <a:latin typeface="Calibri" pitchFamily="34" charset="0"/>
                <a:ea typeface="Calibri" pitchFamily="34" charset="-122"/>
                <a:cs typeface="Calibri" pitchFamily="34" charset="-120"/>
              </a:rPr>
              <a:t>Relatório Executivo — Case Olist</a:t>
            </a:r>
            <a:endParaRPr lang="en-US" sz="900" dirty="0"/>
          </a:p>
        </p:txBody>
      </p:sp>
      <p:sp>
        <p:nvSpPr>
          <p:cNvPr id="9"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36" name="Shape 0">
            <a:extLst>
              <a:ext uri="{FF2B5EF4-FFF2-40B4-BE49-F238E27FC236}">
                <a16:creationId xmlns:a16="http://schemas.microsoft.com/office/drawing/2014/main" id="{AB072E84-8073-2C7B-E12F-7B8FE6F91CBE}"/>
              </a:ext>
            </a:extLst>
          </p:cNvPr>
          <p:cNvSpPr/>
          <p:nvPr/>
        </p:nvSpPr>
        <p:spPr>
          <a:xfrm>
            <a:off x="9799320" y="-1188720"/>
            <a:ext cx="4114800" cy="4114800"/>
          </a:xfrm>
          <a:prstGeom prst="ellipse">
            <a:avLst/>
          </a:prstGeom>
          <a:solidFill>
            <a:schemeClr val="tx1">
              <a:lumMod val="65000"/>
              <a:lumOff val="35000"/>
              <a:alpha val="30000"/>
            </a:schemeClr>
          </a:solidFill>
          <a:ln>
            <a:solidFill>
              <a:srgbClr val="ED145B"/>
            </a:solidFill>
          </a:ln>
        </p:spPr>
        <p:txBody>
          <a:bodyPr/>
          <a:lstStyle/>
          <a:p>
            <a:endParaRPr lang="pt-BR"/>
          </a:p>
        </p:txBody>
      </p:sp>
      <p:sp>
        <p:nvSpPr>
          <p:cNvPr id="38" name="Shape 1">
            <a:extLst>
              <a:ext uri="{FF2B5EF4-FFF2-40B4-BE49-F238E27FC236}">
                <a16:creationId xmlns:a16="http://schemas.microsoft.com/office/drawing/2014/main" id="{89143027-993D-A818-656A-2DEFF32726AF}"/>
              </a:ext>
            </a:extLst>
          </p:cNvPr>
          <p:cNvSpPr/>
          <p:nvPr/>
        </p:nvSpPr>
        <p:spPr>
          <a:xfrm>
            <a:off x="-1371600" y="4846320"/>
            <a:ext cx="3657600" cy="3657600"/>
          </a:xfrm>
          <a:prstGeom prst="ellipse">
            <a:avLst/>
          </a:prstGeom>
          <a:solidFill>
            <a:schemeClr val="bg1">
              <a:lumMod val="85000"/>
              <a:alpha val="15000"/>
            </a:schemeClr>
          </a:solidFill>
          <a:ln/>
        </p:spPr>
        <p:txBody>
          <a:bodyPr/>
          <a:lstStyle/>
          <a:p>
            <a:endParaRPr lang="pt-BR"/>
          </a:p>
        </p:txBody>
      </p:sp>
      <p:sp>
        <p:nvSpPr>
          <p:cNvPr id="40" name="Elipse 39">
            <a:extLst>
              <a:ext uri="{FF2B5EF4-FFF2-40B4-BE49-F238E27FC236}">
                <a16:creationId xmlns:a16="http://schemas.microsoft.com/office/drawing/2014/main" id="{B068D112-EB34-8B84-448C-0AA472F841A6}"/>
              </a:ext>
            </a:extLst>
          </p:cNvPr>
          <p:cNvSpPr/>
          <p:nvPr/>
        </p:nvSpPr>
        <p:spPr>
          <a:xfrm>
            <a:off x="-941205" y="5845240"/>
            <a:ext cx="2052320" cy="1798320"/>
          </a:xfrm>
          <a:prstGeom prst="ellipse">
            <a:avLst/>
          </a:prstGeom>
          <a:solidFill>
            <a:srgbClr val="ED14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ext 1"/>
          <p:cNvSpPr/>
          <p:nvPr/>
        </p:nvSpPr>
        <p:spPr>
          <a:xfrm>
            <a:off x="548640" y="396240"/>
            <a:ext cx="11094720" cy="640080"/>
          </a:xfrm>
          <a:prstGeom prst="rect">
            <a:avLst/>
          </a:prstGeom>
          <a:noFill/>
          <a:ln/>
        </p:spPr>
        <p:txBody>
          <a:bodyPr wrap="square" rtlCol="0" anchor="ctr"/>
          <a:lstStyle/>
          <a:p>
            <a:pPr marL="0" indent="0">
              <a:buNone/>
            </a:pPr>
            <a:r>
              <a:rPr lang="en-US" sz="3000" b="1" dirty="0" err="1">
                <a:solidFill>
                  <a:schemeClr val="bg2"/>
                </a:solidFill>
                <a:latin typeface="Cambria" pitchFamily="34" charset="0"/>
                <a:ea typeface="Cambria" pitchFamily="34" charset="-122"/>
                <a:cs typeface="Cambria" pitchFamily="34" charset="-120"/>
              </a:rPr>
              <a:t>Recomendações</a:t>
            </a:r>
            <a:r>
              <a:rPr lang="en-US" sz="3000" b="1" dirty="0">
                <a:solidFill>
                  <a:schemeClr val="bg2"/>
                </a:solidFill>
                <a:latin typeface="Cambria" pitchFamily="34" charset="0"/>
                <a:ea typeface="Cambria" pitchFamily="34" charset="-122"/>
                <a:cs typeface="Cambria" pitchFamily="34" charset="-120"/>
              </a:rPr>
              <a:t> de </a:t>
            </a:r>
            <a:r>
              <a:rPr lang="en-US" sz="3000" b="1" u="sng" dirty="0" err="1">
                <a:solidFill>
                  <a:schemeClr val="bg2"/>
                </a:solidFill>
                <a:latin typeface="Cambria" pitchFamily="34" charset="0"/>
                <a:ea typeface="Cambria" pitchFamily="34" charset="-122"/>
                <a:cs typeface="Cambria" pitchFamily="34" charset="-120"/>
              </a:rPr>
              <a:t>curto</a:t>
            </a:r>
            <a:r>
              <a:rPr lang="en-US" sz="3000" b="1" u="sng" dirty="0">
                <a:solidFill>
                  <a:schemeClr val="bg2"/>
                </a:solidFill>
                <a:latin typeface="Cambria" pitchFamily="34" charset="0"/>
                <a:ea typeface="Cambria" pitchFamily="34" charset="-122"/>
                <a:cs typeface="Cambria" pitchFamily="34" charset="-120"/>
              </a:rPr>
              <a:t> </a:t>
            </a:r>
            <a:r>
              <a:rPr lang="en-US" sz="3000" b="1" u="sng" dirty="0" err="1">
                <a:solidFill>
                  <a:schemeClr val="bg2"/>
                </a:solidFill>
                <a:latin typeface="Cambria" pitchFamily="34" charset="0"/>
                <a:ea typeface="Cambria" pitchFamily="34" charset="-122"/>
                <a:cs typeface="Cambria" pitchFamily="34" charset="-120"/>
              </a:rPr>
              <a:t>prazo</a:t>
            </a:r>
            <a:r>
              <a:rPr lang="en-US" sz="3000" b="1" dirty="0">
                <a:solidFill>
                  <a:schemeClr val="bg2"/>
                </a:solidFill>
                <a:latin typeface="Cambria" pitchFamily="34" charset="0"/>
                <a:ea typeface="Cambria" pitchFamily="34" charset="-122"/>
                <a:cs typeface="Cambria" pitchFamily="34" charset="-120"/>
              </a:rPr>
              <a:t> para </a:t>
            </a:r>
            <a:r>
              <a:rPr lang="en-US" sz="3000" b="1" u="sng" dirty="0" err="1">
                <a:solidFill>
                  <a:schemeClr val="bg2"/>
                </a:solidFill>
                <a:latin typeface="Cambria" pitchFamily="34" charset="0"/>
                <a:ea typeface="Cambria" pitchFamily="34" charset="-122"/>
                <a:cs typeface="Cambria" pitchFamily="34" charset="-120"/>
              </a:rPr>
              <a:t>manutenção</a:t>
            </a:r>
            <a:r>
              <a:rPr lang="en-US" sz="3000" b="1" dirty="0">
                <a:solidFill>
                  <a:schemeClr val="bg2"/>
                </a:solidFill>
                <a:latin typeface="Cambria" pitchFamily="34" charset="0"/>
                <a:ea typeface="Cambria" pitchFamily="34" charset="-122"/>
                <a:cs typeface="Cambria" pitchFamily="34" charset="-120"/>
              </a:rPr>
              <a:t> no mercado</a:t>
            </a:r>
            <a:endParaRPr lang="en-US" sz="3000" dirty="0">
              <a:solidFill>
                <a:schemeClr val="bg2"/>
              </a:solidFill>
            </a:endParaRPr>
          </a:p>
        </p:txBody>
      </p:sp>
      <p:sp>
        <p:nvSpPr>
          <p:cNvPr id="4" name="Shape 2"/>
          <p:cNvSpPr/>
          <p:nvPr/>
        </p:nvSpPr>
        <p:spPr>
          <a:xfrm>
            <a:off x="548640" y="1658095"/>
            <a:ext cx="5440680" cy="1417320"/>
          </a:xfrm>
          <a:prstGeom prst="roundRect">
            <a:avLst>
              <a:gd name="adj" fmla="val 5161"/>
            </a:avLst>
          </a:prstGeom>
          <a:solidFill>
            <a:schemeClr val="bg2">
              <a:lumMod val="10000"/>
            </a:schemeClr>
          </a:solidFill>
          <a:ln w="12700">
            <a:solidFill>
              <a:schemeClr val="bg2"/>
            </a:solidFill>
            <a:prstDash val="solid"/>
          </a:ln>
        </p:spPr>
        <p:txBody>
          <a:bodyPr/>
          <a:lstStyle/>
          <a:p>
            <a:endParaRPr lang="pt-BR"/>
          </a:p>
        </p:txBody>
      </p:sp>
      <p:sp>
        <p:nvSpPr>
          <p:cNvPr id="7" name="Text 5"/>
          <p:cNvSpPr/>
          <p:nvPr/>
        </p:nvSpPr>
        <p:spPr>
          <a:xfrm>
            <a:off x="883920" y="1837944"/>
            <a:ext cx="4922520" cy="411480"/>
          </a:xfrm>
          <a:prstGeom prst="rect">
            <a:avLst/>
          </a:prstGeom>
          <a:noFill/>
          <a:ln/>
        </p:spPr>
        <p:txBody>
          <a:bodyPr wrap="square" rtlCol="0" anchor="t"/>
          <a:lstStyle/>
          <a:p>
            <a:r>
              <a:rPr lang="en-US" sz="1600" b="1" dirty="0" err="1">
                <a:solidFill>
                  <a:srgbClr val="FFFFFF"/>
                </a:solidFill>
                <a:latin typeface="Calibri" pitchFamily="34" charset="0"/>
                <a:ea typeface="Calibri" pitchFamily="34" charset="-122"/>
                <a:cs typeface="Calibri" pitchFamily="34" charset="-120"/>
              </a:rPr>
              <a:t>Investir</a:t>
            </a:r>
            <a:r>
              <a:rPr lang="en-US" sz="1600" b="1" dirty="0">
                <a:solidFill>
                  <a:srgbClr val="FFFFFF"/>
                </a:solidFill>
                <a:latin typeface="Calibri" pitchFamily="34" charset="0"/>
                <a:ea typeface="Calibri" pitchFamily="34" charset="-122"/>
                <a:cs typeface="Calibri" pitchFamily="34" charset="-120"/>
              </a:rPr>
              <a:t> </a:t>
            </a:r>
            <a:r>
              <a:rPr lang="en-US" sz="1600" b="1" dirty="0" err="1">
                <a:solidFill>
                  <a:srgbClr val="FFFFFF"/>
                </a:solidFill>
                <a:latin typeface="Calibri" pitchFamily="34" charset="0"/>
                <a:ea typeface="Calibri" pitchFamily="34" charset="-122"/>
                <a:cs typeface="Calibri" pitchFamily="34" charset="-120"/>
              </a:rPr>
              <a:t>em</a:t>
            </a:r>
            <a:r>
              <a:rPr lang="en-US" sz="1600" b="1" dirty="0">
                <a:solidFill>
                  <a:srgbClr val="FFFFFF"/>
                </a:solidFill>
                <a:latin typeface="Calibri" pitchFamily="34" charset="0"/>
                <a:ea typeface="Calibri" pitchFamily="34" charset="-122"/>
                <a:cs typeface="Calibri" pitchFamily="34" charset="-120"/>
              </a:rPr>
              <a:t> SLA </a:t>
            </a:r>
            <a:r>
              <a:rPr lang="en-US" sz="1600" b="1" dirty="0" err="1">
                <a:solidFill>
                  <a:srgbClr val="FFFFFF"/>
                </a:solidFill>
                <a:latin typeface="Calibri" pitchFamily="34" charset="0"/>
                <a:ea typeface="Calibri" pitchFamily="34" charset="-122"/>
                <a:cs typeface="Calibri" pitchFamily="34" charset="-120"/>
              </a:rPr>
              <a:t>logístico</a:t>
            </a:r>
            <a:endParaRPr lang="en-US" sz="1600" dirty="0"/>
          </a:p>
        </p:txBody>
      </p:sp>
      <p:sp>
        <p:nvSpPr>
          <p:cNvPr id="8" name="Text 6"/>
          <p:cNvSpPr/>
          <p:nvPr/>
        </p:nvSpPr>
        <p:spPr>
          <a:xfrm>
            <a:off x="883920" y="2258568"/>
            <a:ext cx="4922520" cy="777240"/>
          </a:xfrm>
          <a:prstGeom prst="rect">
            <a:avLst/>
          </a:prstGeom>
          <a:noFill/>
          <a:ln/>
        </p:spPr>
        <p:txBody>
          <a:bodyPr wrap="square" rtlCol="0" anchor="t"/>
          <a:lstStyle/>
          <a:p>
            <a:pPr marL="0" indent="0">
              <a:lnSpc>
                <a:spcPct val="115000"/>
              </a:lnSpc>
              <a:buNone/>
            </a:pPr>
            <a:r>
              <a:rPr lang="en-US" sz="1100" dirty="0">
                <a:solidFill>
                  <a:srgbClr val="ED145B"/>
                </a:solidFill>
                <a:latin typeface="Calibri" pitchFamily="34" charset="0"/>
                <a:ea typeface="Calibri" pitchFamily="34" charset="-122"/>
                <a:cs typeface="Calibri" pitchFamily="34" charset="-120"/>
              </a:rPr>
              <a:t>Maior alavanca de satisfação e retenção: reduzir atraso eleva a nota média de 2,55 para 4,21.</a:t>
            </a:r>
            <a:endParaRPr lang="en-US" sz="1100" dirty="0">
              <a:solidFill>
                <a:srgbClr val="ED145B"/>
              </a:solidFill>
            </a:endParaRPr>
          </a:p>
        </p:txBody>
      </p:sp>
      <p:sp>
        <p:nvSpPr>
          <p:cNvPr id="9" name="Shape 7"/>
          <p:cNvSpPr/>
          <p:nvPr/>
        </p:nvSpPr>
        <p:spPr>
          <a:xfrm>
            <a:off x="6263640" y="1691640"/>
            <a:ext cx="5440680" cy="1417320"/>
          </a:xfrm>
          <a:prstGeom prst="roundRect">
            <a:avLst>
              <a:gd name="adj" fmla="val 5161"/>
            </a:avLst>
          </a:prstGeom>
          <a:solidFill>
            <a:schemeClr val="bg2">
              <a:lumMod val="10000"/>
            </a:schemeClr>
          </a:solidFill>
          <a:ln w="12700">
            <a:solidFill>
              <a:schemeClr val="bg2"/>
            </a:solidFill>
            <a:prstDash val="solid"/>
          </a:ln>
        </p:spPr>
        <p:txBody>
          <a:bodyPr/>
          <a:lstStyle/>
          <a:p>
            <a:endParaRPr lang="pt-BR"/>
          </a:p>
        </p:txBody>
      </p:sp>
      <p:sp>
        <p:nvSpPr>
          <p:cNvPr id="12" name="Text 10"/>
          <p:cNvSpPr/>
          <p:nvPr/>
        </p:nvSpPr>
        <p:spPr>
          <a:xfrm>
            <a:off x="6649720" y="1810512"/>
            <a:ext cx="4434840" cy="411480"/>
          </a:xfrm>
          <a:prstGeom prst="rect">
            <a:avLst/>
          </a:prstGeom>
          <a:noFill/>
          <a:ln/>
        </p:spPr>
        <p:txBody>
          <a:bodyPr wrap="square"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Priorizar categorias e regiões-chave</a:t>
            </a:r>
            <a:endParaRPr lang="en-US" sz="1600" dirty="0"/>
          </a:p>
        </p:txBody>
      </p:sp>
      <p:sp>
        <p:nvSpPr>
          <p:cNvPr id="13" name="Text 11"/>
          <p:cNvSpPr/>
          <p:nvPr/>
        </p:nvSpPr>
        <p:spPr>
          <a:xfrm>
            <a:off x="6649720" y="2258568"/>
            <a:ext cx="4434840" cy="777240"/>
          </a:xfrm>
          <a:prstGeom prst="rect">
            <a:avLst/>
          </a:prstGeom>
          <a:noFill/>
          <a:ln/>
        </p:spPr>
        <p:txBody>
          <a:bodyPr wrap="square" rtlCol="0" anchor="t"/>
          <a:lstStyle/>
          <a:p>
            <a:pPr marL="0" indent="0">
              <a:lnSpc>
                <a:spcPct val="115000"/>
              </a:lnSpc>
              <a:buNone/>
            </a:pPr>
            <a:r>
              <a:rPr lang="en-US" sz="1100" dirty="0">
                <a:solidFill>
                  <a:srgbClr val="ED145B"/>
                </a:solidFill>
                <a:latin typeface="Calibri" pitchFamily="34" charset="0"/>
                <a:ea typeface="Calibri" pitchFamily="34" charset="-122"/>
                <a:cs typeface="Calibri" pitchFamily="34" charset="-120"/>
              </a:rPr>
              <a:t>Concentrar investimento em Health Beauty, Watches Gifts e nos estados SP, RJ e MG, sem abrir mão de diversificação de risco.</a:t>
            </a:r>
            <a:endParaRPr lang="en-US" sz="1100" dirty="0">
              <a:solidFill>
                <a:srgbClr val="ED145B"/>
              </a:solidFill>
            </a:endParaRPr>
          </a:p>
        </p:txBody>
      </p:sp>
      <p:sp>
        <p:nvSpPr>
          <p:cNvPr id="14" name="Shape 12"/>
          <p:cNvSpPr/>
          <p:nvPr/>
        </p:nvSpPr>
        <p:spPr>
          <a:xfrm>
            <a:off x="548640" y="3337560"/>
            <a:ext cx="5440680" cy="1417320"/>
          </a:xfrm>
          <a:prstGeom prst="roundRect">
            <a:avLst>
              <a:gd name="adj" fmla="val 5161"/>
            </a:avLst>
          </a:prstGeom>
          <a:solidFill>
            <a:schemeClr val="bg2">
              <a:lumMod val="10000"/>
            </a:schemeClr>
          </a:solidFill>
          <a:ln w="12700">
            <a:solidFill>
              <a:schemeClr val="bg2"/>
            </a:solidFill>
            <a:prstDash val="solid"/>
          </a:ln>
        </p:spPr>
        <p:txBody>
          <a:bodyPr/>
          <a:lstStyle/>
          <a:p>
            <a:endParaRPr lang="pt-BR"/>
          </a:p>
        </p:txBody>
      </p:sp>
      <p:sp>
        <p:nvSpPr>
          <p:cNvPr id="17" name="Text 15"/>
          <p:cNvSpPr/>
          <p:nvPr/>
        </p:nvSpPr>
        <p:spPr>
          <a:xfrm>
            <a:off x="883920" y="3483864"/>
            <a:ext cx="4922520" cy="411480"/>
          </a:xfrm>
          <a:prstGeom prst="rect">
            <a:avLst/>
          </a:prstGeom>
          <a:noFill/>
          <a:ln/>
        </p:spPr>
        <p:txBody>
          <a:bodyPr wrap="square" rtlCol="0" anchor="t"/>
          <a:lstStyle/>
          <a:p>
            <a:pPr marL="0" indent="0">
              <a:buNone/>
            </a:pPr>
            <a:r>
              <a:rPr lang="en-US" sz="1600" b="1" dirty="0" err="1">
                <a:solidFill>
                  <a:srgbClr val="FFFFFF"/>
                </a:solidFill>
                <a:latin typeface="Calibri" pitchFamily="34" charset="0"/>
                <a:ea typeface="Calibri" pitchFamily="34" charset="-122"/>
                <a:cs typeface="Calibri" pitchFamily="34" charset="-120"/>
              </a:rPr>
              <a:t>Estruturar</a:t>
            </a:r>
            <a:r>
              <a:rPr lang="en-US" sz="1600" b="1" dirty="0">
                <a:solidFill>
                  <a:srgbClr val="FFFFFF"/>
                </a:solidFill>
                <a:latin typeface="Calibri" pitchFamily="34" charset="0"/>
                <a:ea typeface="Calibri" pitchFamily="34" charset="-122"/>
                <a:cs typeface="Calibri" pitchFamily="34" charset="-120"/>
              </a:rPr>
              <a:t> programa de fidelização</a:t>
            </a:r>
            <a:endParaRPr lang="en-US" sz="1600" dirty="0"/>
          </a:p>
        </p:txBody>
      </p:sp>
      <p:sp>
        <p:nvSpPr>
          <p:cNvPr id="18" name="Text 16"/>
          <p:cNvSpPr/>
          <p:nvPr/>
        </p:nvSpPr>
        <p:spPr>
          <a:xfrm>
            <a:off x="883920" y="3904488"/>
            <a:ext cx="4922520" cy="777240"/>
          </a:xfrm>
          <a:prstGeom prst="rect">
            <a:avLst/>
          </a:prstGeom>
          <a:noFill/>
          <a:ln/>
        </p:spPr>
        <p:txBody>
          <a:bodyPr wrap="square" rtlCol="0" anchor="t"/>
          <a:lstStyle/>
          <a:p>
            <a:pPr>
              <a:lnSpc>
                <a:spcPct val="115000"/>
              </a:lnSpc>
            </a:pPr>
            <a:r>
              <a:rPr lang="pt-BR" sz="1100" dirty="0">
                <a:solidFill>
                  <a:srgbClr val="ED145B"/>
                </a:solidFill>
                <a:latin typeface="Calibri" pitchFamily="34" charset="0"/>
                <a:ea typeface="Calibri" pitchFamily="34" charset="-122"/>
                <a:cs typeface="Calibri" pitchFamily="34" charset="-120"/>
              </a:rPr>
              <a:t>Estruturar e consolidar programa de pontos, visando ampliar a taxa recompra, atualmente x% do salário, sem custo adicional à empresa.</a:t>
            </a:r>
            <a:endParaRPr lang="en-US" sz="1100" dirty="0">
              <a:solidFill>
                <a:srgbClr val="ED145B"/>
              </a:solidFill>
            </a:endParaRPr>
          </a:p>
        </p:txBody>
      </p:sp>
      <p:sp>
        <p:nvSpPr>
          <p:cNvPr id="19" name="Shape 17"/>
          <p:cNvSpPr/>
          <p:nvPr/>
        </p:nvSpPr>
        <p:spPr>
          <a:xfrm>
            <a:off x="6263640" y="3337560"/>
            <a:ext cx="5440680" cy="1417320"/>
          </a:xfrm>
          <a:prstGeom prst="roundRect">
            <a:avLst>
              <a:gd name="adj" fmla="val 5161"/>
            </a:avLst>
          </a:prstGeom>
          <a:solidFill>
            <a:schemeClr val="bg2">
              <a:lumMod val="10000"/>
            </a:schemeClr>
          </a:solidFill>
          <a:ln w="12700">
            <a:solidFill>
              <a:schemeClr val="bg2"/>
            </a:solidFill>
            <a:prstDash val="solid"/>
          </a:ln>
        </p:spPr>
        <p:txBody>
          <a:bodyPr/>
          <a:lstStyle/>
          <a:p>
            <a:endParaRPr lang="pt-BR"/>
          </a:p>
        </p:txBody>
      </p:sp>
      <p:sp>
        <p:nvSpPr>
          <p:cNvPr id="22" name="Text 20"/>
          <p:cNvSpPr/>
          <p:nvPr/>
        </p:nvSpPr>
        <p:spPr>
          <a:xfrm>
            <a:off x="6649720" y="3456432"/>
            <a:ext cx="4434840" cy="411480"/>
          </a:xfrm>
          <a:prstGeom prst="rect">
            <a:avLst/>
          </a:prstGeom>
          <a:noFill/>
          <a:ln/>
        </p:spPr>
        <p:txBody>
          <a:bodyPr wrap="square"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Reduzir concentração de sellers/produtos</a:t>
            </a:r>
            <a:endParaRPr lang="en-US" sz="1600" dirty="0"/>
          </a:p>
        </p:txBody>
      </p:sp>
      <p:sp>
        <p:nvSpPr>
          <p:cNvPr id="23" name="Text 21"/>
          <p:cNvSpPr/>
          <p:nvPr/>
        </p:nvSpPr>
        <p:spPr>
          <a:xfrm>
            <a:off x="6649720" y="3886200"/>
            <a:ext cx="4434840" cy="777240"/>
          </a:xfrm>
          <a:prstGeom prst="rect">
            <a:avLst/>
          </a:prstGeom>
          <a:noFill/>
          <a:ln/>
        </p:spPr>
        <p:txBody>
          <a:bodyPr wrap="square" rtlCol="0" anchor="t"/>
          <a:lstStyle/>
          <a:p>
            <a:pPr marL="0" indent="0">
              <a:lnSpc>
                <a:spcPct val="115000"/>
              </a:lnSpc>
              <a:buNone/>
            </a:pPr>
            <a:r>
              <a:rPr lang="en-US" sz="1100" dirty="0">
                <a:solidFill>
                  <a:srgbClr val="ED145B"/>
                </a:solidFill>
                <a:latin typeface="Calibri" pitchFamily="34" charset="0"/>
                <a:ea typeface="Calibri" pitchFamily="34" charset="-122"/>
                <a:cs typeface="Calibri" pitchFamily="34" charset="-120"/>
              </a:rPr>
              <a:t>Diversificar a base de fornecedores estratégicos para mitigar risco de dependência.</a:t>
            </a:r>
            <a:endParaRPr lang="en-US" sz="1100" dirty="0">
              <a:solidFill>
                <a:srgbClr val="ED145B"/>
              </a:solidFill>
            </a:endParaRPr>
          </a:p>
        </p:txBody>
      </p:sp>
      <p:sp>
        <p:nvSpPr>
          <p:cNvPr id="24" name="Shape 22"/>
          <p:cNvSpPr/>
          <p:nvPr/>
        </p:nvSpPr>
        <p:spPr>
          <a:xfrm>
            <a:off x="548640" y="4983480"/>
            <a:ext cx="5440680" cy="1417320"/>
          </a:xfrm>
          <a:prstGeom prst="roundRect">
            <a:avLst>
              <a:gd name="adj" fmla="val 5161"/>
            </a:avLst>
          </a:prstGeom>
          <a:solidFill>
            <a:schemeClr val="bg2">
              <a:lumMod val="10000"/>
            </a:schemeClr>
          </a:solidFill>
          <a:ln w="12700">
            <a:solidFill>
              <a:schemeClr val="bg2"/>
            </a:solidFill>
            <a:prstDash val="solid"/>
          </a:ln>
        </p:spPr>
        <p:txBody>
          <a:bodyPr/>
          <a:lstStyle/>
          <a:p>
            <a:endParaRPr lang="pt-BR"/>
          </a:p>
        </p:txBody>
      </p:sp>
      <p:sp>
        <p:nvSpPr>
          <p:cNvPr id="27" name="Text 25"/>
          <p:cNvSpPr/>
          <p:nvPr/>
        </p:nvSpPr>
        <p:spPr>
          <a:xfrm>
            <a:off x="883920" y="5129784"/>
            <a:ext cx="4434840" cy="411480"/>
          </a:xfrm>
          <a:prstGeom prst="rect">
            <a:avLst/>
          </a:prstGeom>
          <a:noFill/>
          <a:ln/>
        </p:spPr>
        <p:txBody>
          <a:bodyPr wrap="square"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Monitorar a voz do cliente continuamente</a:t>
            </a:r>
            <a:endParaRPr lang="en-US" sz="1600" dirty="0"/>
          </a:p>
        </p:txBody>
      </p:sp>
      <p:sp>
        <p:nvSpPr>
          <p:cNvPr id="28" name="Text 26"/>
          <p:cNvSpPr/>
          <p:nvPr/>
        </p:nvSpPr>
        <p:spPr>
          <a:xfrm>
            <a:off x="883920" y="5550408"/>
            <a:ext cx="4759960" cy="777240"/>
          </a:xfrm>
          <a:prstGeom prst="rect">
            <a:avLst/>
          </a:prstGeom>
          <a:noFill/>
          <a:ln/>
        </p:spPr>
        <p:txBody>
          <a:bodyPr wrap="square" rtlCol="0" anchor="t"/>
          <a:lstStyle/>
          <a:p>
            <a:pPr marL="0" indent="0">
              <a:lnSpc>
                <a:spcPct val="115000"/>
              </a:lnSpc>
              <a:buNone/>
            </a:pPr>
            <a:r>
              <a:rPr lang="en-US" sz="1100" dirty="0">
                <a:solidFill>
                  <a:srgbClr val="ED145B"/>
                </a:solidFill>
                <a:latin typeface="Calibri" pitchFamily="34" charset="0"/>
                <a:ea typeface="Calibri" pitchFamily="34" charset="-122"/>
                <a:cs typeface="Calibri" pitchFamily="34" charset="-120"/>
              </a:rPr>
              <a:t>Usar text mining de reviews como sensor contínuo de qualidade operacional.</a:t>
            </a:r>
            <a:endParaRPr lang="en-US" sz="1100" dirty="0">
              <a:solidFill>
                <a:srgbClr val="ED145B"/>
              </a:solidFill>
            </a:endParaRPr>
          </a:p>
        </p:txBody>
      </p:sp>
      <p:sp>
        <p:nvSpPr>
          <p:cNvPr id="29" name="Shape 27"/>
          <p:cNvSpPr/>
          <p:nvPr/>
        </p:nvSpPr>
        <p:spPr>
          <a:xfrm>
            <a:off x="6263640" y="4983480"/>
            <a:ext cx="5440680" cy="1417320"/>
          </a:xfrm>
          <a:prstGeom prst="roundRect">
            <a:avLst>
              <a:gd name="adj" fmla="val 5161"/>
            </a:avLst>
          </a:prstGeom>
          <a:solidFill>
            <a:schemeClr val="bg2">
              <a:lumMod val="10000"/>
            </a:schemeClr>
          </a:solidFill>
          <a:ln w="12700">
            <a:solidFill>
              <a:schemeClr val="bg2"/>
            </a:solidFill>
            <a:prstDash val="solid"/>
          </a:ln>
        </p:spPr>
        <p:txBody>
          <a:bodyPr/>
          <a:lstStyle/>
          <a:p>
            <a:endParaRPr lang="pt-BR"/>
          </a:p>
        </p:txBody>
      </p:sp>
      <p:sp>
        <p:nvSpPr>
          <p:cNvPr id="32" name="Text 30"/>
          <p:cNvSpPr/>
          <p:nvPr/>
        </p:nvSpPr>
        <p:spPr>
          <a:xfrm>
            <a:off x="6649720" y="5102352"/>
            <a:ext cx="4434840" cy="411480"/>
          </a:xfrm>
          <a:prstGeom prst="rect">
            <a:avLst/>
          </a:prstGeom>
          <a:noFill/>
          <a:ln/>
        </p:spPr>
        <p:txBody>
          <a:bodyPr wrap="square"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Explorar parcelamento como alavanca de ticket</a:t>
            </a:r>
            <a:endParaRPr lang="en-US" sz="1600" dirty="0"/>
          </a:p>
        </p:txBody>
      </p:sp>
      <p:sp>
        <p:nvSpPr>
          <p:cNvPr id="33" name="Text 31"/>
          <p:cNvSpPr/>
          <p:nvPr/>
        </p:nvSpPr>
        <p:spPr>
          <a:xfrm>
            <a:off x="6649720" y="5522976"/>
            <a:ext cx="4434840" cy="777240"/>
          </a:xfrm>
          <a:prstGeom prst="rect">
            <a:avLst/>
          </a:prstGeom>
          <a:noFill/>
          <a:ln/>
        </p:spPr>
        <p:txBody>
          <a:bodyPr wrap="square" rtlCol="0" anchor="t"/>
          <a:lstStyle/>
          <a:p>
            <a:pPr marL="0" indent="0">
              <a:lnSpc>
                <a:spcPct val="115000"/>
              </a:lnSpc>
              <a:buNone/>
            </a:pPr>
            <a:r>
              <a:rPr lang="en-US" sz="1100" dirty="0">
                <a:solidFill>
                  <a:srgbClr val="ED145B"/>
                </a:solidFill>
                <a:latin typeface="Calibri" pitchFamily="34" charset="0"/>
                <a:ea typeface="Calibri" pitchFamily="34" charset="-122"/>
                <a:cs typeface="Calibri" pitchFamily="34" charset="-120"/>
              </a:rPr>
              <a:t>Cartão de crédito parcelado já eleva o valor médio das compras — ampliar </a:t>
            </a:r>
            <a:r>
              <a:rPr lang="en-US" sz="1100" dirty="0" err="1">
                <a:solidFill>
                  <a:srgbClr val="ED145B"/>
                </a:solidFill>
                <a:latin typeface="Calibri" pitchFamily="34" charset="0"/>
                <a:ea typeface="Calibri" pitchFamily="34" charset="-122"/>
                <a:cs typeface="Calibri" pitchFamily="34" charset="-120"/>
              </a:rPr>
              <a:t>essa</a:t>
            </a:r>
            <a:r>
              <a:rPr lang="en-US" sz="1100" dirty="0">
                <a:solidFill>
                  <a:srgbClr val="ED145B"/>
                </a:solidFill>
                <a:latin typeface="Calibri" pitchFamily="34" charset="0"/>
                <a:ea typeface="Calibri" pitchFamily="34" charset="-122"/>
                <a:cs typeface="Calibri" pitchFamily="34" charset="-120"/>
              </a:rPr>
              <a:t> </a:t>
            </a:r>
            <a:r>
              <a:rPr lang="en-US" sz="1100" dirty="0" err="1">
                <a:solidFill>
                  <a:srgbClr val="ED145B"/>
                </a:solidFill>
                <a:latin typeface="Calibri" pitchFamily="34" charset="0"/>
                <a:ea typeface="Calibri" pitchFamily="34" charset="-122"/>
                <a:cs typeface="Calibri" pitchFamily="34" charset="-120"/>
              </a:rPr>
              <a:t>oferta</a:t>
            </a:r>
            <a:r>
              <a:rPr lang="en-US" sz="1100" dirty="0">
                <a:solidFill>
                  <a:srgbClr val="ED145B"/>
                </a:solidFill>
                <a:latin typeface="Calibri" pitchFamily="34" charset="0"/>
                <a:ea typeface="Calibri" pitchFamily="34" charset="-122"/>
                <a:cs typeface="Calibri" pitchFamily="34" charset="-120"/>
              </a:rPr>
              <a:t>, </a:t>
            </a:r>
            <a:r>
              <a:rPr lang="en-US" sz="1100" dirty="0" err="1">
                <a:solidFill>
                  <a:srgbClr val="ED145B"/>
                </a:solidFill>
                <a:latin typeface="Calibri" pitchFamily="34" charset="0"/>
                <a:ea typeface="Calibri" pitchFamily="34" charset="-122"/>
                <a:cs typeface="Calibri" pitchFamily="34" charset="-120"/>
              </a:rPr>
              <a:t>oferecer</a:t>
            </a:r>
            <a:r>
              <a:rPr lang="en-US" sz="1100" dirty="0">
                <a:solidFill>
                  <a:srgbClr val="ED145B"/>
                </a:solidFill>
                <a:latin typeface="Calibri" pitchFamily="34" charset="0"/>
                <a:ea typeface="Calibri" pitchFamily="34" charset="-122"/>
                <a:cs typeface="Calibri" pitchFamily="34" charset="-120"/>
              </a:rPr>
              <a:t> cashback, </a:t>
            </a:r>
            <a:r>
              <a:rPr lang="en-US" sz="1100" dirty="0" err="1">
                <a:solidFill>
                  <a:srgbClr val="ED145B"/>
                </a:solidFill>
                <a:latin typeface="Calibri" pitchFamily="34" charset="0"/>
                <a:ea typeface="Calibri" pitchFamily="34" charset="-122"/>
                <a:cs typeface="Calibri" pitchFamily="34" charset="-120"/>
              </a:rPr>
              <a:t>programa</a:t>
            </a:r>
            <a:r>
              <a:rPr lang="en-US" sz="1100" dirty="0">
                <a:solidFill>
                  <a:srgbClr val="ED145B"/>
                </a:solidFill>
                <a:latin typeface="Calibri" pitchFamily="34" charset="0"/>
                <a:ea typeface="Calibri" pitchFamily="34" charset="-122"/>
                <a:cs typeface="Calibri" pitchFamily="34" charset="-120"/>
              </a:rPr>
              <a:t> de </a:t>
            </a:r>
            <a:r>
              <a:rPr lang="en-US" sz="1100" dirty="0" err="1">
                <a:solidFill>
                  <a:srgbClr val="ED145B"/>
                </a:solidFill>
                <a:latin typeface="Calibri" pitchFamily="34" charset="0"/>
                <a:ea typeface="Calibri" pitchFamily="34" charset="-122"/>
                <a:cs typeface="Calibri" pitchFamily="34" charset="-120"/>
              </a:rPr>
              <a:t>pontos</a:t>
            </a:r>
            <a:r>
              <a:rPr lang="en-US" sz="1100" dirty="0">
                <a:solidFill>
                  <a:srgbClr val="ED145B"/>
                </a:solidFill>
                <a:latin typeface="Calibri" pitchFamily="34" charset="0"/>
                <a:ea typeface="Calibri" pitchFamily="34" charset="-122"/>
                <a:cs typeface="Calibri" pitchFamily="34" charset="-120"/>
              </a:rPr>
              <a:t>.</a:t>
            </a:r>
            <a:endParaRPr lang="en-US" sz="1100" dirty="0">
              <a:solidFill>
                <a:srgbClr val="ED145B"/>
              </a:solidFill>
            </a:endParaRPr>
          </a:p>
        </p:txBody>
      </p:sp>
      <p:sp>
        <p:nvSpPr>
          <p:cNvPr id="34" name="Text 32"/>
          <p:cNvSpPr/>
          <p:nvPr/>
        </p:nvSpPr>
        <p:spPr>
          <a:xfrm>
            <a:off x="457200" y="6473952"/>
            <a:ext cx="7315200" cy="274320"/>
          </a:xfrm>
          <a:prstGeom prst="rect">
            <a:avLst/>
          </a:prstGeom>
          <a:noFill/>
          <a:ln/>
        </p:spPr>
        <p:txBody>
          <a:bodyPr wrap="square" rtlCol="0" anchor="ctr"/>
          <a:lstStyle/>
          <a:p>
            <a:pPr marL="0" indent="0">
              <a:buNone/>
            </a:pPr>
            <a:r>
              <a:rPr lang="en-US" sz="900" dirty="0">
                <a:solidFill>
                  <a:schemeClr val="bg2"/>
                </a:solidFill>
                <a:latin typeface="Calibri" pitchFamily="34" charset="0"/>
                <a:ea typeface="Calibri" pitchFamily="34" charset="-122"/>
                <a:cs typeface="Calibri" pitchFamily="34" charset="-120"/>
              </a:rPr>
              <a:t>Relatório Executivo — Case Olist</a:t>
            </a:r>
            <a:endParaRPr lang="en-US" sz="900" dirty="0">
              <a:solidFill>
                <a:schemeClr val="bg2"/>
              </a:solidFill>
            </a:endParaRPr>
          </a:p>
        </p:txBody>
      </p:sp>
      <p:sp>
        <p:nvSpPr>
          <p:cNvPr id="35" name="Text 3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098C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9" name="Shape 2">
            <a:extLst>
              <a:ext uri="{FF2B5EF4-FFF2-40B4-BE49-F238E27FC236}">
                <a16:creationId xmlns:a16="http://schemas.microsoft.com/office/drawing/2014/main" id="{54EF6088-5050-B734-175C-232A7D23A0DA}"/>
              </a:ext>
            </a:extLst>
          </p:cNvPr>
          <p:cNvSpPr/>
          <p:nvPr/>
        </p:nvSpPr>
        <p:spPr>
          <a:xfrm>
            <a:off x="1869233" y="2184399"/>
            <a:ext cx="8189167" cy="2145011"/>
          </a:xfrm>
          <a:prstGeom prst="roundRect">
            <a:avLst>
              <a:gd name="adj" fmla="val 1928"/>
            </a:avLst>
          </a:prstGeom>
          <a:solidFill>
            <a:srgbClr val="ED145B"/>
          </a:solidFill>
          <a:ln/>
        </p:spPr>
        <p:txBody>
          <a:bodyPr/>
          <a:lstStyle/>
          <a:p>
            <a:endParaRPr lang="pt-BR">
              <a:solidFill>
                <a:schemeClr val="bg2"/>
              </a:solidFill>
            </a:endParaRPr>
          </a:p>
        </p:txBody>
      </p:sp>
      <p:sp>
        <p:nvSpPr>
          <p:cNvPr id="3" name="Text 3">
            <a:extLst>
              <a:ext uri="{FF2B5EF4-FFF2-40B4-BE49-F238E27FC236}">
                <a16:creationId xmlns:a16="http://schemas.microsoft.com/office/drawing/2014/main" id="{045F01CD-94F9-DB75-91C0-DD90EB37A67C}"/>
              </a:ext>
            </a:extLst>
          </p:cNvPr>
          <p:cNvSpPr/>
          <p:nvPr/>
        </p:nvSpPr>
        <p:spPr>
          <a:xfrm>
            <a:off x="1869232" y="2519265"/>
            <a:ext cx="8189167" cy="1575215"/>
          </a:xfrm>
          <a:prstGeom prst="rect">
            <a:avLst/>
          </a:prstGeom>
          <a:noFill/>
          <a:ln/>
        </p:spPr>
        <p:txBody>
          <a:bodyPr wrap="square" rtlCol="0" anchor="t"/>
          <a:lstStyle/>
          <a:p>
            <a:pPr algn="ctr">
              <a:lnSpc>
                <a:spcPct val="125000"/>
              </a:lnSpc>
            </a:pPr>
            <a:r>
              <a:rPr lang="pt-BR" sz="2400" dirty="0">
                <a:solidFill>
                  <a:schemeClr val="bg2"/>
                </a:solidFill>
                <a:latin typeface="Calibri" pitchFamily="34" charset="0"/>
                <a:ea typeface="Calibri" pitchFamily="34" charset="-122"/>
                <a:cs typeface="Calibri" pitchFamily="34" charset="-120"/>
              </a:rPr>
              <a:t>Onde existe demanda de e-commerce suficiente para justificar estoque regionalizado, mas ainda existe um gap logístico que impede o consumidor de receber rápido e barato?</a:t>
            </a:r>
          </a:p>
        </p:txBody>
      </p:sp>
      <p:sp>
        <p:nvSpPr>
          <p:cNvPr id="5" name="Text 1">
            <a:extLst>
              <a:ext uri="{FF2B5EF4-FFF2-40B4-BE49-F238E27FC236}">
                <a16:creationId xmlns:a16="http://schemas.microsoft.com/office/drawing/2014/main" id="{302255D7-D63C-7740-581B-12DFEAA6D062}"/>
              </a:ext>
            </a:extLst>
          </p:cNvPr>
          <p:cNvSpPr/>
          <p:nvPr/>
        </p:nvSpPr>
        <p:spPr>
          <a:xfrm>
            <a:off x="548640" y="490412"/>
            <a:ext cx="10789920" cy="640080"/>
          </a:xfrm>
          <a:prstGeom prst="rect">
            <a:avLst/>
          </a:prstGeom>
          <a:noFill/>
          <a:ln/>
        </p:spPr>
        <p:txBody>
          <a:bodyPr wrap="square" rtlCol="0" anchor="ctr"/>
          <a:lstStyle/>
          <a:p>
            <a:pPr marL="0" indent="0">
              <a:buNone/>
            </a:pPr>
            <a:r>
              <a:rPr lang="en-US" sz="2800" b="1" dirty="0" err="1">
                <a:solidFill>
                  <a:srgbClr val="ED145B"/>
                </a:solidFill>
                <a:latin typeface="Cambria" pitchFamily="34" charset="0"/>
                <a:ea typeface="Cambria" pitchFamily="34" charset="-122"/>
                <a:cs typeface="Cambria" pitchFamily="34" charset="-120"/>
              </a:rPr>
              <a:t>Posicionamento</a:t>
            </a:r>
            <a:r>
              <a:rPr lang="en-US" sz="2800" b="1" dirty="0">
                <a:solidFill>
                  <a:srgbClr val="ED145B"/>
                </a:solidFill>
                <a:latin typeface="Cambria" pitchFamily="34" charset="0"/>
                <a:ea typeface="Cambria" pitchFamily="34" charset="-122"/>
                <a:cs typeface="Cambria" pitchFamily="34" charset="-120"/>
              </a:rPr>
              <a:t> </a:t>
            </a:r>
            <a:r>
              <a:rPr lang="en-US" sz="2800" b="1" dirty="0" err="1">
                <a:solidFill>
                  <a:srgbClr val="ED145B"/>
                </a:solidFill>
                <a:latin typeface="Cambria" pitchFamily="34" charset="0"/>
                <a:ea typeface="Cambria" pitchFamily="34" charset="-122"/>
                <a:cs typeface="Cambria" pitchFamily="34" charset="-120"/>
              </a:rPr>
              <a:t>estratégico</a:t>
            </a:r>
            <a:endParaRPr lang="en-US" sz="2800" dirty="0">
              <a:solidFill>
                <a:srgbClr val="ED145B"/>
              </a:solidFill>
            </a:endParaRPr>
          </a:p>
        </p:txBody>
      </p:sp>
    </p:spTree>
    <p:extLst>
      <p:ext uri="{BB962C8B-B14F-4D97-AF65-F5344CB8AC3E}">
        <p14:creationId xmlns:p14="http://schemas.microsoft.com/office/powerpoint/2010/main" val="665772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35514DA3-2182-CDC1-0BA1-29781117DE8E}"/>
              </a:ext>
            </a:extLst>
          </p:cNvPr>
          <p:cNvPicPr>
            <a:picLocks noChangeAspect="1"/>
          </p:cNvPicPr>
          <p:nvPr/>
        </p:nvPicPr>
        <p:blipFill>
          <a:blip r:embed="rId2"/>
          <a:stretch>
            <a:fillRect/>
          </a:stretch>
        </p:blipFill>
        <p:spPr>
          <a:xfrm>
            <a:off x="601083" y="1275162"/>
            <a:ext cx="4661215" cy="334763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Shape 11">
            <a:extLst>
              <a:ext uri="{FF2B5EF4-FFF2-40B4-BE49-F238E27FC236}">
                <a16:creationId xmlns:a16="http://schemas.microsoft.com/office/drawing/2014/main" id="{546DEFBC-AA36-30B0-52D7-375E90A36F88}"/>
              </a:ext>
            </a:extLst>
          </p:cNvPr>
          <p:cNvSpPr/>
          <p:nvPr/>
        </p:nvSpPr>
        <p:spPr>
          <a:xfrm>
            <a:off x="229317" y="5054882"/>
            <a:ext cx="5400000" cy="1551193"/>
          </a:xfrm>
          <a:prstGeom prst="roundRect">
            <a:avLst>
              <a:gd name="adj" fmla="val 1684"/>
            </a:avLst>
          </a:prstGeom>
          <a:solidFill>
            <a:srgbClr val="ED145B"/>
          </a:solidFill>
          <a:ln/>
        </p:spPr>
        <p:txBody>
          <a:bodyPr/>
          <a:lstStyle/>
          <a:p>
            <a:pPr algn="just"/>
            <a:r>
              <a:rPr lang="pt-BR" sz="1200" i="1" dirty="0">
                <a:solidFill>
                  <a:schemeClr val="bg2"/>
                </a:solidFill>
              </a:rPr>
              <a:t>“O Nordeste tem um potencial enorme para logística. A combinação entre crescimento do comércio, portos estratégicos e cidades que funcionam como hubs regionais abre espaço para operações mais eficientes”, </a:t>
            </a:r>
            <a:r>
              <a:rPr lang="pt-BR" sz="1200" dirty="0">
                <a:solidFill>
                  <a:schemeClr val="bg2"/>
                </a:solidFill>
              </a:rPr>
              <a:t>afirma </a:t>
            </a:r>
            <a:r>
              <a:rPr lang="pt-BR" sz="1200" dirty="0" err="1">
                <a:solidFill>
                  <a:schemeClr val="bg2"/>
                </a:solidFill>
              </a:rPr>
              <a:t>Kassio</a:t>
            </a:r>
            <a:r>
              <a:rPr lang="pt-BR" sz="1200" dirty="0">
                <a:solidFill>
                  <a:schemeClr val="bg2"/>
                </a:solidFill>
              </a:rPr>
              <a:t> </a:t>
            </a:r>
            <a:r>
              <a:rPr lang="pt-BR" sz="1200" dirty="0" err="1">
                <a:solidFill>
                  <a:schemeClr val="bg2"/>
                </a:solidFill>
              </a:rPr>
              <a:t>Seefeld</a:t>
            </a:r>
            <a:r>
              <a:rPr lang="pt-BR" sz="1200" dirty="0">
                <a:solidFill>
                  <a:schemeClr val="bg2"/>
                </a:solidFill>
              </a:rPr>
              <a:t>, CEO da </a:t>
            </a:r>
            <a:r>
              <a:rPr lang="pt-BR" sz="1200" dirty="0" err="1">
                <a:solidFill>
                  <a:schemeClr val="bg2"/>
                </a:solidFill>
              </a:rPr>
              <a:t>TruckPag</a:t>
            </a:r>
            <a:r>
              <a:rPr lang="pt-BR" sz="1200" dirty="0">
                <a:solidFill>
                  <a:schemeClr val="bg2"/>
                </a:solidFill>
              </a:rPr>
              <a:t>.</a:t>
            </a:r>
          </a:p>
          <a:p>
            <a:pPr algn="just"/>
            <a:endParaRPr lang="pt-BR" sz="1200" dirty="0">
              <a:solidFill>
                <a:schemeClr val="bg2"/>
              </a:solidFill>
            </a:endParaRPr>
          </a:p>
          <a:p>
            <a:pPr algn="just"/>
            <a:r>
              <a:rPr lang="pt-BR" sz="1200" dirty="0">
                <a:solidFill>
                  <a:schemeClr val="bg2"/>
                </a:solidFill>
              </a:rPr>
              <a:t>Ele afirma que movimentos simples - como consolidar cargas, coordenar horários de entrega e revisar itinerários com mais frequência - já mostram resultados imediatos.</a:t>
            </a:r>
          </a:p>
        </p:txBody>
      </p:sp>
      <p:sp>
        <p:nvSpPr>
          <p:cNvPr id="7" name="Text 8">
            <a:extLst>
              <a:ext uri="{FF2B5EF4-FFF2-40B4-BE49-F238E27FC236}">
                <a16:creationId xmlns:a16="http://schemas.microsoft.com/office/drawing/2014/main" id="{34220257-3FDA-681C-7C9D-0514CE9DA662}"/>
              </a:ext>
            </a:extLst>
          </p:cNvPr>
          <p:cNvSpPr/>
          <p:nvPr/>
        </p:nvSpPr>
        <p:spPr>
          <a:xfrm>
            <a:off x="251410" y="4695162"/>
            <a:ext cx="5377907" cy="301785"/>
          </a:xfrm>
          <a:prstGeom prst="rect">
            <a:avLst/>
          </a:prstGeom>
          <a:noFill/>
          <a:ln/>
        </p:spPr>
        <p:txBody>
          <a:bodyPr wrap="square" rtlCol="0" anchor="t"/>
          <a:lstStyle/>
          <a:p>
            <a:pPr algn="ctr"/>
            <a:r>
              <a:rPr lang="en-US" sz="1000" dirty="0">
                <a:solidFill>
                  <a:schemeClr val="bg2"/>
                </a:solidFill>
                <a:hlinkClick r:id="rId3">
                  <a:extLst>
                    <a:ext uri="{A12FA001-AC4F-418D-AE19-62706E023703}">
                      <ahyp:hlinkClr xmlns:ahyp="http://schemas.microsoft.com/office/drawing/2018/hyperlinkcolor" val="tx"/>
                    </a:ext>
                  </a:extLst>
                </a:hlinkClick>
              </a:rPr>
              <a:t>https://timesbrasil.com.br/brasil/economia-brasileira/logistica-nordeste-desafios-2026/</a:t>
            </a:r>
            <a:endParaRPr lang="en-US" sz="1000" dirty="0">
              <a:solidFill>
                <a:schemeClr val="bg2"/>
              </a:solidFill>
            </a:endParaRPr>
          </a:p>
        </p:txBody>
      </p:sp>
      <p:pic>
        <p:nvPicPr>
          <p:cNvPr id="9" name="Imagem 8">
            <a:extLst>
              <a:ext uri="{FF2B5EF4-FFF2-40B4-BE49-F238E27FC236}">
                <a16:creationId xmlns:a16="http://schemas.microsoft.com/office/drawing/2014/main" id="{500C4733-9821-A181-14DE-530996498609}"/>
              </a:ext>
            </a:extLst>
          </p:cNvPr>
          <p:cNvPicPr>
            <a:picLocks noChangeAspect="1"/>
          </p:cNvPicPr>
          <p:nvPr/>
        </p:nvPicPr>
        <p:blipFill>
          <a:blip r:embed="rId4"/>
          <a:stretch>
            <a:fillRect/>
          </a:stretch>
        </p:blipFill>
        <p:spPr>
          <a:xfrm>
            <a:off x="6752421" y="3241550"/>
            <a:ext cx="5010886" cy="287298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1" name="Shape 11">
            <a:extLst>
              <a:ext uri="{FF2B5EF4-FFF2-40B4-BE49-F238E27FC236}">
                <a16:creationId xmlns:a16="http://schemas.microsoft.com/office/drawing/2014/main" id="{66A8271D-6E1A-0DCF-0226-1E10188C5D55}"/>
              </a:ext>
            </a:extLst>
          </p:cNvPr>
          <p:cNvSpPr/>
          <p:nvPr/>
        </p:nvSpPr>
        <p:spPr>
          <a:xfrm>
            <a:off x="6385401" y="477673"/>
            <a:ext cx="5400000" cy="2377495"/>
          </a:xfrm>
          <a:prstGeom prst="roundRect">
            <a:avLst>
              <a:gd name="adj" fmla="val 1684"/>
            </a:avLst>
          </a:prstGeom>
          <a:solidFill>
            <a:srgbClr val="ED145B"/>
          </a:solidFill>
          <a:ln/>
        </p:spPr>
        <p:txBody>
          <a:bodyPr/>
          <a:lstStyle/>
          <a:p>
            <a:pPr algn="just"/>
            <a:r>
              <a:rPr lang="pt-BR" sz="1200" i="1" dirty="0">
                <a:solidFill>
                  <a:schemeClr val="bg2"/>
                </a:solidFill>
              </a:rPr>
              <a:t>“A região Norte concentra alguns dos maiores desafios logísticos do país. Em muitos casos, o transporte rodoviário não é uma opção viável. Assim, rios, balsas e longas rotas indiretas passam a sustentar o abastecimento de cidades inteiras. A logística no Norte do Brasil também revela situações extremas de desconexão territorial.</a:t>
            </a:r>
          </a:p>
          <a:p>
            <a:pPr algn="just"/>
            <a:endParaRPr lang="pt-BR" sz="1200" i="1" dirty="0">
              <a:solidFill>
                <a:schemeClr val="bg2"/>
              </a:solidFill>
            </a:endParaRPr>
          </a:p>
          <a:p>
            <a:pPr algn="just"/>
            <a:r>
              <a:rPr lang="pt-BR" sz="1200" i="1" dirty="0">
                <a:solidFill>
                  <a:schemeClr val="bg2"/>
                </a:solidFill>
              </a:rPr>
              <a:t>O Amapá ainda não possui ligação rodoviária direta com o restante do Brasil. Assim, o abastecimento depende quase exclusivamente de transporte fluvial e aéreo, o que eleva custos e limita </a:t>
            </a:r>
            <a:r>
              <a:rPr lang="pt-BR" sz="1200" i="1" dirty="0" err="1">
                <a:solidFill>
                  <a:schemeClr val="bg2"/>
                </a:solidFill>
              </a:rPr>
              <a:t>altern’ativas</a:t>
            </a:r>
            <a:r>
              <a:rPr lang="pt-BR" sz="1200" i="1" dirty="0">
                <a:solidFill>
                  <a:schemeClr val="bg2"/>
                </a:solidFill>
              </a:rPr>
              <a:t> operacionais.</a:t>
            </a:r>
          </a:p>
          <a:p>
            <a:pPr algn="just"/>
            <a:endParaRPr lang="pt-BR" sz="1200" i="1" dirty="0">
              <a:solidFill>
                <a:schemeClr val="bg2"/>
              </a:solidFill>
            </a:endParaRPr>
          </a:p>
          <a:p>
            <a:pPr algn="just"/>
            <a:r>
              <a:rPr lang="pt-BR" sz="1200" i="1" dirty="0">
                <a:solidFill>
                  <a:schemeClr val="bg2"/>
                </a:solidFill>
              </a:rPr>
              <a:t>No Acre, o acesso terrestre ocorre basicamente por meio de Rondônia. Portanto, qualquer interrupção nesse corredor compromete rapidamente o fluxo de mercadorias, combustíveis e alimentos.”</a:t>
            </a:r>
          </a:p>
        </p:txBody>
      </p:sp>
      <p:sp>
        <p:nvSpPr>
          <p:cNvPr id="13" name="Text 8">
            <a:extLst>
              <a:ext uri="{FF2B5EF4-FFF2-40B4-BE49-F238E27FC236}">
                <a16:creationId xmlns:a16="http://schemas.microsoft.com/office/drawing/2014/main" id="{61347467-FA48-CEE9-E20F-8210838E9A6E}"/>
              </a:ext>
            </a:extLst>
          </p:cNvPr>
          <p:cNvSpPr/>
          <p:nvPr/>
        </p:nvSpPr>
        <p:spPr>
          <a:xfrm>
            <a:off x="6774512" y="6222175"/>
            <a:ext cx="4988795" cy="502920"/>
          </a:xfrm>
          <a:prstGeom prst="rect">
            <a:avLst/>
          </a:prstGeom>
          <a:noFill/>
          <a:ln/>
        </p:spPr>
        <p:txBody>
          <a:bodyPr wrap="square" rtlCol="0" anchor="t"/>
          <a:lstStyle/>
          <a:p>
            <a:pPr algn="ctr"/>
            <a:r>
              <a:rPr lang="en-US" sz="1000" dirty="0">
                <a:solidFill>
                  <a:schemeClr val="bg2"/>
                </a:solidFill>
                <a:hlinkClick r:id="rId5">
                  <a:extLst>
                    <a:ext uri="{A12FA001-AC4F-418D-AE19-62706E023703}">
                      <ahyp:hlinkClr xmlns:ahyp="http://schemas.microsoft.com/office/drawing/2018/hyperlinkcolor" val="tx"/>
                    </a:ext>
                  </a:extLst>
                </a:hlinkClick>
              </a:rPr>
              <a:t>https://inpo.com.br/blog/logistica-no-norte-do-brasil-os-desafios-da-regiao/</a:t>
            </a:r>
            <a:endParaRPr lang="en-US" sz="1000" dirty="0">
              <a:solidFill>
                <a:schemeClr val="bg2"/>
              </a:solidFill>
            </a:endParaRPr>
          </a:p>
        </p:txBody>
      </p:sp>
      <p:sp>
        <p:nvSpPr>
          <p:cNvPr id="4" name="Text 1">
            <a:extLst>
              <a:ext uri="{FF2B5EF4-FFF2-40B4-BE49-F238E27FC236}">
                <a16:creationId xmlns:a16="http://schemas.microsoft.com/office/drawing/2014/main" id="{B7324ACD-75F5-7FA7-7D1C-EED76B01A21A}"/>
              </a:ext>
            </a:extLst>
          </p:cNvPr>
          <p:cNvSpPr/>
          <p:nvPr/>
        </p:nvSpPr>
        <p:spPr>
          <a:xfrm>
            <a:off x="539309" y="275806"/>
            <a:ext cx="10789920" cy="640080"/>
          </a:xfrm>
          <a:prstGeom prst="rect">
            <a:avLst/>
          </a:prstGeom>
          <a:noFill/>
          <a:ln/>
        </p:spPr>
        <p:txBody>
          <a:bodyPr wrap="square" rtlCol="0" anchor="ctr"/>
          <a:lstStyle/>
          <a:p>
            <a:pPr marL="0" indent="0">
              <a:buNone/>
            </a:pPr>
            <a:r>
              <a:rPr lang="en-US" sz="2800" b="1" dirty="0" err="1">
                <a:solidFill>
                  <a:srgbClr val="ED145B"/>
                </a:solidFill>
                <a:latin typeface="Cambria" pitchFamily="34" charset="0"/>
                <a:ea typeface="Cambria" pitchFamily="34" charset="-122"/>
                <a:cs typeface="Cambria" pitchFamily="34" charset="-120"/>
              </a:rPr>
              <a:t>Notícias</a:t>
            </a:r>
            <a:r>
              <a:rPr lang="en-US" sz="2800" b="1" dirty="0">
                <a:solidFill>
                  <a:srgbClr val="ED145B"/>
                </a:solidFill>
                <a:latin typeface="Cambria" pitchFamily="34" charset="0"/>
                <a:ea typeface="Cambria" pitchFamily="34" charset="-122"/>
                <a:cs typeface="Cambria" pitchFamily="34" charset="-120"/>
              </a:rPr>
              <a:t> Norte e Nordeste</a:t>
            </a:r>
            <a:endParaRPr lang="en-US" sz="2800" dirty="0">
              <a:solidFill>
                <a:srgbClr val="ED145B"/>
              </a:solidFill>
            </a:endParaRPr>
          </a:p>
        </p:txBody>
      </p:sp>
    </p:spTree>
    <p:extLst>
      <p:ext uri="{BB962C8B-B14F-4D97-AF65-F5344CB8AC3E}">
        <p14:creationId xmlns:p14="http://schemas.microsoft.com/office/powerpoint/2010/main" val="1854208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a:extLst>
            <a:ext uri="{FF2B5EF4-FFF2-40B4-BE49-F238E27FC236}">
              <a16:creationId xmlns:a16="http://schemas.microsoft.com/office/drawing/2014/main" id="{4A8A911A-9094-01F9-0957-3B6D17D87BA4}"/>
            </a:ext>
          </a:extLst>
        </p:cNvPr>
        <p:cNvGrpSpPr/>
        <p:nvPr/>
      </p:nvGrpSpPr>
      <p:grpSpPr>
        <a:xfrm>
          <a:off x="0" y="0"/>
          <a:ext cx="0" cy="0"/>
          <a:chOff x="0" y="0"/>
          <a:chExt cx="0" cy="0"/>
        </a:xfrm>
      </p:grpSpPr>
      <p:sp>
        <p:nvSpPr>
          <p:cNvPr id="11" name="Shape 11">
            <a:extLst>
              <a:ext uri="{FF2B5EF4-FFF2-40B4-BE49-F238E27FC236}">
                <a16:creationId xmlns:a16="http://schemas.microsoft.com/office/drawing/2014/main" id="{F5DF42C6-7D34-33B3-8E1B-417DCFA2AA67}"/>
              </a:ext>
            </a:extLst>
          </p:cNvPr>
          <p:cNvSpPr/>
          <p:nvPr/>
        </p:nvSpPr>
        <p:spPr>
          <a:xfrm>
            <a:off x="6562683" y="738929"/>
            <a:ext cx="5400000" cy="2088247"/>
          </a:xfrm>
          <a:prstGeom prst="roundRect">
            <a:avLst>
              <a:gd name="adj" fmla="val 1684"/>
            </a:avLst>
          </a:prstGeom>
          <a:solidFill>
            <a:srgbClr val="ED145B"/>
          </a:solidFill>
          <a:ln/>
        </p:spPr>
        <p:txBody>
          <a:bodyPr/>
          <a:lstStyle/>
          <a:p>
            <a:pPr algn="just"/>
            <a:r>
              <a:rPr lang="pt-BR" sz="1200" i="1" dirty="0">
                <a:solidFill>
                  <a:schemeClr val="bg2"/>
                </a:solidFill>
              </a:rPr>
              <a:t>Com 17 polos logísticos no Nordeste, a empresa expande sua capilaridade, gerando mais empregos à região e impactando positivamente as comunidades locais. </a:t>
            </a:r>
          </a:p>
          <a:p>
            <a:pPr algn="just"/>
            <a:endParaRPr lang="pt-BR" sz="1200" i="1" dirty="0">
              <a:solidFill>
                <a:schemeClr val="bg2"/>
              </a:solidFill>
            </a:endParaRPr>
          </a:p>
          <a:p>
            <a:pPr algn="just"/>
            <a:r>
              <a:rPr lang="pt-BR" sz="1200" i="1" dirty="0">
                <a:solidFill>
                  <a:schemeClr val="bg2"/>
                </a:solidFill>
              </a:rPr>
              <a:t>Esse ano, 5 novas Estações de Entrega já foram abertas na região, além de um novo Centro de Distribuição em Recife, com capacidade de receber, estocar e enviar produtos, para clientes de todo o país.</a:t>
            </a:r>
          </a:p>
          <a:p>
            <a:pPr algn="just"/>
            <a:endParaRPr lang="pt-BR" sz="1200" i="1" dirty="0">
              <a:solidFill>
                <a:schemeClr val="bg2"/>
              </a:solidFill>
            </a:endParaRPr>
          </a:p>
          <a:p>
            <a:pPr algn="just"/>
            <a:r>
              <a:rPr lang="pt-BR" sz="1200" i="1" dirty="0">
                <a:solidFill>
                  <a:schemeClr val="bg2"/>
                </a:solidFill>
              </a:rPr>
              <a:t>O novo Centro de Distribuição em Recife é o maior do Brasil, com uma área de 70 mil metros quadrados, o equivalente a 10 campos de futebol, gerando mais de 1.1 mil empregos diretos e indiretos, mais do que o dobro do Centro anterior na região.</a:t>
            </a:r>
          </a:p>
        </p:txBody>
      </p:sp>
      <p:sp>
        <p:nvSpPr>
          <p:cNvPr id="5" name="Shape 11">
            <a:extLst>
              <a:ext uri="{FF2B5EF4-FFF2-40B4-BE49-F238E27FC236}">
                <a16:creationId xmlns:a16="http://schemas.microsoft.com/office/drawing/2014/main" id="{D4D47917-059F-AC8E-AB2E-B7D8F05E397E}"/>
              </a:ext>
            </a:extLst>
          </p:cNvPr>
          <p:cNvSpPr/>
          <p:nvPr/>
        </p:nvSpPr>
        <p:spPr>
          <a:xfrm>
            <a:off x="539309" y="4485708"/>
            <a:ext cx="5400000" cy="1961740"/>
          </a:xfrm>
          <a:prstGeom prst="roundRect">
            <a:avLst>
              <a:gd name="adj" fmla="val 1684"/>
            </a:avLst>
          </a:prstGeom>
          <a:solidFill>
            <a:srgbClr val="ED145B"/>
          </a:solidFill>
          <a:ln/>
        </p:spPr>
        <p:txBody>
          <a:bodyPr/>
          <a:lstStyle/>
          <a:p>
            <a:pPr algn="just"/>
            <a:r>
              <a:rPr lang="pt-BR" sz="1200" i="1" dirty="0">
                <a:solidFill>
                  <a:schemeClr val="bg2"/>
                </a:solidFill>
              </a:rPr>
              <a:t>“Visando melhorar a experiência de seus consumidores e dos mais de 3 milhões de vendedores brasileiros, a plataforma inaugura espaços no modelo </a:t>
            </a:r>
            <a:r>
              <a:rPr lang="pt-BR" sz="1200" i="1" dirty="0" err="1">
                <a:solidFill>
                  <a:schemeClr val="bg2"/>
                </a:solidFill>
              </a:rPr>
              <a:t>cross-docking</a:t>
            </a:r>
            <a:r>
              <a:rPr lang="pt-BR" sz="1200" i="1" dirty="0">
                <a:solidFill>
                  <a:schemeClr val="bg2"/>
                </a:solidFill>
              </a:rPr>
              <a:t> nas regiões metropolitanas de Recife e Salvador, além da expansão de hubs de primeira e última milha em todo país.</a:t>
            </a:r>
          </a:p>
          <a:p>
            <a:pPr algn="just"/>
            <a:endParaRPr lang="pt-BR" sz="1200" i="1" dirty="0">
              <a:solidFill>
                <a:schemeClr val="bg2"/>
              </a:solidFill>
            </a:endParaRPr>
          </a:p>
          <a:p>
            <a:pPr algn="just"/>
            <a:r>
              <a:rPr lang="pt-BR" sz="1200" i="1" dirty="0">
                <a:solidFill>
                  <a:schemeClr val="bg2"/>
                </a:solidFill>
              </a:rPr>
              <a:t>A </a:t>
            </a:r>
            <a:r>
              <a:rPr lang="pt-BR" sz="1200" i="1" dirty="0" err="1">
                <a:solidFill>
                  <a:schemeClr val="bg2"/>
                </a:solidFill>
              </a:rPr>
              <a:t>Shopee</a:t>
            </a:r>
            <a:r>
              <a:rPr lang="pt-BR" sz="1200" i="1" dirty="0">
                <a:solidFill>
                  <a:schemeClr val="bg2"/>
                </a:solidFill>
              </a:rPr>
              <a:t>, anuncia dois novos centros de distribuição no país. Localizados nas regiões metropolitanas de Recife (PE) e Salvador (BA), os espaços de 10 mil m2 e 6 mil m2 funcionam na modalidade conhecida como </a:t>
            </a:r>
            <a:r>
              <a:rPr lang="pt-BR" sz="1200" i="1" dirty="0" err="1">
                <a:solidFill>
                  <a:schemeClr val="bg2"/>
                </a:solidFill>
              </a:rPr>
              <a:t>cross-docking</a:t>
            </a:r>
            <a:r>
              <a:rPr lang="pt-BR" sz="1200" i="1" dirty="0">
                <a:solidFill>
                  <a:schemeClr val="bg2"/>
                </a:solidFill>
              </a:rPr>
              <a:t>, em que as mercadorias coletadas via parceiros logísticos são reorganizadas e direcionadas aos hubs de última milha para serem entregues ao consumidor final.”</a:t>
            </a:r>
          </a:p>
        </p:txBody>
      </p:sp>
      <p:sp>
        <p:nvSpPr>
          <p:cNvPr id="7" name="Text 8">
            <a:extLst>
              <a:ext uri="{FF2B5EF4-FFF2-40B4-BE49-F238E27FC236}">
                <a16:creationId xmlns:a16="http://schemas.microsoft.com/office/drawing/2014/main" id="{922B3995-292F-7AE7-94A7-6FE62EA5A810}"/>
              </a:ext>
            </a:extLst>
          </p:cNvPr>
          <p:cNvSpPr/>
          <p:nvPr/>
        </p:nvSpPr>
        <p:spPr>
          <a:xfrm>
            <a:off x="539309" y="3881154"/>
            <a:ext cx="5400000" cy="502920"/>
          </a:xfrm>
          <a:prstGeom prst="rect">
            <a:avLst/>
          </a:prstGeom>
          <a:noFill/>
          <a:ln/>
        </p:spPr>
        <p:txBody>
          <a:bodyPr wrap="square" rtlCol="0" anchor="t"/>
          <a:lstStyle/>
          <a:p>
            <a:pPr algn="ctr"/>
            <a:r>
              <a:rPr lang="en-US" sz="1000" dirty="0">
                <a:solidFill>
                  <a:schemeClr val="bg2"/>
                </a:solidFill>
                <a:hlinkClick r:id="rId2">
                  <a:extLst>
                    <a:ext uri="{A12FA001-AC4F-418D-AE19-62706E023703}">
                      <ahyp:hlinkClr xmlns:ahyp="http://schemas.microsoft.com/office/drawing/2018/hyperlinkcolor" val="tx"/>
                    </a:ext>
                  </a:extLst>
                </a:hlinkClick>
              </a:rPr>
              <a:t>https://shopee.com.br/blog/shopee-aumenta-capilaridade-de-entregas-com-novos-centros-de-distribuicao-no-nordeste-do-brasil/?utm_source=chatgpt.com</a:t>
            </a:r>
            <a:endParaRPr lang="en-US" sz="1000" dirty="0">
              <a:solidFill>
                <a:schemeClr val="bg2"/>
              </a:solidFill>
            </a:endParaRPr>
          </a:p>
        </p:txBody>
      </p:sp>
      <p:sp>
        <p:nvSpPr>
          <p:cNvPr id="13" name="Text 8">
            <a:extLst>
              <a:ext uri="{FF2B5EF4-FFF2-40B4-BE49-F238E27FC236}">
                <a16:creationId xmlns:a16="http://schemas.microsoft.com/office/drawing/2014/main" id="{7A53AAFA-2451-E9FC-9414-4E500E6F0CD9}"/>
              </a:ext>
            </a:extLst>
          </p:cNvPr>
          <p:cNvSpPr/>
          <p:nvPr/>
        </p:nvSpPr>
        <p:spPr>
          <a:xfrm>
            <a:off x="6562683" y="6315482"/>
            <a:ext cx="5400000" cy="502920"/>
          </a:xfrm>
          <a:prstGeom prst="rect">
            <a:avLst/>
          </a:prstGeom>
          <a:noFill/>
          <a:ln/>
        </p:spPr>
        <p:txBody>
          <a:bodyPr wrap="square" rtlCol="0" anchor="t"/>
          <a:lstStyle/>
          <a:p>
            <a:pPr algn="ctr"/>
            <a:r>
              <a:rPr lang="en-US" sz="1000" dirty="0">
                <a:solidFill>
                  <a:schemeClr val="bg2"/>
                </a:solidFill>
                <a:hlinkClick r:id="rId3">
                  <a:extLst>
                    <a:ext uri="{A12FA001-AC4F-418D-AE19-62706E023703}">
                      <ahyp:hlinkClr xmlns:ahyp="http://schemas.microsoft.com/office/drawing/2018/hyperlinkcolor" val="tx"/>
                    </a:ext>
                  </a:extLst>
                </a:hlinkClick>
              </a:rPr>
              <a:t>https://www.aboutamazon.com.br/noticias/operacoes/por-dentro-do-novo-centro-de-distribuicao-da-amazon-brasil-em-recife?utm_source=chatgpt.com</a:t>
            </a:r>
            <a:endParaRPr lang="en-US" sz="1000" dirty="0">
              <a:solidFill>
                <a:schemeClr val="bg2"/>
              </a:solidFill>
            </a:endParaRPr>
          </a:p>
          <a:p>
            <a:pPr algn="ctr"/>
            <a:endParaRPr lang="en-US" sz="1000" dirty="0">
              <a:solidFill>
                <a:schemeClr val="bg2"/>
              </a:solidFill>
            </a:endParaRPr>
          </a:p>
        </p:txBody>
      </p:sp>
      <p:pic>
        <p:nvPicPr>
          <p:cNvPr id="8" name="Imagem 7">
            <a:extLst>
              <a:ext uri="{FF2B5EF4-FFF2-40B4-BE49-F238E27FC236}">
                <a16:creationId xmlns:a16="http://schemas.microsoft.com/office/drawing/2014/main" id="{9F067C0D-07B3-66A0-F51B-0F7DDF886B2F}"/>
              </a:ext>
            </a:extLst>
          </p:cNvPr>
          <p:cNvPicPr>
            <a:picLocks noChangeAspect="1"/>
          </p:cNvPicPr>
          <p:nvPr/>
        </p:nvPicPr>
        <p:blipFill>
          <a:blip r:embed="rId4"/>
          <a:stretch>
            <a:fillRect/>
          </a:stretch>
        </p:blipFill>
        <p:spPr>
          <a:xfrm>
            <a:off x="7324855" y="2994623"/>
            <a:ext cx="3875657" cy="3240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4" name="Imagem 3">
            <a:extLst>
              <a:ext uri="{FF2B5EF4-FFF2-40B4-BE49-F238E27FC236}">
                <a16:creationId xmlns:a16="http://schemas.microsoft.com/office/drawing/2014/main" id="{3CD947D8-43D5-AD13-64CC-8E7D44C81564}"/>
              </a:ext>
            </a:extLst>
          </p:cNvPr>
          <p:cNvPicPr>
            <a:picLocks noChangeAspect="1"/>
          </p:cNvPicPr>
          <p:nvPr/>
        </p:nvPicPr>
        <p:blipFill>
          <a:blip r:embed="rId5"/>
          <a:stretch>
            <a:fillRect/>
          </a:stretch>
        </p:blipFill>
        <p:spPr>
          <a:xfrm>
            <a:off x="1086166" y="950357"/>
            <a:ext cx="4306286" cy="276070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Text 1">
            <a:extLst>
              <a:ext uri="{FF2B5EF4-FFF2-40B4-BE49-F238E27FC236}">
                <a16:creationId xmlns:a16="http://schemas.microsoft.com/office/drawing/2014/main" id="{AFC7E119-1513-C4C9-2EAE-32778EDF6114}"/>
              </a:ext>
            </a:extLst>
          </p:cNvPr>
          <p:cNvSpPr/>
          <p:nvPr/>
        </p:nvSpPr>
        <p:spPr>
          <a:xfrm>
            <a:off x="539309" y="153886"/>
            <a:ext cx="10789920" cy="640080"/>
          </a:xfrm>
          <a:prstGeom prst="rect">
            <a:avLst/>
          </a:prstGeom>
          <a:noFill/>
          <a:ln/>
        </p:spPr>
        <p:txBody>
          <a:bodyPr wrap="square" rtlCol="0" anchor="ctr"/>
          <a:lstStyle/>
          <a:p>
            <a:pPr marL="0" indent="0">
              <a:buNone/>
            </a:pPr>
            <a:r>
              <a:rPr lang="en-US" sz="2800" b="1" dirty="0" err="1">
                <a:solidFill>
                  <a:srgbClr val="ED145B"/>
                </a:solidFill>
                <a:latin typeface="Cambria" pitchFamily="34" charset="0"/>
                <a:ea typeface="Cambria" pitchFamily="34" charset="-122"/>
                <a:cs typeface="Cambria" pitchFamily="34" charset="-120"/>
              </a:rPr>
              <a:t>Notícias</a:t>
            </a:r>
            <a:r>
              <a:rPr lang="en-US" sz="2800" b="1" dirty="0">
                <a:solidFill>
                  <a:srgbClr val="ED145B"/>
                </a:solidFill>
                <a:latin typeface="Cambria" pitchFamily="34" charset="0"/>
                <a:ea typeface="Cambria" pitchFamily="34" charset="-122"/>
                <a:cs typeface="Cambria" pitchFamily="34" charset="-120"/>
              </a:rPr>
              <a:t> Norte e Nordeste</a:t>
            </a:r>
            <a:endParaRPr lang="en-US" sz="2800" dirty="0">
              <a:solidFill>
                <a:srgbClr val="ED145B"/>
              </a:solidFill>
            </a:endParaRPr>
          </a:p>
        </p:txBody>
      </p:sp>
    </p:spTree>
    <p:extLst>
      <p:ext uri="{BB962C8B-B14F-4D97-AF65-F5344CB8AC3E}">
        <p14:creationId xmlns:p14="http://schemas.microsoft.com/office/powerpoint/2010/main" val="199658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145B"/>
        </a:solidFill>
        <a:effectLst/>
      </p:bgPr>
    </p:bg>
    <p:spTree>
      <p:nvGrpSpPr>
        <p:cNvPr id="1" name="">
          <a:extLst>
            <a:ext uri="{FF2B5EF4-FFF2-40B4-BE49-F238E27FC236}">
              <a16:creationId xmlns:a16="http://schemas.microsoft.com/office/drawing/2014/main" id="{9330CBE1-B109-6532-5FBB-82630E3938C4}"/>
            </a:ext>
          </a:extLst>
        </p:cNvPr>
        <p:cNvGrpSpPr/>
        <p:nvPr/>
      </p:nvGrpSpPr>
      <p:grpSpPr>
        <a:xfrm>
          <a:off x="0" y="0"/>
          <a:ext cx="0" cy="0"/>
          <a:chOff x="0" y="0"/>
          <a:chExt cx="0" cy="0"/>
        </a:xfrm>
      </p:grpSpPr>
      <p:sp>
        <p:nvSpPr>
          <p:cNvPr id="11" name="Shape 11">
            <a:extLst>
              <a:ext uri="{FF2B5EF4-FFF2-40B4-BE49-F238E27FC236}">
                <a16:creationId xmlns:a16="http://schemas.microsoft.com/office/drawing/2014/main" id="{6DCA0D6D-8450-364A-33D2-90B7AA50B5D9}"/>
              </a:ext>
            </a:extLst>
          </p:cNvPr>
          <p:cNvSpPr/>
          <p:nvPr/>
        </p:nvSpPr>
        <p:spPr>
          <a:xfrm>
            <a:off x="7408506" y="475902"/>
            <a:ext cx="4554178" cy="6157656"/>
          </a:xfrm>
          <a:prstGeom prst="roundRect">
            <a:avLst>
              <a:gd name="adj" fmla="val 1684"/>
            </a:avLst>
          </a:prstGeom>
          <a:solidFill>
            <a:schemeClr val="bg2">
              <a:lumMod val="10000"/>
            </a:schemeClr>
          </a:solidFill>
          <a:ln/>
        </p:spPr>
        <p:txBody>
          <a:bodyPr/>
          <a:lstStyle/>
          <a:p>
            <a:pPr algn="just"/>
            <a:r>
              <a:rPr lang="pt-BR" sz="1200" i="1" dirty="0">
                <a:solidFill>
                  <a:schemeClr val="bg2"/>
                </a:solidFill>
              </a:rPr>
              <a:t>"Antes sofríamos com muitas dificuldades para qualquer encomenda chegar aqui, mas hoje as coisas são bem diferentes", diz Elaine Moreira, moradora de Careiro da Várzea, cidade localizada às margens do Rio Amazonas, na região Metropolitana de Manaus.</a:t>
            </a:r>
          </a:p>
          <a:p>
            <a:pPr algn="just"/>
            <a:endParaRPr lang="pt-BR" sz="1200" i="1" dirty="0">
              <a:solidFill>
                <a:schemeClr val="bg2"/>
              </a:solidFill>
            </a:endParaRPr>
          </a:p>
          <a:p>
            <a:pPr algn="just"/>
            <a:r>
              <a:rPr lang="pt-BR" sz="1200" i="1" dirty="0">
                <a:solidFill>
                  <a:schemeClr val="bg2"/>
                </a:solidFill>
              </a:rPr>
              <a:t>Os pedidos melhoraram para minha loja, especialmente cosméticos e produtos variados para cama, mesa e banho. Há cinco anos sou cliente da empresa. Mas, recentemente, as encomendas passaram a chegar tão rápido, quando imaginamos que vai levar tempo, de repente os entregadores já batem na nossa porta", conta Elaine.</a:t>
            </a:r>
          </a:p>
          <a:p>
            <a:pPr algn="just"/>
            <a:endParaRPr lang="pt-BR" sz="1200" i="1" dirty="0">
              <a:solidFill>
                <a:schemeClr val="bg2"/>
              </a:solidFill>
            </a:endParaRPr>
          </a:p>
          <a:p>
            <a:pPr algn="just"/>
            <a:r>
              <a:rPr lang="pt-BR" sz="1200" i="1" dirty="0">
                <a:solidFill>
                  <a:schemeClr val="bg2"/>
                </a:solidFill>
              </a:rPr>
              <a:t>Muitas pessoas fazem compras online por aqui, mas não têm tempo e condições para se deslocar até a Manaus. Agora com o crescimento das entregas pelos rios, ficou mais fácil receber qualquer produto em casa", conta Yan </a:t>
            </a:r>
            <a:r>
              <a:rPr lang="pt-BR" sz="1200" i="1" dirty="0" err="1">
                <a:solidFill>
                  <a:schemeClr val="bg2"/>
                </a:solidFill>
              </a:rPr>
              <a:t>Correira</a:t>
            </a:r>
            <a:r>
              <a:rPr lang="pt-BR" sz="1200" i="1" dirty="0">
                <a:solidFill>
                  <a:schemeClr val="bg2"/>
                </a:solidFill>
              </a:rPr>
              <a:t>, um dos deliveries </a:t>
            </a:r>
            <a:r>
              <a:rPr lang="pt-BR" sz="1200" i="1" dirty="0" err="1">
                <a:solidFill>
                  <a:schemeClr val="bg2"/>
                </a:solidFill>
              </a:rPr>
              <a:t>associates</a:t>
            </a:r>
            <a:r>
              <a:rPr lang="pt-BR" sz="1200" i="1" dirty="0">
                <a:solidFill>
                  <a:schemeClr val="bg2"/>
                </a:solidFill>
              </a:rPr>
              <a:t> da </a:t>
            </a:r>
            <a:r>
              <a:rPr lang="pt-BR" sz="1200" i="1" dirty="0" err="1">
                <a:solidFill>
                  <a:schemeClr val="bg2"/>
                </a:solidFill>
              </a:rPr>
              <a:t>Amazon</a:t>
            </a:r>
            <a:r>
              <a:rPr lang="pt-BR" sz="1200" i="1" dirty="0">
                <a:solidFill>
                  <a:schemeClr val="bg2"/>
                </a:solidFill>
              </a:rPr>
              <a:t> para as comunidades ribeirinhas.</a:t>
            </a:r>
          </a:p>
          <a:p>
            <a:pPr algn="just"/>
            <a:endParaRPr lang="pt-BR" sz="1200" i="1" dirty="0">
              <a:solidFill>
                <a:schemeClr val="bg2"/>
              </a:solidFill>
            </a:endParaRPr>
          </a:p>
          <a:p>
            <a:pPr algn="just"/>
            <a:r>
              <a:rPr lang="pt-BR" sz="1200" i="1" dirty="0">
                <a:solidFill>
                  <a:schemeClr val="bg2"/>
                </a:solidFill>
              </a:rPr>
              <a:t>Para superar os desafios geográficos e acelerar os prazos de entrega, a </a:t>
            </a:r>
            <a:r>
              <a:rPr lang="pt-BR" sz="1200" i="1" dirty="0" err="1">
                <a:solidFill>
                  <a:schemeClr val="bg2"/>
                </a:solidFill>
              </a:rPr>
              <a:t>Amazon</a:t>
            </a:r>
            <a:r>
              <a:rPr lang="pt-BR" sz="1200" i="1" dirty="0">
                <a:solidFill>
                  <a:schemeClr val="bg2"/>
                </a:solidFill>
              </a:rPr>
              <a:t> aprimorou toda a jornada de distribuição em vários cantos do Amazonas, com investimento de mais de R$ 15,2 milhões na última década. Agora, a companhia conta com </a:t>
            </a:r>
            <a:r>
              <a:rPr lang="pt-BR" sz="1200" b="1" i="1" u="sng" dirty="0">
                <a:solidFill>
                  <a:schemeClr val="bg2"/>
                </a:solidFill>
              </a:rPr>
              <a:t>20 centros logísticos</a:t>
            </a:r>
            <a:r>
              <a:rPr lang="pt-BR" sz="1200" i="1" dirty="0">
                <a:solidFill>
                  <a:schemeClr val="bg2"/>
                </a:solidFill>
              </a:rPr>
              <a:t>, localizados em Manaus, Parintins, Manacapuru e Itacoatiara e outros municípios do estado.</a:t>
            </a:r>
          </a:p>
          <a:p>
            <a:pPr algn="just"/>
            <a:endParaRPr lang="pt-BR" sz="1200" i="1" dirty="0">
              <a:solidFill>
                <a:schemeClr val="bg2"/>
              </a:solidFill>
            </a:endParaRPr>
          </a:p>
          <a:p>
            <a:pPr algn="just"/>
            <a:r>
              <a:rPr lang="pt-BR" sz="1200" i="1" dirty="0">
                <a:solidFill>
                  <a:schemeClr val="bg2"/>
                </a:solidFill>
              </a:rPr>
              <a:t>Só no mês de novembro, foram distribuídos mais de 700 mil pacotes na estação de entregas em razão do evento, chegando ao pico de 10 mil pacotes em um dia.</a:t>
            </a:r>
          </a:p>
          <a:p>
            <a:pPr algn="just"/>
            <a:endParaRPr lang="pt-BR" sz="1200" i="1" dirty="0">
              <a:solidFill>
                <a:schemeClr val="bg2"/>
              </a:solidFill>
            </a:endParaRPr>
          </a:p>
          <a:p>
            <a:pPr algn="just"/>
            <a:r>
              <a:rPr lang="pt-BR" sz="1200" i="1" dirty="0">
                <a:solidFill>
                  <a:schemeClr val="bg2"/>
                </a:solidFill>
              </a:rPr>
              <a:t>“Saímos de um cenário em que o consumidor de Manaus levava entre 15 e 20 dias para receber um produto. Agora, </a:t>
            </a:r>
            <a:r>
              <a:rPr lang="pt-BR" sz="1200" b="1" i="1" u="sng" dirty="0">
                <a:solidFill>
                  <a:schemeClr val="bg2"/>
                </a:solidFill>
              </a:rPr>
              <a:t>realizamos entregas em até dois dias</a:t>
            </a:r>
            <a:r>
              <a:rPr lang="pt-BR" sz="1200" i="1" dirty="0">
                <a:solidFill>
                  <a:schemeClr val="bg2"/>
                </a:solidFill>
              </a:rPr>
              <a:t>." destaca Maria Bezerra, Líder de Operações na estação de entregas da </a:t>
            </a:r>
            <a:r>
              <a:rPr lang="pt-BR" sz="1200" i="1" dirty="0" err="1">
                <a:solidFill>
                  <a:schemeClr val="bg2"/>
                </a:solidFill>
              </a:rPr>
              <a:t>Amazon</a:t>
            </a:r>
            <a:r>
              <a:rPr lang="pt-BR" sz="1200" i="1" dirty="0">
                <a:solidFill>
                  <a:schemeClr val="bg2"/>
                </a:solidFill>
              </a:rPr>
              <a:t> em Manaus.”</a:t>
            </a:r>
          </a:p>
        </p:txBody>
      </p:sp>
      <p:sp>
        <p:nvSpPr>
          <p:cNvPr id="13" name="Text 8">
            <a:extLst>
              <a:ext uri="{FF2B5EF4-FFF2-40B4-BE49-F238E27FC236}">
                <a16:creationId xmlns:a16="http://schemas.microsoft.com/office/drawing/2014/main" id="{89203E1E-6E86-7ABD-AC9C-75B8EDC1ACCB}"/>
              </a:ext>
            </a:extLst>
          </p:cNvPr>
          <p:cNvSpPr/>
          <p:nvPr/>
        </p:nvSpPr>
        <p:spPr>
          <a:xfrm>
            <a:off x="743490" y="5878706"/>
            <a:ext cx="5635537" cy="502920"/>
          </a:xfrm>
          <a:prstGeom prst="rect">
            <a:avLst/>
          </a:prstGeom>
          <a:noFill/>
          <a:ln/>
        </p:spPr>
        <p:txBody>
          <a:bodyPr wrap="square" rtlCol="0" anchor="t"/>
          <a:lstStyle/>
          <a:p>
            <a:pPr algn="ctr"/>
            <a:r>
              <a:rPr lang="en-US" sz="1000" dirty="0">
                <a:hlinkClick r:id="rId2"/>
              </a:rPr>
              <a:t>https://exame.com/invest/mercados/amazonia-no-mapa-da-amazon-como-varejista-chegou-onde-antes-era-impossivel/?utm_source=chatgpt.com</a:t>
            </a:r>
            <a:endParaRPr lang="en-US" sz="1000" dirty="0"/>
          </a:p>
        </p:txBody>
      </p:sp>
      <p:pic>
        <p:nvPicPr>
          <p:cNvPr id="9" name="Imagem 8">
            <a:extLst>
              <a:ext uri="{FF2B5EF4-FFF2-40B4-BE49-F238E27FC236}">
                <a16:creationId xmlns:a16="http://schemas.microsoft.com/office/drawing/2014/main" id="{5699D697-67E2-408A-A499-0430D907EED8}"/>
              </a:ext>
            </a:extLst>
          </p:cNvPr>
          <p:cNvPicPr>
            <a:picLocks noChangeAspect="1"/>
          </p:cNvPicPr>
          <p:nvPr/>
        </p:nvPicPr>
        <p:blipFill>
          <a:blip r:embed="rId3"/>
          <a:stretch>
            <a:fillRect/>
          </a:stretch>
        </p:blipFill>
        <p:spPr>
          <a:xfrm>
            <a:off x="755591" y="1228746"/>
            <a:ext cx="5635537" cy="457354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Text 1">
            <a:extLst>
              <a:ext uri="{FF2B5EF4-FFF2-40B4-BE49-F238E27FC236}">
                <a16:creationId xmlns:a16="http://schemas.microsoft.com/office/drawing/2014/main" id="{F39B09F3-2CE9-6BFD-CE07-7D9B868F9829}"/>
              </a:ext>
            </a:extLst>
          </p:cNvPr>
          <p:cNvSpPr/>
          <p:nvPr/>
        </p:nvSpPr>
        <p:spPr>
          <a:xfrm>
            <a:off x="539309" y="275806"/>
            <a:ext cx="10789920" cy="640080"/>
          </a:xfrm>
          <a:prstGeom prst="rect">
            <a:avLst/>
          </a:prstGeom>
          <a:noFill/>
          <a:ln/>
        </p:spPr>
        <p:txBody>
          <a:bodyPr wrap="square" rtlCol="0" anchor="ctr"/>
          <a:lstStyle/>
          <a:p>
            <a:pPr marL="0" indent="0">
              <a:buNone/>
            </a:pPr>
            <a:r>
              <a:rPr lang="en-US" sz="2800" b="1" dirty="0" err="1">
                <a:solidFill>
                  <a:schemeClr val="bg2"/>
                </a:solidFill>
                <a:latin typeface="Cambria" pitchFamily="34" charset="0"/>
                <a:ea typeface="Cambria" pitchFamily="34" charset="-122"/>
                <a:cs typeface="Cambria" pitchFamily="34" charset="-120"/>
              </a:rPr>
              <a:t>Notícias</a:t>
            </a:r>
            <a:r>
              <a:rPr lang="en-US" sz="2800" b="1" dirty="0">
                <a:solidFill>
                  <a:schemeClr val="bg2"/>
                </a:solidFill>
                <a:latin typeface="Cambria" pitchFamily="34" charset="0"/>
                <a:ea typeface="Cambria" pitchFamily="34" charset="-122"/>
                <a:cs typeface="Cambria" pitchFamily="34" charset="-120"/>
              </a:rPr>
              <a:t> Norte e Nordeste</a:t>
            </a:r>
            <a:endParaRPr lang="en-US" sz="2800" dirty="0">
              <a:solidFill>
                <a:schemeClr val="bg2"/>
              </a:solidFill>
            </a:endParaRPr>
          </a:p>
        </p:txBody>
      </p:sp>
    </p:spTree>
    <p:extLst>
      <p:ext uri="{BB962C8B-B14F-4D97-AF65-F5344CB8AC3E}">
        <p14:creationId xmlns:p14="http://schemas.microsoft.com/office/powerpoint/2010/main" val="4072061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2"/>
        </a:solidFill>
        <a:effectLst/>
      </p:bgPr>
    </p:bg>
    <p:spTree>
      <p:nvGrpSpPr>
        <p:cNvPr id="1" name="">
          <a:extLst>
            <a:ext uri="{FF2B5EF4-FFF2-40B4-BE49-F238E27FC236}">
              <a16:creationId xmlns:a16="http://schemas.microsoft.com/office/drawing/2014/main" id="{3997C7F9-5162-B813-438D-72E2B448EA88}"/>
            </a:ext>
          </a:extLst>
        </p:cNvPr>
        <p:cNvGrpSpPr/>
        <p:nvPr/>
      </p:nvGrpSpPr>
      <p:grpSpPr>
        <a:xfrm>
          <a:off x="0" y="0"/>
          <a:ext cx="0" cy="0"/>
          <a:chOff x="0" y="0"/>
          <a:chExt cx="0" cy="0"/>
        </a:xfrm>
      </p:grpSpPr>
      <p:sp>
        <p:nvSpPr>
          <p:cNvPr id="11" name="Shape 11">
            <a:extLst>
              <a:ext uri="{FF2B5EF4-FFF2-40B4-BE49-F238E27FC236}">
                <a16:creationId xmlns:a16="http://schemas.microsoft.com/office/drawing/2014/main" id="{9686BCFA-472C-8FC9-A78C-5BB06F22254A}"/>
              </a:ext>
            </a:extLst>
          </p:cNvPr>
          <p:cNvSpPr/>
          <p:nvPr/>
        </p:nvSpPr>
        <p:spPr>
          <a:xfrm>
            <a:off x="289257" y="1354148"/>
            <a:ext cx="4554178" cy="4508172"/>
          </a:xfrm>
          <a:prstGeom prst="roundRect">
            <a:avLst>
              <a:gd name="adj" fmla="val 1684"/>
            </a:avLst>
          </a:prstGeom>
          <a:solidFill>
            <a:srgbClr val="ED145B"/>
          </a:solidFill>
          <a:ln/>
        </p:spPr>
        <p:txBody>
          <a:bodyPr/>
          <a:lstStyle/>
          <a:p>
            <a:pPr algn="just"/>
            <a:r>
              <a:rPr lang="pt-BR" sz="1300" i="1" dirty="0">
                <a:solidFill>
                  <a:schemeClr val="bg2"/>
                </a:solidFill>
              </a:rPr>
              <a:t>“O Mercado Livre está estruturando um plano estratégico para transformar a Região Norte em sua próxima fronteira econômica, com foco na eficiência logística e no fortalecimento do ecossistema de vendas local. </a:t>
            </a:r>
          </a:p>
          <a:p>
            <a:pPr algn="just"/>
            <a:endParaRPr lang="pt-BR" sz="1300" i="1" dirty="0">
              <a:solidFill>
                <a:schemeClr val="bg2"/>
              </a:solidFill>
            </a:endParaRPr>
          </a:p>
          <a:p>
            <a:pPr algn="just"/>
            <a:r>
              <a:rPr lang="pt-BR" sz="1300" i="1" dirty="0">
                <a:solidFill>
                  <a:schemeClr val="bg2"/>
                </a:solidFill>
              </a:rPr>
              <a:t>A proposta, apresentada na última semana ao deputado federal Sidney Leite (PSD-AM), prevê a ampliação da capacidade de entregas de produtos regionais, com a implantação, em Manaus, capital do Amazonas, de um Centro de Distribuição, com estoque de produtos de vendedores, para outras regiões do país, como o Centro-Oeste, Sul e Sudeste, conectando empreendedores nortistas a novos mercados consumidores.</a:t>
            </a:r>
          </a:p>
          <a:p>
            <a:pPr algn="just"/>
            <a:endParaRPr lang="pt-BR" sz="1300" i="1" dirty="0">
              <a:solidFill>
                <a:schemeClr val="bg2"/>
              </a:solidFill>
            </a:endParaRPr>
          </a:p>
          <a:p>
            <a:pPr algn="just"/>
            <a:r>
              <a:rPr lang="pt-BR" sz="1300" i="1" dirty="0">
                <a:solidFill>
                  <a:schemeClr val="bg2"/>
                </a:solidFill>
              </a:rPr>
              <a:t>“</a:t>
            </a:r>
            <a:r>
              <a:rPr lang="pt-BR" sz="1300" b="1" i="1" u="sng" dirty="0">
                <a:solidFill>
                  <a:schemeClr val="bg2"/>
                </a:solidFill>
              </a:rPr>
              <a:t>Imagine</a:t>
            </a:r>
            <a:r>
              <a:rPr lang="pt-BR" sz="1300" i="1" dirty="0">
                <a:solidFill>
                  <a:schemeClr val="bg2"/>
                </a:solidFill>
              </a:rPr>
              <a:t> poder comprar um produto no Amazonas e </a:t>
            </a:r>
            <a:r>
              <a:rPr lang="pt-BR" sz="1300" b="1" i="1" u="sng" dirty="0">
                <a:solidFill>
                  <a:schemeClr val="bg2"/>
                </a:solidFill>
              </a:rPr>
              <a:t>receber</a:t>
            </a:r>
            <a:r>
              <a:rPr lang="pt-BR" sz="1300" i="1" dirty="0">
                <a:solidFill>
                  <a:schemeClr val="bg2"/>
                </a:solidFill>
              </a:rPr>
              <a:t> o pedido em Brasília, </a:t>
            </a:r>
            <a:r>
              <a:rPr lang="pt-BR" sz="1300" b="1" i="1" u="sng" dirty="0">
                <a:solidFill>
                  <a:schemeClr val="bg2"/>
                </a:solidFill>
              </a:rPr>
              <a:t>em menos de 24h</a:t>
            </a:r>
            <a:r>
              <a:rPr lang="pt-BR" sz="1300" i="1" dirty="0">
                <a:solidFill>
                  <a:schemeClr val="bg2"/>
                </a:solidFill>
              </a:rPr>
              <a:t>. Isso será possível porque um produtor com uma base localizada a dez horas de barco de Manaus poderá contar com a capacidade de armazenamento do Mercado Livre, assim, facilitando a compra, venda e, principalmente, entrega dos produtos”, explica  Marcelo </a:t>
            </a:r>
            <a:r>
              <a:rPr lang="pt-BR" sz="1300" i="1" dirty="0" err="1">
                <a:solidFill>
                  <a:schemeClr val="bg2"/>
                </a:solidFill>
              </a:rPr>
              <a:t>Chilvarquer</a:t>
            </a:r>
            <a:r>
              <a:rPr lang="pt-BR" sz="1300" i="1" dirty="0">
                <a:solidFill>
                  <a:schemeClr val="bg2"/>
                </a:solidFill>
              </a:rPr>
              <a:t>.”</a:t>
            </a:r>
          </a:p>
        </p:txBody>
      </p:sp>
      <p:sp>
        <p:nvSpPr>
          <p:cNvPr id="13" name="Text 8">
            <a:extLst>
              <a:ext uri="{FF2B5EF4-FFF2-40B4-BE49-F238E27FC236}">
                <a16:creationId xmlns:a16="http://schemas.microsoft.com/office/drawing/2014/main" id="{7131A3E2-7090-0A0F-F8BD-A775F70C47A1}"/>
              </a:ext>
            </a:extLst>
          </p:cNvPr>
          <p:cNvSpPr/>
          <p:nvPr/>
        </p:nvSpPr>
        <p:spPr>
          <a:xfrm>
            <a:off x="5927785" y="6119820"/>
            <a:ext cx="5400000" cy="502920"/>
          </a:xfrm>
          <a:prstGeom prst="rect">
            <a:avLst/>
          </a:prstGeom>
          <a:noFill/>
          <a:ln/>
        </p:spPr>
        <p:txBody>
          <a:bodyPr wrap="square" rtlCol="0" anchor="t"/>
          <a:lstStyle/>
          <a:p>
            <a:pPr algn="ctr"/>
            <a:r>
              <a:rPr lang="en-US" sz="1000" dirty="0">
                <a:hlinkClick r:id="rId2"/>
              </a:rPr>
              <a:t>https://www.boletimamazonico.com.br/mercado-livre-projeta-a-regiao-norte-como-nova-fronteira-economica-e-discute-investimentos-logisticos-com-o-deputado-sidney-leite/?utm_source=chatgpt.com</a:t>
            </a:r>
            <a:endParaRPr lang="en-US" sz="1000" dirty="0"/>
          </a:p>
          <a:p>
            <a:pPr algn="ctr"/>
            <a:endParaRPr lang="en-US" sz="1000" dirty="0"/>
          </a:p>
        </p:txBody>
      </p:sp>
      <p:pic>
        <p:nvPicPr>
          <p:cNvPr id="3" name="Imagem 2">
            <a:extLst>
              <a:ext uri="{FF2B5EF4-FFF2-40B4-BE49-F238E27FC236}">
                <a16:creationId xmlns:a16="http://schemas.microsoft.com/office/drawing/2014/main" id="{319B1838-99DD-D623-76B8-CC661FD81899}"/>
              </a:ext>
            </a:extLst>
          </p:cNvPr>
          <p:cNvPicPr>
            <a:picLocks noChangeAspect="1"/>
          </p:cNvPicPr>
          <p:nvPr/>
        </p:nvPicPr>
        <p:blipFill>
          <a:blip r:embed="rId3"/>
          <a:stretch>
            <a:fillRect/>
          </a:stretch>
        </p:blipFill>
        <p:spPr>
          <a:xfrm>
            <a:off x="5666559" y="1321898"/>
            <a:ext cx="5922453" cy="468743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ext 1">
            <a:extLst>
              <a:ext uri="{FF2B5EF4-FFF2-40B4-BE49-F238E27FC236}">
                <a16:creationId xmlns:a16="http://schemas.microsoft.com/office/drawing/2014/main" id="{6B4A87B5-4D4A-0EF2-6335-3B8A3E2525A3}"/>
              </a:ext>
            </a:extLst>
          </p:cNvPr>
          <p:cNvSpPr/>
          <p:nvPr/>
        </p:nvSpPr>
        <p:spPr>
          <a:xfrm>
            <a:off x="289257" y="285137"/>
            <a:ext cx="10789920" cy="640080"/>
          </a:xfrm>
          <a:prstGeom prst="rect">
            <a:avLst/>
          </a:prstGeom>
          <a:noFill/>
          <a:ln/>
        </p:spPr>
        <p:txBody>
          <a:bodyPr wrap="square" rtlCol="0" anchor="ctr"/>
          <a:lstStyle/>
          <a:p>
            <a:pPr marL="0" indent="0">
              <a:buNone/>
            </a:pPr>
            <a:r>
              <a:rPr lang="en-US" sz="2800" b="1" dirty="0" err="1">
                <a:solidFill>
                  <a:srgbClr val="ED145B"/>
                </a:solidFill>
                <a:latin typeface="Cambria" pitchFamily="34" charset="0"/>
                <a:ea typeface="Cambria" pitchFamily="34" charset="-122"/>
                <a:cs typeface="Cambria" pitchFamily="34" charset="-120"/>
              </a:rPr>
              <a:t>Notícias</a:t>
            </a:r>
            <a:r>
              <a:rPr lang="en-US" sz="2800" b="1" dirty="0">
                <a:solidFill>
                  <a:srgbClr val="ED145B"/>
                </a:solidFill>
                <a:latin typeface="Cambria" pitchFamily="34" charset="0"/>
                <a:ea typeface="Cambria" pitchFamily="34" charset="-122"/>
                <a:cs typeface="Cambria" pitchFamily="34" charset="-120"/>
              </a:rPr>
              <a:t> Norte e Nordeste</a:t>
            </a:r>
            <a:endParaRPr lang="en-US" sz="2800" dirty="0">
              <a:solidFill>
                <a:srgbClr val="ED145B"/>
              </a:solidFill>
            </a:endParaRPr>
          </a:p>
        </p:txBody>
      </p:sp>
    </p:spTree>
    <p:extLst>
      <p:ext uri="{BB962C8B-B14F-4D97-AF65-F5344CB8AC3E}">
        <p14:creationId xmlns:p14="http://schemas.microsoft.com/office/powerpoint/2010/main" val="527973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a:extLst>
            <a:ext uri="{FF2B5EF4-FFF2-40B4-BE49-F238E27FC236}">
              <a16:creationId xmlns:a16="http://schemas.microsoft.com/office/drawing/2014/main" id="{00182FB8-4466-6678-9D03-96C5875D78C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05B5CF8-8533-3401-9292-A2EC624DF37C}"/>
              </a:ext>
            </a:extLst>
          </p:cNvPr>
          <p:cNvSpPr/>
          <p:nvPr/>
        </p:nvSpPr>
        <p:spPr>
          <a:xfrm>
            <a:off x="548640" y="490412"/>
            <a:ext cx="10789920" cy="640080"/>
          </a:xfrm>
          <a:prstGeom prst="rect">
            <a:avLst/>
          </a:prstGeom>
          <a:noFill/>
          <a:ln/>
        </p:spPr>
        <p:txBody>
          <a:bodyPr wrap="square" rtlCol="0" anchor="ctr"/>
          <a:lstStyle/>
          <a:p>
            <a:pPr marL="0" indent="0">
              <a:buNone/>
            </a:pPr>
            <a:r>
              <a:rPr lang="en-US" sz="2800" b="1" dirty="0" err="1">
                <a:solidFill>
                  <a:srgbClr val="ED145B"/>
                </a:solidFill>
                <a:latin typeface="Cambria" pitchFamily="34" charset="0"/>
                <a:ea typeface="Cambria" pitchFamily="34" charset="-122"/>
                <a:cs typeface="Cambria" pitchFamily="34" charset="-120"/>
              </a:rPr>
              <a:t>Posicionamento</a:t>
            </a:r>
            <a:r>
              <a:rPr lang="en-US" sz="2800" b="1" dirty="0">
                <a:solidFill>
                  <a:srgbClr val="ED145B"/>
                </a:solidFill>
                <a:latin typeface="Cambria" pitchFamily="34" charset="0"/>
                <a:ea typeface="Cambria" pitchFamily="34" charset="-122"/>
                <a:cs typeface="Cambria" pitchFamily="34" charset="-120"/>
              </a:rPr>
              <a:t> </a:t>
            </a:r>
            <a:r>
              <a:rPr lang="en-US" sz="2800" b="1" dirty="0" err="1">
                <a:solidFill>
                  <a:srgbClr val="ED145B"/>
                </a:solidFill>
                <a:latin typeface="Cambria" pitchFamily="34" charset="0"/>
                <a:ea typeface="Cambria" pitchFamily="34" charset="-122"/>
                <a:cs typeface="Cambria" pitchFamily="34" charset="-120"/>
              </a:rPr>
              <a:t>estratégico</a:t>
            </a:r>
            <a:endParaRPr lang="en-US" sz="2800" dirty="0">
              <a:solidFill>
                <a:srgbClr val="ED145B"/>
              </a:solidFill>
            </a:endParaRPr>
          </a:p>
        </p:txBody>
      </p:sp>
      <p:sp>
        <p:nvSpPr>
          <p:cNvPr id="6" name="Text 3">
            <a:extLst>
              <a:ext uri="{FF2B5EF4-FFF2-40B4-BE49-F238E27FC236}">
                <a16:creationId xmlns:a16="http://schemas.microsoft.com/office/drawing/2014/main" id="{39581B48-C2CE-5933-0C27-934401BC3B20}"/>
              </a:ext>
            </a:extLst>
          </p:cNvPr>
          <p:cNvSpPr/>
          <p:nvPr/>
        </p:nvSpPr>
        <p:spPr>
          <a:xfrm>
            <a:off x="793104" y="5001768"/>
            <a:ext cx="3383280" cy="365760"/>
          </a:xfrm>
          <a:prstGeom prst="rect">
            <a:avLst/>
          </a:prstGeom>
          <a:noFill/>
          <a:ln/>
        </p:spPr>
        <p:txBody>
          <a:bodyPr wrap="square" rtlCol="0" anchor="ctr"/>
          <a:lstStyle/>
          <a:p>
            <a:pPr marL="0" indent="0">
              <a:buNone/>
            </a:pPr>
            <a:r>
              <a:rPr lang="en-US" sz="1400" b="1" dirty="0">
                <a:solidFill>
                  <a:srgbClr val="ED145B"/>
                </a:solidFill>
                <a:latin typeface="Calibri" pitchFamily="34" charset="0"/>
                <a:ea typeface="Calibri" pitchFamily="34" charset="-122"/>
                <a:cs typeface="Calibri" pitchFamily="34" charset="-120"/>
              </a:rPr>
              <a:t>Leitura executiva</a:t>
            </a:r>
            <a:endParaRPr lang="en-US" sz="1400" dirty="0">
              <a:solidFill>
                <a:srgbClr val="ED145B"/>
              </a:solidFill>
            </a:endParaRPr>
          </a:p>
        </p:txBody>
      </p:sp>
      <p:sp>
        <p:nvSpPr>
          <p:cNvPr id="7" name="Text 4">
            <a:extLst>
              <a:ext uri="{FF2B5EF4-FFF2-40B4-BE49-F238E27FC236}">
                <a16:creationId xmlns:a16="http://schemas.microsoft.com/office/drawing/2014/main" id="{0FC3E3C5-5B59-8C69-9B0D-146A676E2878}"/>
              </a:ext>
            </a:extLst>
          </p:cNvPr>
          <p:cNvSpPr/>
          <p:nvPr/>
        </p:nvSpPr>
        <p:spPr>
          <a:xfrm>
            <a:off x="853440" y="5365867"/>
            <a:ext cx="10485120" cy="852424"/>
          </a:xfrm>
          <a:prstGeom prst="rect">
            <a:avLst/>
          </a:prstGeom>
          <a:noFill/>
          <a:ln>
            <a:solidFill>
              <a:schemeClr val="bg2">
                <a:lumMod val="90000"/>
              </a:schemeClr>
            </a:solidFill>
          </a:ln>
        </p:spPr>
        <p:txBody>
          <a:bodyPr wrap="square" rtlCol="0" anchor="t"/>
          <a:lstStyle/>
          <a:p>
            <a:pPr marL="0" indent="0" algn="ctr">
              <a:lnSpc>
                <a:spcPct val="120000"/>
              </a:lnSpc>
              <a:buNone/>
            </a:pPr>
            <a:r>
              <a:rPr lang="en-US" sz="1300" dirty="0" err="1">
                <a:solidFill>
                  <a:schemeClr val="bg2"/>
                </a:solidFill>
                <a:latin typeface="Calibri" pitchFamily="34" charset="0"/>
                <a:ea typeface="Calibri" pitchFamily="34" charset="-122"/>
                <a:cs typeface="Calibri" pitchFamily="34" charset="-120"/>
              </a:rPr>
              <a:t>Sudeste</a:t>
            </a:r>
            <a:r>
              <a:rPr lang="en-US" sz="1300" dirty="0">
                <a:solidFill>
                  <a:schemeClr val="bg2"/>
                </a:solidFill>
                <a:latin typeface="Calibri" pitchFamily="34" charset="0"/>
                <a:ea typeface="Calibri" pitchFamily="34" charset="-122"/>
                <a:cs typeface="Calibri" pitchFamily="34" charset="-120"/>
              </a:rPr>
              <a:t> e Sul </a:t>
            </a:r>
            <a:r>
              <a:rPr lang="en-US" sz="1300" dirty="0" err="1">
                <a:solidFill>
                  <a:schemeClr val="bg2"/>
                </a:solidFill>
                <a:latin typeface="Calibri" pitchFamily="34" charset="0"/>
                <a:ea typeface="Calibri" pitchFamily="34" charset="-122"/>
                <a:cs typeface="Calibri" pitchFamily="34" charset="-120"/>
              </a:rPr>
              <a:t>possuem</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menor</a:t>
            </a:r>
            <a:r>
              <a:rPr lang="en-US" sz="1300" dirty="0">
                <a:solidFill>
                  <a:schemeClr val="bg2"/>
                </a:solidFill>
                <a:latin typeface="Calibri" pitchFamily="34" charset="0"/>
                <a:ea typeface="Calibri" pitchFamily="34" charset="-122"/>
                <a:cs typeface="Calibri" pitchFamily="34" charset="-120"/>
              </a:rPr>
              <a:t> ticket </a:t>
            </a:r>
            <a:r>
              <a:rPr lang="en-US" sz="1300" dirty="0" err="1">
                <a:solidFill>
                  <a:schemeClr val="bg2"/>
                </a:solidFill>
                <a:latin typeface="Calibri" pitchFamily="34" charset="0"/>
                <a:ea typeface="Calibri" pitchFamily="34" charset="-122"/>
                <a:cs typeface="Calibri" pitchFamily="34" charset="-120"/>
              </a:rPr>
              <a:t>médio</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devido</a:t>
            </a:r>
            <a:r>
              <a:rPr lang="en-US" sz="1300" dirty="0">
                <a:solidFill>
                  <a:schemeClr val="bg2"/>
                </a:solidFill>
                <a:latin typeface="Calibri" pitchFamily="34" charset="0"/>
                <a:ea typeface="Calibri" pitchFamily="34" charset="-122"/>
                <a:cs typeface="Calibri" pitchFamily="34" charset="-120"/>
              </a:rPr>
              <a:t> à grande </a:t>
            </a:r>
            <a:r>
              <a:rPr lang="en-US" sz="1300" dirty="0" err="1">
                <a:solidFill>
                  <a:schemeClr val="bg2"/>
                </a:solidFill>
                <a:latin typeface="Calibri" pitchFamily="34" charset="0"/>
                <a:ea typeface="Calibri" pitchFamily="34" charset="-122"/>
                <a:cs typeface="Calibri" pitchFamily="34" charset="-120"/>
              </a:rPr>
              <a:t>concentração</a:t>
            </a:r>
            <a:r>
              <a:rPr lang="en-US" sz="1300" dirty="0">
                <a:solidFill>
                  <a:schemeClr val="bg2"/>
                </a:solidFill>
                <a:latin typeface="Calibri" pitchFamily="34" charset="0"/>
                <a:ea typeface="Calibri" pitchFamily="34" charset="-122"/>
                <a:cs typeface="Calibri" pitchFamily="34" charset="-120"/>
              </a:rPr>
              <a:t> de </a:t>
            </a:r>
            <a:r>
              <a:rPr lang="en-US" sz="1300" dirty="0" err="1">
                <a:solidFill>
                  <a:schemeClr val="bg2"/>
                </a:solidFill>
                <a:latin typeface="Calibri" pitchFamily="34" charset="0"/>
                <a:ea typeface="Calibri" pitchFamily="34" charset="-122"/>
                <a:cs typeface="Calibri" pitchFamily="34" charset="-120"/>
              </a:rPr>
              <a:t>vendedores</a:t>
            </a:r>
            <a:r>
              <a:rPr lang="en-US" sz="1300" dirty="0">
                <a:solidFill>
                  <a:schemeClr val="bg2"/>
                </a:solidFill>
                <a:latin typeface="Calibri" pitchFamily="34" charset="0"/>
                <a:ea typeface="Calibri" pitchFamily="34" charset="-122"/>
                <a:cs typeface="Calibri" pitchFamily="34" charset="-120"/>
              </a:rPr>
              <a:t> e </a:t>
            </a:r>
            <a:r>
              <a:rPr lang="en-US" sz="1300" dirty="0" err="1">
                <a:solidFill>
                  <a:schemeClr val="bg2"/>
                </a:solidFill>
                <a:latin typeface="Calibri" pitchFamily="34" charset="0"/>
                <a:ea typeface="Calibri" pitchFamily="34" charset="-122"/>
                <a:cs typeface="Calibri" pitchFamily="34" charset="-120"/>
              </a:rPr>
              <a:t>estrutura</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logística</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consolidada</a:t>
            </a:r>
            <a:r>
              <a:rPr lang="en-US" sz="1300" dirty="0">
                <a:solidFill>
                  <a:schemeClr val="bg2"/>
                </a:solidFill>
                <a:latin typeface="Calibri" pitchFamily="34" charset="0"/>
                <a:ea typeface="Calibri" pitchFamily="34" charset="-122"/>
                <a:cs typeface="Calibri" pitchFamily="34" charset="-120"/>
              </a:rPr>
              <a:t>. Em </a:t>
            </a:r>
            <a:r>
              <a:rPr lang="en-US" sz="1300" dirty="0" err="1">
                <a:solidFill>
                  <a:schemeClr val="bg2"/>
                </a:solidFill>
                <a:latin typeface="Calibri" pitchFamily="34" charset="0"/>
                <a:ea typeface="Calibri" pitchFamily="34" charset="-122"/>
                <a:cs typeface="Calibri" pitchFamily="34" charset="-120"/>
              </a:rPr>
              <a:t>contrapartida</a:t>
            </a:r>
            <a:r>
              <a:rPr lang="en-US" sz="1300" dirty="0">
                <a:solidFill>
                  <a:schemeClr val="bg2"/>
                </a:solidFill>
                <a:latin typeface="Calibri" pitchFamily="34" charset="0"/>
                <a:ea typeface="Calibri" pitchFamily="34" charset="-122"/>
                <a:cs typeface="Calibri" pitchFamily="34" charset="-120"/>
              </a:rPr>
              <a:t>, as </a:t>
            </a:r>
            <a:r>
              <a:rPr lang="en-US" sz="1300" dirty="0" err="1">
                <a:solidFill>
                  <a:schemeClr val="bg2"/>
                </a:solidFill>
                <a:latin typeface="Calibri" pitchFamily="34" charset="0"/>
                <a:ea typeface="Calibri" pitchFamily="34" charset="-122"/>
                <a:cs typeface="Calibri" pitchFamily="34" charset="-120"/>
              </a:rPr>
              <a:t>regiões</a:t>
            </a:r>
            <a:r>
              <a:rPr lang="en-US" sz="1300" dirty="0">
                <a:solidFill>
                  <a:schemeClr val="bg2"/>
                </a:solidFill>
                <a:latin typeface="Calibri" pitchFamily="34" charset="0"/>
                <a:ea typeface="Calibri" pitchFamily="34" charset="-122"/>
                <a:cs typeface="Calibri" pitchFamily="34" charset="-120"/>
              </a:rPr>
              <a:t> Nordeste e Norte </a:t>
            </a:r>
            <a:r>
              <a:rPr lang="en-US" sz="1300" dirty="0" err="1">
                <a:solidFill>
                  <a:schemeClr val="bg2"/>
                </a:solidFill>
                <a:latin typeface="Calibri" pitchFamily="34" charset="0"/>
                <a:ea typeface="Calibri" pitchFamily="34" charset="-122"/>
                <a:cs typeface="Calibri" pitchFamily="34" charset="-120"/>
              </a:rPr>
              <a:t>possuem</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maior</a:t>
            </a:r>
            <a:r>
              <a:rPr lang="en-US" sz="1300" dirty="0">
                <a:solidFill>
                  <a:schemeClr val="bg2"/>
                </a:solidFill>
                <a:latin typeface="Calibri" pitchFamily="34" charset="0"/>
                <a:ea typeface="Calibri" pitchFamily="34" charset="-122"/>
                <a:cs typeface="Calibri" pitchFamily="34" charset="-120"/>
              </a:rPr>
              <a:t> ticket </a:t>
            </a:r>
            <a:r>
              <a:rPr lang="en-US" sz="1300" dirty="0" err="1">
                <a:solidFill>
                  <a:schemeClr val="bg2"/>
                </a:solidFill>
                <a:latin typeface="Calibri" pitchFamily="34" charset="0"/>
                <a:ea typeface="Calibri" pitchFamily="34" charset="-122"/>
                <a:cs typeface="Calibri" pitchFamily="34" charset="-120"/>
              </a:rPr>
              <a:t>médio</a:t>
            </a:r>
            <a:r>
              <a:rPr lang="en-US" sz="1300" dirty="0">
                <a:solidFill>
                  <a:schemeClr val="bg2"/>
                </a:solidFill>
                <a:latin typeface="Calibri" pitchFamily="34" charset="0"/>
                <a:ea typeface="Calibri" pitchFamily="34" charset="-122"/>
                <a:cs typeface="Calibri" pitchFamily="34" charset="-120"/>
              </a:rPr>
              <a:t> e grande </a:t>
            </a:r>
            <a:r>
              <a:rPr lang="en-US" sz="1300" dirty="0" err="1">
                <a:solidFill>
                  <a:schemeClr val="bg2"/>
                </a:solidFill>
                <a:latin typeface="Calibri" pitchFamily="34" charset="0"/>
                <a:ea typeface="Calibri" pitchFamily="34" charset="-122"/>
                <a:cs typeface="Calibri" pitchFamily="34" charset="-120"/>
              </a:rPr>
              <a:t>potencial</a:t>
            </a:r>
            <a:r>
              <a:rPr lang="en-US" sz="1300" dirty="0">
                <a:solidFill>
                  <a:schemeClr val="bg2"/>
                </a:solidFill>
                <a:latin typeface="Calibri" pitchFamily="34" charset="0"/>
                <a:ea typeface="Calibri" pitchFamily="34" charset="-122"/>
                <a:cs typeface="Calibri" pitchFamily="34" charset="-120"/>
              </a:rPr>
              <a:t> a ser </a:t>
            </a:r>
            <a:r>
              <a:rPr lang="en-US" sz="1300" dirty="0" err="1">
                <a:solidFill>
                  <a:schemeClr val="bg2"/>
                </a:solidFill>
                <a:latin typeface="Calibri" pitchFamily="34" charset="0"/>
                <a:ea typeface="Calibri" pitchFamily="34" charset="-122"/>
                <a:cs typeface="Calibri" pitchFamily="34" charset="-120"/>
              </a:rPr>
              <a:t>explorado</a:t>
            </a:r>
            <a:r>
              <a:rPr lang="en-US" sz="1300" dirty="0">
                <a:solidFill>
                  <a:schemeClr val="bg2"/>
                </a:solidFill>
                <a:latin typeface="Calibri" pitchFamily="34" charset="0"/>
                <a:ea typeface="Calibri" pitchFamily="34" charset="-122"/>
                <a:cs typeface="Calibri" pitchFamily="34" charset="-120"/>
              </a:rPr>
              <a:t>. O </a:t>
            </a:r>
            <a:r>
              <a:rPr lang="en-US" sz="1300" dirty="0" err="1">
                <a:solidFill>
                  <a:schemeClr val="bg2"/>
                </a:solidFill>
                <a:latin typeface="Calibri" pitchFamily="34" charset="0"/>
                <a:ea typeface="Calibri" pitchFamily="34" charset="-122"/>
                <a:cs typeface="Calibri" pitchFamily="34" charset="-120"/>
              </a:rPr>
              <a:t>investimento</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nessas</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regiões</a:t>
            </a:r>
            <a:r>
              <a:rPr lang="en-US" sz="1300" dirty="0">
                <a:solidFill>
                  <a:schemeClr val="bg2"/>
                </a:solidFill>
                <a:latin typeface="Calibri" pitchFamily="34" charset="0"/>
                <a:ea typeface="Calibri" pitchFamily="34" charset="-122"/>
                <a:cs typeface="Calibri" pitchFamily="34" charset="-120"/>
              </a:rPr>
              <a:t> é </a:t>
            </a:r>
            <a:r>
              <a:rPr lang="en-US" sz="1300" dirty="0" err="1">
                <a:solidFill>
                  <a:schemeClr val="bg2"/>
                </a:solidFill>
                <a:latin typeface="Calibri" pitchFamily="34" charset="0"/>
                <a:ea typeface="Calibri" pitchFamily="34" charset="-122"/>
                <a:cs typeface="Calibri" pitchFamily="34" charset="-120"/>
              </a:rPr>
              <a:t>estratégico</a:t>
            </a:r>
            <a:r>
              <a:rPr lang="en-US" sz="1300" dirty="0">
                <a:solidFill>
                  <a:schemeClr val="bg2"/>
                </a:solidFill>
                <a:latin typeface="Calibri" pitchFamily="34" charset="0"/>
                <a:ea typeface="Calibri" pitchFamily="34" charset="-122"/>
                <a:cs typeface="Calibri" pitchFamily="34" charset="-120"/>
              </a:rPr>
              <a:t> para </a:t>
            </a:r>
            <a:r>
              <a:rPr lang="en-US" sz="1300" dirty="0" err="1">
                <a:solidFill>
                  <a:schemeClr val="bg2"/>
                </a:solidFill>
                <a:latin typeface="Calibri" pitchFamily="34" charset="0"/>
                <a:ea typeface="Calibri" pitchFamily="34" charset="-122"/>
                <a:cs typeface="Calibri" pitchFamily="34" charset="-120"/>
              </a:rPr>
              <a:t>alavancar</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receitas</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considerando</a:t>
            </a:r>
            <a:r>
              <a:rPr lang="en-US" sz="1300" dirty="0">
                <a:solidFill>
                  <a:schemeClr val="bg2"/>
                </a:solidFill>
                <a:latin typeface="Calibri" pitchFamily="34" charset="0"/>
                <a:ea typeface="Calibri" pitchFamily="34" charset="-122"/>
                <a:cs typeface="Calibri" pitchFamily="34" charset="-120"/>
              </a:rPr>
              <a:t> o mercado </a:t>
            </a:r>
            <a:r>
              <a:rPr lang="en-US" sz="1300" dirty="0" err="1">
                <a:solidFill>
                  <a:schemeClr val="bg2"/>
                </a:solidFill>
                <a:latin typeface="Calibri" pitchFamily="34" charset="0"/>
                <a:ea typeface="Calibri" pitchFamily="34" charset="-122"/>
                <a:cs typeface="Calibri" pitchFamily="34" charset="-120"/>
              </a:rPr>
              <a:t>potencial</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menor</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concorrência</a:t>
            </a:r>
            <a:r>
              <a:rPr lang="en-US" sz="1300" dirty="0">
                <a:solidFill>
                  <a:schemeClr val="bg2"/>
                </a:solidFill>
                <a:latin typeface="Calibri" pitchFamily="34" charset="0"/>
                <a:ea typeface="Calibri" pitchFamily="34" charset="-122"/>
                <a:cs typeface="Calibri" pitchFamily="34" charset="-120"/>
              </a:rPr>
              <a:t> e </a:t>
            </a:r>
            <a:r>
              <a:rPr lang="en-US" sz="1300" dirty="0" err="1">
                <a:solidFill>
                  <a:schemeClr val="bg2"/>
                </a:solidFill>
                <a:latin typeface="Calibri" pitchFamily="34" charset="0"/>
                <a:ea typeface="Calibri" pitchFamily="34" charset="-122"/>
                <a:cs typeface="Calibri" pitchFamily="34" charset="-120"/>
              </a:rPr>
              <a:t>melhor</a:t>
            </a:r>
            <a:r>
              <a:rPr lang="en-US" sz="1300" dirty="0">
                <a:solidFill>
                  <a:schemeClr val="bg2"/>
                </a:solidFill>
                <a:latin typeface="Calibri" pitchFamily="34" charset="0"/>
                <a:ea typeface="Calibri" pitchFamily="34" charset="-122"/>
                <a:cs typeface="Calibri" pitchFamily="34" charset="-120"/>
              </a:rPr>
              <a:t> ticket </a:t>
            </a:r>
            <a:r>
              <a:rPr lang="en-US" sz="1300" dirty="0" err="1">
                <a:solidFill>
                  <a:schemeClr val="bg2"/>
                </a:solidFill>
                <a:latin typeface="Calibri" pitchFamily="34" charset="0"/>
                <a:ea typeface="Calibri" pitchFamily="34" charset="-122"/>
                <a:cs typeface="Calibri" pitchFamily="34" charset="-120"/>
              </a:rPr>
              <a:t>médio</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por</a:t>
            </a:r>
            <a:r>
              <a:rPr lang="en-US" sz="1300" dirty="0">
                <a:solidFill>
                  <a:schemeClr val="bg2"/>
                </a:solidFill>
                <a:latin typeface="Calibri" pitchFamily="34" charset="0"/>
                <a:ea typeface="Calibri" pitchFamily="34" charset="-122"/>
                <a:cs typeface="Calibri" pitchFamily="34" charset="-120"/>
              </a:rPr>
              <a:t> ter </a:t>
            </a:r>
            <a:r>
              <a:rPr lang="en-US" sz="1300" dirty="0" err="1">
                <a:solidFill>
                  <a:schemeClr val="bg2"/>
                </a:solidFill>
                <a:latin typeface="Calibri" pitchFamily="34" charset="0"/>
                <a:ea typeface="Calibri" pitchFamily="34" charset="-122"/>
                <a:cs typeface="Calibri" pitchFamily="34" charset="-120"/>
              </a:rPr>
              <a:t>menor</a:t>
            </a:r>
            <a:r>
              <a:rPr lang="en-US" sz="1300" dirty="0">
                <a:solidFill>
                  <a:schemeClr val="bg2"/>
                </a:solidFill>
                <a:latin typeface="Calibri" pitchFamily="34" charset="0"/>
                <a:ea typeface="Calibri" pitchFamily="34" charset="-122"/>
                <a:cs typeface="Calibri" pitchFamily="34" charset="-120"/>
              </a:rPr>
              <a:t> </a:t>
            </a:r>
            <a:r>
              <a:rPr lang="en-US" sz="1300" dirty="0" err="1">
                <a:solidFill>
                  <a:schemeClr val="bg2"/>
                </a:solidFill>
                <a:latin typeface="Calibri" pitchFamily="34" charset="0"/>
                <a:ea typeface="Calibri" pitchFamily="34" charset="-122"/>
                <a:cs typeface="Calibri" pitchFamily="34" charset="-120"/>
              </a:rPr>
              <a:t>guerra</a:t>
            </a:r>
            <a:r>
              <a:rPr lang="en-US" sz="1300" dirty="0">
                <a:solidFill>
                  <a:schemeClr val="bg2"/>
                </a:solidFill>
                <a:latin typeface="Calibri" pitchFamily="34" charset="0"/>
                <a:ea typeface="Calibri" pitchFamily="34" charset="-122"/>
                <a:cs typeface="Calibri" pitchFamily="34" charset="-120"/>
              </a:rPr>
              <a:t> de </a:t>
            </a:r>
            <a:r>
              <a:rPr lang="en-US" sz="1300" dirty="0" err="1">
                <a:solidFill>
                  <a:schemeClr val="bg2"/>
                </a:solidFill>
                <a:latin typeface="Calibri" pitchFamily="34" charset="0"/>
                <a:ea typeface="Calibri" pitchFamily="34" charset="-122"/>
                <a:cs typeface="Calibri" pitchFamily="34" charset="-120"/>
              </a:rPr>
              <a:t>preços</a:t>
            </a:r>
            <a:r>
              <a:rPr lang="en-US" sz="1300" dirty="0">
                <a:solidFill>
                  <a:schemeClr val="bg2"/>
                </a:solidFill>
                <a:latin typeface="Calibri" pitchFamily="34" charset="0"/>
                <a:ea typeface="Calibri" pitchFamily="34" charset="-122"/>
                <a:cs typeface="Calibri" pitchFamily="34" charset="-120"/>
              </a:rPr>
              <a:t>. </a:t>
            </a:r>
            <a:endParaRPr lang="en-US" sz="1300" dirty="0">
              <a:solidFill>
                <a:schemeClr val="bg2"/>
              </a:solidFill>
            </a:endParaRPr>
          </a:p>
        </p:txBody>
      </p:sp>
      <p:sp>
        <p:nvSpPr>
          <p:cNvPr id="8" name="Text 5">
            <a:extLst>
              <a:ext uri="{FF2B5EF4-FFF2-40B4-BE49-F238E27FC236}">
                <a16:creationId xmlns:a16="http://schemas.microsoft.com/office/drawing/2014/main" id="{7DBA0918-9D52-4716-F41E-65C10E7AB8E4}"/>
              </a:ext>
            </a:extLst>
          </p:cNvPr>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472"/>
                </a:solidFill>
                <a:latin typeface="Calibri" pitchFamily="34" charset="0"/>
                <a:ea typeface="Calibri" pitchFamily="34" charset="-122"/>
                <a:cs typeface="Calibri" pitchFamily="34" charset="-120"/>
              </a:rPr>
              <a:t>Relatório Executivo — Case Olist</a:t>
            </a:r>
            <a:endParaRPr lang="en-US" sz="900" dirty="0"/>
          </a:p>
        </p:txBody>
      </p:sp>
      <p:sp>
        <p:nvSpPr>
          <p:cNvPr id="9" name="Text 6">
            <a:extLst>
              <a:ext uri="{FF2B5EF4-FFF2-40B4-BE49-F238E27FC236}">
                <a16:creationId xmlns:a16="http://schemas.microsoft.com/office/drawing/2014/main" id="{FBAB27D8-7192-F227-A4E9-C48C51834C42}"/>
              </a:ext>
            </a:extLst>
          </p:cNvPr>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pic>
        <p:nvPicPr>
          <p:cNvPr id="13" name="Imagem 12">
            <a:extLst>
              <a:ext uri="{FF2B5EF4-FFF2-40B4-BE49-F238E27FC236}">
                <a16:creationId xmlns:a16="http://schemas.microsoft.com/office/drawing/2014/main" id="{F1C40078-DC0E-9AD9-90D4-59C96DF0CC99}"/>
              </a:ext>
            </a:extLst>
          </p:cNvPr>
          <p:cNvPicPr>
            <a:picLocks noChangeAspect="1"/>
          </p:cNvPicPr>
          <p:nvPr/>
        </p:nvPicPr>
        <p:blipFill>
          <a:blip r:embed="rId3"/>
          <a:stretch>
            <a:fillRect/>
          </a:stretch>
        </p:blipFill>
        <p:spPr>
          <a:xfrm>
            <a:off x="1767840" y="1374978"/>
            <a:ext cx="9205068" cy="321734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932320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A6D4A-FB82-4EBC-A722-856EFF56C48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780F1B8-39B1-02BF-DB05-10EC7AFC6522}"/>
              </a:ext>
            </a:extLst>
          </p:cNvPr>
          <p:cNvSpPr/>
          <p:nvPr/>
        </p:nvSpPr>
        <p:spPr>
          <a:xfrm>
            <a:off x="548640" y="658368"/>
            <a:ext cx="10789920" cy="640080"/>
          </a:xfrm>
          <a:prstGeom prst="rect">
            <a:avLst/>
          </a:prstGeom>
          <a:noFill/>
          <a:ln/>
        </p:spPr>
        <p:txBody>
          <a:bodyPr wrap="square" rtlCol="0" anchor="ctr"/>
          <a:lstStyle/>
          <a:p>
            <a:pPr marL="0" indent="0">
              <a:buNone/>
            </a:pPr>
            <a:r>
              <a:rPr lang="en-US" sz="2800" b="1" dirty="0" err="1">
                <a:solidFill>
                  <a:srgbClr val="ED145B"/>
                </a:solidFill>
                <a:latin typeface="Cambria" pitchFamily="34" charset="0"/>
                <a:ea typeface="Cambria" pitchFamily="34" charset="-122"/>
              </a:rPr>
              <a:t>Oportunidades</a:t>
            </a:r>
            <a:r>
              <a:rPr lang="en-US" sz="2800" b="1" dirty="0">
                <a:solidFill>
                  <a:srgbClr val="ED145B"/>
                </a:solidFill>
                <a:latin typeface="Cambria" pitchFamily="34" charset="0"/>
                <a:ea typeface="Cambria" pitchFamily="34" charset="-122"/>
              </a:rPr>
              <a:t> - </a:t>
            </a:r>
            <a:r>
              <a:rPr lang="en-US" sz="2800" b="1" dirty="0" err="1">
                <a:solidFill>
                  <a:srgbClr val="ED145B"/>
                </a:solidFill>
                <a:latin typeface="Cambria" pitchFamily="34" charset="0"/>
                <a:ea typeface="Cambria" pitchFamily="34" charset="-122"/>
              </a:rPr>
              <a:t>Regiões</a:t>
            </a:r>
            <a:r>
              <a:rPr lang="en-US" sz="2800" b="1" dirty="0">
                <a:solidFill>
                  <a:srgbClr val="ED145B"/>
                </a:solidFill>
                <a:latin typeface="Cambria" pitchFamily="34" charset="0"/>
                <a:ea typeface="Cambria" pitchFamily="34" charset="-122"/>
              </a:rPr>
              <a:t> Nordeste e Norte</a:t>
            </a:r>
            <a:endParaRPr lang="en-US" sz="2800" dirty="0">
              <a:solidFill>
                <a:srgbClr val="ED145B"/>
              </a:solidFill>
            </a:endParaRPr>
          </a:p>
        </p:txBody>
      </p:sp>
      <p:sp>
        <p:nvSpPr>
          <p:cNvPr id="4" name="Text 2">
            <a:extLst>
              <a:ext uri="{FF2B5EF4-FFF2-40B4-BE49-F238E27FC236}">
                <a16:creationId xmlns:a16="http://schemas.microsoft.com/office/drawing/2014/main" id="{2EDCC895-BBE6-FF50-05D4-167E5E2E30CC}"/>
              </a:ext>
            </a:extLst>
          </p:cNvPr>
          <p:cNvSpPr/>
          <p:nvPr/>
        </p:nvSpPr>
        <p:spPr>
          <a:xfrm>
            <a:off x="548640" y="1600200"/>
            <a:ext cx="5486400" cy="365760"/>
          </a:xfrm>
          <a:prstGeom prst="rect">
            <a:avLst/>
          </a:prstGeom>
          <a:noFill/>
          <a:ln/>
        </p:spPr>
        <p:txBody>
          <a:bodyPr wrap="square" rtlCol="0" anchor="ctr"/>
          <a:lstStyle/>
          <a:p>
            <a:pPr marL="0" indent="0">
              <a:buNone/>
            </a:pPr>
            <a:r>
              <a:rPr lang="en-US" sz="1500" b="1" dirty="0">
                <a:solidFill>
                  <a:srgbClr val="ED145B"/>
                </a:solidFill>
                <a:latin typeface="Calibri" pitchFamily="34" charset="0"/>
                <a:ea typeface="Calibri" pitchFamily="34" charset="-122"/>
                <a:cs typeface="Calibri" pitchFamily="34" charset="-120"/>
              </a:rPr>
              <a:t>Sobre a base analisada</a:t>
            </a:r>
            <a:endParaRPr lang="en-US" sz="1500" dirty="0">
              <a:solidFill>
                <a:srgbClr val="ED145B"/>
              </a:solidFill>
            </a:endParaRPr>
          </a:p>
        </p:txBody>
      </p:sp>
      <p:sp>
        <p:nvSpPr>
          <p:cNvPr id="5" name="Text 3">
            <a:extLst>
              <a:ext uri="{FF2B5EF4-FFF2-40B4-BE49-F238E27FC236}">
                <a16:creationId xmlns:a16="http://schemas.microsoft.com/office/drawing/2014/main" id="{0E9A4867-C2A5-6FB5-F110-F328C1B9A0AF}"/>
              </a:ext>
            </a:extLst>
          </p:cNvPr>
          <p:cNvSpPr/>
          <p:nvPr/>
        </p:nvSpPr>
        <p:spPr>
          <a:xfrm>
            <a:off x="548640" y="1993392"/>
            <a:ext cx="5623560" cy="1554480"/>
          </a:xfrm>
          <a:prstGeom prst="rect">
            <a:avLst/>
          </a:prstGeom>
          <a:noFill/>
          <a:ln/>
        </p:spPr>
        <p:txBody>
          <a:bodyPr wrap="square" rtlCol="0" anchor="t"/>
          <a:lstStyle/>
          <a:p>
            <a:pPr>
              <a:lnSpc>
                <a:spcPct val="125000"/>
              </a:lnSpc>
            </a:pPr>
            <a:r>
              <a:rPr lang="pt-BR" sz="1300" dirty="0">
                <a:solidFill>
                  <a:srgbClr val="1C1C1C"/>
                </a:solidFill>
                <a:latin typeface="Calibri" pitchFamily="34" charset="0"/>
                <a:ea typeface="Calibri" pitchFamily="34" charset="-122"/>
                <a:cs typeface="Calibri" pitchFamily="34" charset="-120"/>
              </a:rPr>
              <a:t>Analisando a grande concentração geográfica (73,9% da receita em apenas 5 estados - SP, RJ, MG, RS, PR) e o risco de dependência regional, consideramos válido realizar investimentos em centros de distribuição (CD) e estrutura logística nas regiões Nordeste e Norte, pois:</a:t>
            </a:r>
          </a:p>
          <a:p>
            <a:pPr>
              <a:lnSpc>
                <a:spcPct val="125000"/>
              </a:lnSpc>
            </a:pPr>
            <a:endParaRPr lang="pt-BR" sz="1300" dirty="0">
              <a:solidFill>
                <a:srgbClr val="1C1C1C"/>
              </a:solidFill>
              <a:latin typeface="Calibri" pitchFamily="34" charset="0"/>
              <a:ea typeface="Calibri" pitchFamily="34" charset="-122"/>
              <a:cs typeface="Calibri" pitchFamily="34" charset="-120"/>
            </a:endParaRPr>
          </a:p>
          <a:p>
            <a:pPr>
              <a:lnSpc>
                <a:spcPct val="125000"/>
              </a:lnSpc>
            </a:pPr>
            <a:endParaRPr lang="en-US" sz="1300" dirty="0"/>
          </a:p>
        </p:txBody>
      </p:sp>
      <p:grpSp>
        <p:nvGrpSpPr>
          <p:cNvPr id="28" name="Agrupar 27">
            <a:extLst>
              <a:ext uri="{FF2B5EF4-FFF2-40B4-BE49-F238E27FC236}">
                <a16:creationId xmlns:a16="http://schemas.microsoft.com/office/drawing/2014/main" id="{83F2C0EB-0211-CE4A-8C80-82C0028197CC}"/>
              </a:ext>
            </a:extLst>
          </p:cNvPr>
          <p:cNvGrpSpPr/>
          <p:nvPr/>
        </p:nvGrpSpPr>
        <p:grpSpPr>
          <a:xfrm>
            <a:off x="871789" y="3311949"/>
            <a:ext cx="5074920" cy="2977861"/>
            <a:chOff x="871789" y="3199041"/>
            <a:chExt cx="5074920" cy="2977861"/>
          </a:xfrm>
        </p:grpSpPr>
        <p:sp>
          <p:nvSpPr>
            <p:cNvPr id="13" name="Shape 11">
              <a:extLst>
                <a:ext uri="{FF2B5EF4-FFF2-40B4-BE49-F238E27FC236}">
                  <a16:creationId xmlns:a16="http://schemas.microsoft.com/office/drawing/2014/main" id="{B99716F8-7F52-AFC0-8F28-44591FB63AC2}"/>
                </a:ext>
              </a:extLst>
            </p:cNvPr>
            <p:cNvSpPr/>
            <p:nvPr/>
          </p:nvSpPr>
          <p:spPr>
            <a:xfrm>
              <a:off x="871789" y="3199041"/>
              <a:ext cx="5074920" cy="2977861"/>
            </a:xfrm>
            <a:prstGeom prst="roundRect">
              <a:avLst>
                <a:gd name="adj" fmla="val 1684"/>
              </a:avLst>
            </a:prstGeom>
            <a:solidFill>
              <a:schemeClr val="bg2">
                <a:lumMod val="10000"/>
              </a:schemeClr>
            </a:solidFill>
            <a:ln/>
          </p:spPr>
          <p:txBody>
            <a:bodyPr/>
            <a:lstStyle/>
            <a:p>
              <a:endParaRPr lang="pt-BR">
                <a:solidFill>
                  <a:schemeClr val="bg2"/>
                </a:solidFill>
              </a:endParaRPr>
            </a:p>
          </p:txBody>
        </p:sp>
        <p:sp>
          <p:nvSpPr>
            <p:cNvPr id="7" name="Shape 5">
              <a:extLst>
                <a:ext uri="{FF2B5EF4-FFF2-40B4-BE49-F238E27FC236}">
                  <a16:creationId xmlns:a16="http://schemas.microsoft.com/office/drawing/2014/main" id="{EE08A5EE-CF73-4601-0C30-19B01DE70711}"/>
                </a:ext>
              </a:extLst>
            </p:cNvPr>
            <p:cNvSpPr/>
            <p:nvPr/>
          </p:nvSpPr>
          <p:spPr>
            <a:xfrm>
              <a:off x="1082661" y="3655014"/>
              <a:ext cx="109728" cy="109728"/>
            </a:xfrm>
            <a:prstGeom prst="ellipse">
              <a:avLst/>
            </a:prstGeom>
            <a:solidFill>
              <a:schemeClr val="bg2">
                <a:alpha val="30000"/>
              </a:schemeClr>
            </a:solidFill>
            <a:ln>
              <a:noFill/>
            </a:ln>
          </p:spPr>
          <p:txBody>
            <a:bodyPr/>
            <a:lstStyle/>
            <a:p>
              <a:endParaRPr lang="pt-BR"/>
            </a:p>
          </p:txBody>
        </p:sp>
        <p:sp>
          <p:nvSpPr>
            <p:cNvPr id="8" name="Text 6">
              <a:extLst>
                <a:ext uri="{FF2B5EF4-FFF2-40B4-BE49-F238E27FC236}">
                  <a16:creationId xmlns:a16="http://schemas.microsoft.com/office/drawing/2014/main" id="{24B8257D-83DC-375A-6C85-EBF6DB1352DF}"/>
                </a:ext>
              </a:extLst>
            </p:cNvPr>
            <p:cNvSpPr/>
            <p:nvPr/>
          </p:nvSpPr>
          <p:spPr>
            <a:xfrm>
              <a:off x="1356981" y="3341785"/>
              <a:ext cx="4320000" cy="736187"/>
            </a:xfrm>
            <a:prstGeom prst="rect">
              <a:avLst/>
            </a:prstGeom>
            <a:noFill/>
            <a:ln/>
          </p:spPr>
          <p:txBody>
            <a:bodyPr wrap="square" rtlCol="0" anchor="t"/>
            <a:lstStyle/>
            <a:p>
              <a:r>
                <a:rPr lang="pt-BR" sz="1300" dirty="0">
                  <a:solidFill>
                    <a:schemeClr val="bg2"/>
                  </a:solidFill>
                  <a:latin typeface="Calibri" pitchFamily="34" charset="0"/>
                  <a:ea typeface="Calibri" pitchFamily="34" charset="-122"/>
                  <a:cs typeface="Calibri" pitchFamily="34" charset="-120"/>
                </a:rPr>
                <a:t>O investimento nessas regiões é estratégico para expansão do negócio, considerando o mercado potencial, melhor ticket médio e menor concorrência, gerando menor guerra de preços. </a:t>
              </a:r>
            </a:p>
          </p:txBody>
        </p:sp>
        <p:sp>
          <p:nvSpPr>
            <p:cNvPr id="9" name="Shape 7">
              <a:extLst>
                <a:ext uri="{FF2B5EF4-FFF2-40B4-BE49-F238E27FC236}">
                  <a16:creationId xmlns:a16="http://schemas.microsoft.com/office/drawing/2014/main" id="{E91D3C15-380A-8FF2-BD43-560CE5D6FA7C}"/>
                </a:ext>
              </a:extLst>
            </p:cNvPr>
            <p:cNvSpPr/>
            <p:nvPr/>
          </p:nvSpPr>
          <p:spPr>
            <a:xfrm>
              <a:off x="1082661" y="4492815"/>
              <a:ext cx="109728" cy="109728"/>
            </a:xfrm>
            <a:prstGeom prst="ellipse">
              <a:avLst/>
            </a:prstGeom>
            <a:solidFill>
              <a:schemeClr val="bg2">
                <a:alpha val="30000"/>
              </a:schemeClr>
            </a:solidFill>
            <a:ln>
              <a:noFill/>
            </a:ln>
          </p:spPr>
          <p:txBody>
            <a:bodyPr/>
            <a:lstStyle/>
            <a:p>
              <a:endParaRPr lang="pt-BR"/>
            </a:p>
          </p:txBody>
        </p:sp>
        <p:sp>
          <p:nvSpPr>
            <p:cNvPr id="10" name="Text 8">
              <a:extLst>
                <a:ext uri="{FF2B5EF4-FFF2-40B4-BE49-F238E27FC236}">
                  <a16:creationId xmlns:a16="http://schemas.microsoft.com/office/drawing/2014/main" id="{842E9EBF-7DE1-1DA3-72C6-809F42CBFEBB}"/>
                </a:ext>
              </a:extLst>
            </p:cNvPr>
            <p:cNvSpPr/>
            <p:nvPr/>
          </p:nvSpPr>
          <p:spPr>
            <a:xfrm>
              <a:off x="1356981" y="4364799"/>
              <a:ext cx="4320000" cy="502920"/>
            </a:xfrm>
            <a:prstGeom prst="rect">
              <a:avLst/>
            </a:prstGeom>
            <a:noFill/>
            <a:ln/>
          </p:spPr>
          <p:txBody>
            <a:bodyPr wrap="square" rtlCol="0" anchor="t"/>
            <a:lstStyle/>
            <a:p>
              <a:r>
                <a:rPr lang="pt-BR" sz="1300" dirty="0">
                  <a:solidFill>
                    <a:schemeClr val="bg2"/>
                  </a:solidFill>
                  <a:latin typeface="Calibri" pitchFamily="34" charset="0"/>
                  <a:ea typeface="Calibri" pitchFamily="34" charset="-122"/>
                  <a:cs typeface="Calibri" pitchFamily="34" charset="-120"/>
                </a:rPr>
                <a:t>Conforme exposto anteriormente, entregar no prazo prometido está diretamente relacionado ao aumento da satisfação e à fidelização do cliente.</a:t>
              </a:r>
              <a:endParaRPr lang="en-US" sz="1300" dirty="0">
                <a:solidFill>
                  <a:schemeClr val="bg2"/>
                </a:solidFill>
              </a:endParaRPr>
            </a:p>
          </p:txBody>
        </p:sp>
        <p:sp>
          <p:nvSpPr>
            <p:cNvPr id="11" name="Shape 9">
              <a:extLst>
                <a:ext uri="{FF2B5EF4-FFF2-40B4-BE49-F238E27FC236}">
                  <a16:creationId xmlns:a16="http://schemas.microsoft.com/office/drawing/2014/main" id="{8587FB10-74C0-B556-F31E-3B7D59C43DD0}"/>
                </a:ext>
              </a:extLst>
            </p:cNvPr>
            <p:cNvSpPr/>
            <p:nvPr/>
          </p:nvSpPr>
          <p:spPr>
            <a:xfrm>
              <a:off x="1082661" y="5403855"/>
              <a:ext cx="109728" cy="109728"/>
            </a:xfrm>
            <a:prstGeom prst="ellipse">
              <a:avLst/>
            </a:prstGeom>
            <a:solidFill>
              <a:schemeClr val="bg2">
                <a:alpha val="30000"/>
              </a:schemeClr>
            </a:solidFill>
            <a:ln>
              <a:noFill/>
            </a:ln>
          </p:spPr>
          <p:txBody>
            <a:bodyPr/>
            <a:lstStyle/>
            <a:p>
              <a:endParaRPr lang="pt-BR"/>
            </a:p>
          </p:txBody>
        </p:sp>
        <p:sp>
          <p:nvSpPr>
            <p:cNvPr id="12" name="Text 10">
              <a:extLst>
                <a:ext uri="{FF2B5EF4-FFF2-40B4-BE49-F238E27FC236}">
                  <a16:creationId xmlns:a16="http://schemas.microsoft.com/office/drawing/2014/main" id="{E8397ECA-7440-30D8-65D6-41601091925E}"/>
                </a:ext>
              </a:extLst>
            </p:cNvPr>
            <p:cNvSpPr/>
            <p:nvPr/>
          </p:nvSpPr>
          <p:spPr>
            <a:xfrm>
              <a:off x="1356981" y="5275839"/>
              <a:ext cx="4320000" cy="573180"/>
            </a:xfrm>
            <a:prstGeom prst="rect">
              <a:avLst/>
            </a:prstGeom>
            <a:noFill/>
            <a:ln/>
          </p:spPr>
          <p:txBody>
            <a:bodyPr wrap="square" rtlCol="0" anchor="t"/>
            <a:lstStyle/>
            <a:p>
              <a:r>
                <a:rPr lang="pt-BR" sz="1300" dirty="0">
                  <a:solidFill>
                    <a:schemeClr val="bg2"/>
                  </a:solidFill>
                  <a:latin typeface="Calibri" pitchFamily="34" charset="0"/>
                  <a:ea typeface="Calibri" pitchFamily="34" charset="-122"/>
                  <a:cs typeface="Calibri" pitchFamily="34" charset="-120"/>
                </a:rPr>
                <a:t>Iniciar ofertando especialmente produtos das 10 categorias estratégicas, que concentram 62,4% de toda a receita da base analisada.</a:t>
              </a:r>
              <a:endParaRPr lang="en-US" sz="1300" dirty="0">
                <a:solidFill>
                  <a:schemeClr val="bg2"/>
                </a:solidFill>
              </a:endParaRPr>
            </a:p>
          </p:txBody>
        </p:sp>
      </p:grpSp>
      <p:sp>
        <p:nvSpPr>
          <p:cNvPr id="26" name="Text 24">
            <a:extLst>
              <a:ext uri="{FF2B5EF4-FFF2-40B4-BE49-F238E27FC236}">
                <a16:creationId xmlns:a16="http://schemas.microsoft.com/office/drawing/2014/main" id="{1925CF9B-239C-A6F5-98C4-8AA708B3CD1B}"/>
              </a:ext>
            </a:extLst>
          </p:cNvPr>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472"/>
                </a:solidFill>
                <a:latin typeface="Calibri" pitchFamily="34" charset="0"/>
                <a:ea typeface="Calibri" pitchFamily="34" charset="-122"/>
                <a:cs typeface="Calibri" pitchFamily="34" charset="-120"/>
              </a:rPr>
              <a:t>Relatório Executivo — Case Olist</a:t>
            </a:r>
            <a:endParaRPr lang="en-US" sz="900" dirty="0"/>
          </a:p>
        </p:txBody>
      </p:sp>
      <p:sp>
        <p:nvSpPr>
          <p:cNvPr id="27" name="Text 25">
            <a:extLst>
              <a:ext uri="{FF2B5EF4-FFF2-40B4-BE49-F238E27FC236}">
                <a16:creationId xmlns:a16="http://schemas.microsoft.com/office/drawing/2014/main" id="{C5324222-0473-C88E-51F1-7ED121EC67B9}"/>
              </a:ext>
            </a:extLst>
          </p:cNvPr>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pic>
        <p:nvPicPr>
          <p:cNvPr id="29" name="Imagem 28">
            <a:extLst>
              <a:ext uri="{FF2B5EF4-FFF2-40B4-BE49-F238E27FC236}">
                <a16:creationId xmlns:a16="http://schemas.microsoft.com/office/drawing/2014/main" id="{1EC52F05-8F64-D9F7-BA32-36E3692F6D49}"/>
              </a:ext>
            </a:extLst>
          </p:cNvPr>
          <p:cNvPicPr>
            <a:picLocks noChangeAspect="1"/>
          </p:cNvPicPr>
          <p:nvPr/>
        </p:nvPicPr>
        <p:blipFill>
          <a:blip r:embed="rId3"/>
          <a:stretch>
            <a:fillRect/>
          </a:stretch>
        </p:blipFill>
        <p:spPr>
          <a:xfrm>
            <a:off x="7237196" y="1182574"/>
            <a:ext cx="4265956" cy="4127091"/>
          </a:xfrm>
          <a:prstGeom prst="rect">
            <a:avLst/>
          </a:prstGeom>
        </p:spPr>
      </p:pic>
    </p:spTree>
    <p:extLst>
      <p:ext uri="{BB962C8B-B14F-4D97-AF65-F5344CB8AC3E}">
        <p14:creationId xmlns:p14="http://schemas.microsoft.com/office/powerpoint/2010/main" val="4038352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a:extLst>
            <a:ext uri="{FF2B5EF4-FFF2-40B4-BE49-F238E27FC236}">
              <a16:creationId xmlns:a16="http://schemas.microsoft.com/office/drawing/2014/main" id="{E6DF9C8F-7604-DE0C-67CC-8C815B2F2FB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0245724-F1FB-6B94-DF8A-B11FAE0A5112}"/>
              </a:ext>
            </a:extLst>
          </p:cNvPr>
          <p:cNvSpPr/>
          <p:nvPr/>
        </p:nvSpPr>
        <p:spPr>
          <a:xfrm>
            <a:off x="548640" y="731520"/>
            <a:ext cx="11094720" cy="640080"/>
          </a:xfrm>
          <a:prstGeom prst="rect">
            <a:avLst/>
          </a:prstGeom>
          <a:noFill/>
          <a:ln/>
        </p:spPr>
        <p:txBody>
          <a:bodyPr wrap="square" rtlCol="0" anchor="ctr"/>
          <a:lstStyle/>
          <a:p>
            <a:pPr marL="0" indent="0">
              <a:buNone/>
            </a:pPr>
            <a:r>
              <a:rPr lang="en-US" sz="3000" b="1" dirty="0" err="1">
                <a:solidFill>
                  <a:srgbClr val="ED145B"/>
                </a:solidFill>
                <a:latin typeface="Cambria" pitchFamily="34" charset="0"/>
                <a:ea typeface="Cambria" pitchFamily="34" charset="-122"/>
                <a:cs typeface="Cambria" pitchFamily="34" charset="-120"/>
              </a:rPr>
              <a:t>Recomendações</a:t>
            </a:r>
            <a:r>
              <a:rPr lang="en-US" sz="3000" b="1" dirty="0">
                <a:solidFill>
                  <a:srgbClr val="ED145B"/>
                </a:solidFill>
                <a:latin typeface="Cambria" pitchFamily="34" charset="0"/>
                <a:ea typeface="Cambria" pitchFamily="34" charset="-122"/>
                <a:cs typeface="Cambria" pitchFamily="34" charset="-120"/>
              </a:rPr>
              <a:t> de </a:t>
            </a:r>
            <a:r>
              <a:rPr lang="en-US" sz="3000" b="1" u="sng" dirty="0" err="1">
                <a:solidFill>
                  <a:srgbClr val="ED145B"/>
                </a:solidFill>
                <a:latin typeface="Cambria" pitchFamily="34" charset="0"/>
                <a:ea typeface="Cambria" pitchFamily="34" charset="-122"/>
                <a:cs typeface="Cambria" pitchFamily="34" charset="-120"/>
              </a:rPr>
              <a:t>médio</a:t>
            </a:r>
            <a:r>
              <a:rPr lang="en-US" sz="3000" b="1" u="sng" dirty="0">
                <a:solidFill>
                  <a:srgbClr val="ED145B"/>
                </a:solidFill>
                <a:latin typeface="Cambria" pitchFamily="34" charset="0"/>
                <a:ea typeface="Cambria" pitchFamily="34" charset="-122"/>
                <a:cs typeface="Cambria" pitchFamily="34" charset="-120"/>
              </a:rPr>
              <a:t> </a:t>
            </a:r>
            <a:r>
              <a:rPr lang="en-US" sz="3000" b="1" u="sng" dirty="0" err="1">
                <a:solidFill>
                  <a:srgbClr val="ED145B"/>
                </a:solidFill>
                <a:latin typeface="Cambria" pitchFamily="34" charset="0"/>
                <a:ea typeface="Cambria" pitchFamily="34" charset="-122"/>
                <a:cs typeface="Cambria" pitchFamily="34" charset="-120"/>
              </a:rPr>
              <a:t>prazo</a:t>
            </a:r>
            <a:r>
              <a:rPr lang="en-US" sz="3000" b="1" dirty="0">
                <a:solidFill>
                  <a:srgbClr val="ED145B"/>
                </a:solidFill>
                <a:latin typeface="Cambria" pitchFamily="34" charset="0"/>
                <a:ea typeface="Cambria" pitchFamily="34" charset="-122"/>
                <a:cs typeface="Cambria" pitchFamily="34" charset="-120"/>
              </a:rPr>
              <a:t> para </a:t>
            </a:r>
            <a:r>
              <a:rPr lang="en-US" sz="3000" b="1" u="sng" dirty="0" err="1">
                <a:solidFill>
                  <a:srgbClr val="ED145B"/>
                </a:solidFill>
                <a:latin typeface="Cambria" pitchFamily="34" charset="0"/>
                <a:ea typeface="Cambria" pitchFamily="34" charset="-122"/>
                <a:cs typeface="Cambria" pitchFamily="34" charset="-120"/>
              </a:rPr>
              <a:t>expansão</a:t>
            </a:r>
            <a:r>
              <a:rPr lang="en-US" sz="3000" b="1" dirty="0">
                <a:solidFill>
                  <a:srgbClr val="ED145B"/>
                </a:solidFill>
                <a:latin typeface="Cambria" pitchFamily="34" charset="0"/>
                <a:ea typeface="Cambria" pitchFamily="34" charset="-122"/>
                <a:cs typeface="Cambria" pitchFamily="34" charset="-120"/>
              </a:rPr>
              <a:t> do </a:t>
            </a:r>
            <a:r>
              <a:rPr lang="en-US" sz="3000" b="1" dirty="0" err="1">
                <a:solidFill>
                  <a:srgbClr val="ED145B"/>
                </a:solidFill>
                <a:latin typeface="Cambria" pitchFamily="34" charset="0"/>
                <a:ea typeface="Cambria" pitchFamily="34" charset="-122"/>
                <a:cs typeface="Cambria" pitchFamily="34" charset="-120"/>
              </a:rPr>
              <a:t>negócio</a:t>
            </a:r>
            <a:endParaRPr lang="en-US" sz="3000" dirty="0">
              <a:solidFill>
                <a:srgbClr val="ED145B"/>
              </a:solidFill>
            </a:endParaRPr>
          </a:p>
        </p:txBody>
      </p:sp>
      <p:sp>
        <p:nvSpPr>
          <p:cNvPr id="4" name="Shape 2">
            <a:extLst>
              <a:ext uri="{FF2B5EF4-FFF2-40B4-BE49-F238E27FC236}">
                <a16:creationId xmlns:a16="http://schemas.microsoft.com/office/drawing/2014/main" id="{19833386-F06A-A064-D3B6-C29182D21DBD}"/>
              </a:ext>
            </a:extLst>
          </p:cNvPr>
          <p:cNvSpPr/>
          <p:nvPr/>
        </p:nvSpPr>
        <p:spPr>
          <a:xfrm>
            <a:off x="548640" y="1691640"/>
            <a:ext cx="5440680" cy="1417320"/>
          </a:xfrm>
          <a:prstGeom prst="roundRect">
            <a:avLst>
              <a:gd name="adj" fmla="val 5161"/>
            </a:avLst>
          </a:prstGeom>
          <a:solidFill>
            <a:srgbClr val="000000"/>
          </a:solidFill>
          <a:ln w="12700">
            <a:solidFill>
              <a:schemeClr val="bg2"/>
            </a:solidFill>
            <a:prstDash val="solid"/>
          </a:ln>
        </p:spPr>
        <p:txBody>
          <a:bodyPr/>
          <a:lstStyle/>
          <a:p>
            <a:endParaRPr lang="pt-BR"/>
          </a:p>
        </p:txBody>
      </p:sp>
      <p:sp>
        <p:nvSpPr>
          <p:cNvPr id="5" name="Shape 3">
            <a:extLst>
              <a:ext uri="{FF2B5EF4-FFF2-40B4-BE49-F238E27FC236}">
                <a16:creationId xmlns:a16="http://schemas.microsoft.com/office/drawing/2014/main" id="{63F69031-93CC-4285-D41F-7E180E858D93}"/>
              </a:ext>
            </a:extLst>
          </p:cNvPr>
          <p:cNvSpPr/>
          <p:nvPr/>
        </p:nvSpPr>
        <p:spPr>
          <a:xfrm>
            <a:off x="749808" y="1892808"/>
            <a:ext cx="457200" cy="457200"/>
          </a:xfrm>
          <a:prstGeom prst="ellipse">
            <a:avLst/>
          </a:prstGeom>
          <a:solidFill>
            <a:srgbClr val="ED145B"/>
          </a:solidFill>
          <a:ln/>
        </p:spPr>
        <p:txBody>
          <a:bodyPr/>
          <a:lstStyle/>
          <a:p>
            <a:endParaRPr lang="pt-BR">
              <a:solidFill>
                <a:schemeClr val="bg2">
                  <a:lumMod val="10000"/>
                </a:schemeClr>
              </a:solidFill>
            </a:endParaRPr>
          </a:p>
        </p:txBody>
      </p:sp>
      <p:sp>
        <p:nvSpPr>
          <p:cNvPr id="6" name="Text 4">
            <a:extLst>
              <a:ext uri="{FF2B5EF4-FFF2-40B4-BE49-F238E27FC236}">
                <a16:creationId xmlns:a16="http://schemas.microsoft.com/office/drawing/2014/main" id="{90D58024-5851-E7DF-35F3-9A5265B9B465}"/>
              </a:ext>
            </a:extLst>
          </p:cNvPr>
          <p:cNvSpPr/>
          <p:nvPr/>
        </p:nvSpPr>
        <p:spPr>
          <a:xfrm>
            <a:off x="749808" y="1892808"/>
            <a:ext cx="457200" cy="457200"/>
          </a:xfrm>
          <a:prstGeom prst="rect">
            <a:avLst/>
          </a:prstGeom>
          <a:noFill/>
          <a:ln/>
        </p:spPr>
        <p:txBody>
          <a:bodyPr wrap="square" rtlCol="0" anchor="ctr"/>
          <a:lstStyle/>
          <a:p>
            <a:pPr marL="0" indent="0" algn="ctr">
              <a:buNone/>
            </a:pPr>
            <a:r>
              <a:rPr lang="en-US" sz="1600" b="1" dirty="0">
                <a:solidFill>
                  <a:schemeClr val="bg2">
                    <a:lumMod val="10000"/>
                  </a:schemeClr>
                </a:solidFill>
                <a:latin typeface="Cambria" pitchFamily="34" charset="0"/>
                <a:ea typeface="Cambria" pitchFamily="34" charset="-122"/>
                <a:cs typeface="Cambria" pitchFamily="34" charset="-120"/>
              </a:rPr>
              <a:t>1</a:t>
            </a:r>
            <a:endParaRPr lang="en-US" sz="1600" dirty="0">
              <a:solidFill>
                <a:schemeClr val="bg2">
                  <a:lumMod val="10000"/>
                </a:schemeClr>
              </a:solidFill>
            </a:endParaRPr>
          </a:p>
        </p:txBody>
      </p:sp>
      <p:sp>
        <p:nvSpPr>
          <p:cNvPr id="7" name="Text 5">
            <a:extLst>
              <a:ext uri="{FF2B5EF4-FFF2-40B4-BE49-F238E27FC236}">
                <a16:creationId xmlns:a16="http://schemas.microsoft.com/office/drawing/2014/main" id="{D840B60C-2C4E-20A9-544A-F3D3712CD2DC}"/>
              </a:ext>
            </a:extLst>
          </p:cNvPr>
          <p:cNvSpPr/>
          <p:nvPr/>
        </p:nvSpPr>
        <p:spPr>
          <a:xfrm>
            <a:off x="1371600" y="1837944"/>
            <a:ext cx="4434840" cy="411480"/>
          </a:xfrm>
          <a:prstGeom prst="rect">
            <a:avLst/>
          </a:prstGeom>
          <a:noFill/>
          <a:ln/>
        </p:spPr>
        <p:txBody>
          <a:bodyPr wrap="square" rtlCol="0" anchor="t"/>
          <a:lstStyle/>
          <a:p>
            <a:pPr marL="0" indent="0">
              <a:buNone/>
            </a:pPr>
            <a:r>
              <a:rPr lang="en-US" sz="1350" b="1" dirty="0" err="1">
                <a:solidFill>
                  <a:srgbClr val="FFFFFF"/>
                </a:solidFill>
                <a:latin typeface="Calibri" pitchFamily="34" charset="0"/>
                <a:ea typeface="Calibri" pitchFamily="34" charset="-122"/>
                <a:cs typeface="Calibri" pitchFamily="34" charset="-120"/>
              </a:rPr>
              <a:t>Priorizar</a:t>
            </a:r>
            <a:r>
              <a:rPr lang="en-US" sz="1350" b="1" dirty="0">
                <a:solidFill>
                  <a:srgbClr val="FFFFFF"/>
                </a:solidFill>
                <a:latin typeface="Calibri" pitchFamily="34" charset="0"/>
                <a:ea typeface="Calibri" pitchFamily="34" charset="-122"/>
                <a:cs typeface="Calibri" pitchFamily="34" charset="-120"/>
              </a:rPr>
              <a:t> </a:t>
            </a:r>
            <a:r>
              <a:rPr lang="en-US" sz="1350" b="1" dirty="0" err="1">
                <a:solidFill>
                  <a:srgbClr val="FFFFFF"/>
                </a:solidFill>
                <a:latin typeface="Calibri" pitchFamily="34" charset="0"/>
                <a:ea typeface="Calibri" pitchFamily="34" charset="-122"/>
                <a:cs typeface="Calibri" pitchFamily="34" charset="-120"/>
              </a:rPr>
              <a:t>regiões</a:t>
            </a:r>
            <a:r>
              <a:rPr lang="en-US" sz="1350" b="1" dirty="0">
                <a:solidFill>
                  <a:srgbClr val="FFFFFF"/>
                </a:solidFill>
                <a:latin typeface="Calibri" pitchFamily="34" charset="0"/>
                <a:ea typeface="Calibri" pitchFamily="34" charset="-122"/>
                <a:cs typeface="Calibri" pitchFamily="34" charset="-120"/>
              </a:rPr>
              <a:t> Norte e Nordeste</a:t>
            </a:r>
            <a:endParaRPr lang="en-US" sz="1350" dirty="0"/>
          </a:p>
        </p:txBody>
      </p:sp>
      <p:sp>
        <p:nvSpPr>
          <p:cNvPr id="8" name="Text 6">
            <a:extLst>
              <a:ext uri="{FF2B5EF4-FFF2-40B4-BE49-F238E27FC236}">
                <a16:creationId xmlns:a16="http://schemas.microsoft.com/office/drawing/2014/main" id="{15DD2E03-02F4-086E-5DCB-20F2732A98E7}"/>
              </a:ext>
            </a:extLst>
          </p:cNvPr>
          <p:cNvSpPr/>
          <p:nvPr/>
        </p:nvSpPr>
        <p:spPr>
          <a:xfrm>
            <a:off x="1371600" y="2258568"/>
            <a:ext cx="4434840" cy="777240"/>
          </a:xfrm>
          <a:prstGeom prst="rect">
            <a:avLst/>
          </a:prstGeom>
          <a:noFill/>
          <a:ln/>
        </p:spPr>
        <p:txBody>
          <a:bodyPr wrap="square" rtlCol="0" anchor="t"/>
          <a:lstStyle/>
          <a:p>
            <a:pPr marL="0" indent="0">
              <a:lnSpc>
                <a:spcPct val="115000"/>
              </a:lnSpc>
              <a:buNone/>
            </a:pPr>
            <a:r>
              <a:rPr lang="en-US" sz="1050" dirty="0">
                <a:solidFill>
                  <a:schemeClr val="bg2"/>
                </a:solidFill>
                <a:latin typeface="Calibri" pitchFamily="34" charset="0"/>
                <a:ea typeface="Calibri" pitchFamily="34" charset="-122"/>
                <a:cs typeface="Calibri" pitchFamily="34" charset="-120"/>
              </a:rPr>
              <a:t>Maior ticket </a:t>
            </a:r>
            <a:r>
              <a:rPr lang="en-US" sz="1050" dirty="0" err="1">
                <a:solidFill>
                  <a:schemeClr val="bg2"/>
                </a:solidFill>
                <a:latin typeface="Calibri" pitchFamily="34" charset="0"/>
                <a:ea typeface="Calibri" pitchFamily="34" charset="-122"/>
                <a:cs typeface="Calibri" pitchFamily="34" charset="-120"/>
              </a:rPr>
              <a:t>médio</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menor</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concorrência</a:t>
            </a:r>
            <a:r>
              <a:rPr lang="en-US" sz="1050" dirty="0">
                <a:solidFill>
                  <a:schemeClr val="bg2"/>
                </a:solidFill>
                <a:latin typeface="Calibri" pitchFamily="34" charset="0"/>
                <a:ea typeface="Calibri" pitchFamily="34" charset="-122"/>
                <a:cs typeface="Calibri" pitchFamily="34" charset="-120"/>
              </a:rPr>
              <a:t>. Grande mercado </a:t>
            </a:r>
            <a:r>
              <a:rPr lang="en-US" sz="1050" dirty="0" err="1">
                <a:solidFill>
                  <a:schemeClr val="bg2"/>
                </a:solidFill>
                <a:latin typeface="Calibri" pitchFamily="34" charset="0"/>
                <a:ea typeface="Calibri" pitchFamily="34" charset="-122"/>
                <a:cs typeface="Calibri" pitchFamily="34" charset="-120"/>
              </a:rPr>
              <a:t>poretncial</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em</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expansão</a:t>
            </a:r>
            <a:r>
              <a:rPr lang="en-US" sz="1050" dirty="0">
                <a:solidFill>
                  <a:schemeClr val="bg2"/>
                </a:solidFill>
                <a:latin typeface="Calibri" pitchFamily="34" charset="0"/>
                <a:ea typeface="Calibri" pitchFamily="34" charset="-122"/>
                <a:cs typeface="Calibri" pitchFamily="34" charset="-120"/>
              </a:rPr>
              <a:t>.</a:t>
            </a:r>
            <a:endParaRPr lang="en-US" sz="1050" dirty="0">
              <a:solidFill>
                <a:schemeClr val="bg2"/>
              </a:solidFill>
            </a:endParaRPr>
          </a:p>
        </p:txBody>
      </p:sp>
      <p:sp>
        <p:nvSpPr>
          <p:cNvPr id="9" name="Shape 7">
            <a:extLst>
              <a:ext uri="{FF2B5EF4-FFF2-40B4-BE49-F238E27FC236}">
                <a16:creationId xmlns:a16="http://schemas.microsoft.com/office/drawing/2014/main" id="{A47AECDB-A9B9-6E36-BE15-1270DAB5CD0A}"/>
              </a:ext>
            </a:extLst>
          </p:cNvPr>
          <p:cNvSpPr/>
          <p:nvPr/>
        </p:nvSpPr>
        <p:spPr>
          <a:xfrm>
            <a:off x="6261774" y="1691640"/>
            <a:ext cx="5440680" cy="1417320"/>
          </a:xfrm>
          <a:prstGeom prst="roundRect">
            <a:avLst>
              <a:gd name="adj" fmla="val 5161"/>
            </a:avLst>
          </a:prstGeom>
          <a:solidFill>
            <a:srgbClr val="000000"/>
          </a:solidFill>
          <a:ln w="12700">
            <a:solidFill>
              <a:schemeClr val="bg2"/>
            </a:solidFill>
            <a:prstDash val="solid"/>
          </a:ln>
        </p:spPr>
        <p:txBody>
          <a:bodyPr/>
          <a:lstStyle/>
          <a:p>
            <a:endParaRPr lang="pt-BR"/>
          </a:p>
        </p:txBody>
      </p:sp>
      <p:sp>
        <p:nvSpPr>
          <p:cNvPr id="10" name="Shape 8">
            <a:extLst>
              <a:ext uri="{FF2B5EF4-FFF2-40B4-BE49-F238E27FC236}">
                <a16:creationId xmlns:a16="http://schemas.microsoft.com/office/drawing/2014/main" id="{3FC5E0A9-FC8A-AA2B-55B0-F91D764A19E3}"/>
              </a:ext>
            </a:extLst>
          </p:cNvPr>
          <p:cNvSpPr/>
          <p:nvPr/>
        </p:nvSpPr>
        <p:spPr>
          <a:xfrm>
            <a:off x="6464808" y="1892808"/>
            <a:ext cx="457200" cy="457200"/>
          </a:xfrm>
          <a:prstGeom prst="ellipse">
            <a:avLst/>
          </a:prstGeom>
          <a:solidFill>
            <a:srgbClr val="ED145B"/>
          </a:solidFill>
          <a:ln/>
        </p:spPr>
        <p:txBody>
          <a:bodyPr/>
          <a:lstStyle/>
          <a:p>
            <a:endParaRPr lang="pt-BR">
              <a:solidFill>
                <a:schemeClr val="bg2">
                  <a:lumMod val="10000"/>
                </a:schemeClr>
              </a:solidFill>
            </a:endParaRPr>
          </a:p>
        </p:txBody>
      </p:sp>
      <p:sp>
        <p:nvSpPr>
          <p:cNvPr id="11" name="Text 9">
            <a:extLst>
              <a:ext uri="{FF2B5EF4-FFF2-40B4-BE49-F238E27FC236}">
                <a16:creationId xmlns:a16="http://schemas.microsoft.com/office/drawing/2014/main" id="{35269994-F4D7-2CEA-32DD-31FFF3734DF7}"/>
              </a:ext>
            </a:extLst>
          </p:cNvPr>
          <p:cNvSpPr/>
          <p:nvPr/>
        </p:nvSpPr>
        <p:spPr>
          <a:xfrm>
            <a:off x="6464808" y="1892808"/>
            <a:ext cx="457200" cy="457200"/>
          </a:xfrm>
          <a:prstGeom prst="rect">
            <a:avLst/>
          </a:prstGeom>
          <a:noFill/>
          <a:ln/>
        </p:spPr>
        <p:txBody>
          <a:bodyPr wrap="square" rtlCol="0" anchor="ctr"/>
          <a:lstStyle/>
          <a:p>
            <a:pPr marL="0" indent="0" algn="ctr">
              <a:buNone/>
            </a:pPr>
            <a:r>
              <a:rPr lang="en-US" sz="1600" b="1" dirty="0">
                <a:solidFill>
                  <a:schemeClr val="bg2">
                    <a:lumMod val="10000"/>
                  </a:schemeClr>
                </a:solidFill>
                <a:latin typeface="Cambria" pitchFamily="34" charset="0"/>
                <a:ea typeface="Cambria" pitchFamily="34" charset="-122"/>
                <a:cs typeface="Cambria" pitchFamily="34" charset="-120"/>
              </a:rPr>
              <a:t>2</a:t>
            </a:r>
            <a:endParaRPr lang="en-US" sz="1600" dirty="0">
              <a:solidFill>
                <a:schemeClr val="bg2">
                  <a:lumMod val="10000"/>
                </a:schemeClr>
              </a:solidFill>
            </a:endParaRPr>
          </a:p>
        </p:txBody>
      </p:sp>
      <p:sp>
        <p:nvSpPr>
          <p:cNvPr id="12" name="Text 10">
            <a:extLst>
              <a:ext uri="{FF2B5EF4-FFF2-40B4-BE49-F238E27FC236}">
                <a16:creationId xmlns:a16="http://schemas.microsoft.com/office/drawing/2014/main" id="{4ABC0FD4-0C98-6C82-4180-8B599F34C3C3}"/>
              </a:ext>
            </a:extLst>
          </p:cNvPr>
          <p:cNvSpPr/>
          <p:nvPr/>
        </p:nvSpPr>
        <p:spPr>
          <a:xfrm>
            <a:off x="7086600" y="1837944"/>
            <a:ext cx="4434840" cy="411480"/>
          </a:xfrm>
          <a:prstGeom prst="rect">
            <a:avLst/>
          </a:prstGeom>
          <a:noFill/>
          <a:ln/>
        </p:spPr>
        <p:txBody>
          <a:bodyPr wrap="square" rtlCol="0" anchor="t"/>
          <a:lstStyle/>
          <a:p>
            <a:r>
              <a:rPr lang="en-US" sz="1350" b="1" dirty="0" err="1">
                <a:solidFill>
                  <a:srgbClr val="FFFFFF"/>
                </a:solidFill>
                <a:latin typeface="Calibri" pitchFamily="34" charset="0"/>
                <a:ea typeface="Calibri" pitchFamily="34" charset="-122"/>
                <a:cs typeface="Calibri" pitchFamily="34" charset="-120"/>
              </a:rPr>
              <a:t>Investir</a:t>
            </a:r>
            <a:r>
              <a:rPr lang="en-US" sz="1350" b="1" dirty="0">
                <a:solidFill>
                  <a:srgbClr val="FFFFFF"/>
                </a:solidFill>
                <a:latin typeface="Calibri" pitchFamily="34" charset="0"/>
                <a:ea typeface="Calibri" pitchFamily="34" charset="-122"/>
                <a:cs typeface="Calibri" pitchFamily="34" charset="-120"/>
              </a:rPr>
              <a:t> </a:t>
            </a:r>
            <a:r>
              <a:rPr lang="en-US" sz="1350" b="1" dirty="0" err="1">
                <a:solidFill>
                  <a:srgbClr val="FFFFFF"/>
                </a:solidFill>
                <a:latin typeface="Calibri" pitchFamily="34" charset="0"/>
                <a:ea typeface="Calibri" pitchFamily="34" charset="-122"/>
                <a:cs typeface="Calibri" pitchFamily="34" charset="-120"/>
              </a:rPr>
              <a:t>em</a:t>
            </a:r>
            <a:r>
              <a:rPr lang="en-US" sz="1350" b="1" dirty="0">
                <a:solidFill>
                  <a:srgbClr val="FFFFFF"/>
                </a:solidFill>
                <a:latin typeface="Calibri" pitchFamily="34" charset="0"/>
                <a:ea typeface="Calibri" pitchFamily="34" charset="-122"/>
                <a:cs typeface="Calibri" pitchFamily="34" charset="-120"/>
              </a:rPr>
              <a:t> SLA </a:t>
            </a:r>
            <a:r>
              <a:rPr lang="en-US" sz="1350" b="1" dirty="0" err="1">
                <a:solidFill>
                  <a:srgbClr val="FFFFFF"/>
                </a:solidFill>
                <a:latin typeface="Calibri" pitchFamily="34" charset="0"/>
                <a:ea typeface="Calibri" pitchFamily="34" charset="-122"/>
                <a:cs typeface="Calibri" pitchFamily="34" charset="-120"/>
              </a:rPr>
              <a:t>logístico</a:t>
            </a:r>
            <a:endParaRPr lang="en-US" sz="1350" dirty="0"/>
          </a:p>
        </p:txBody>
      </p:sp>
      <p:sp>
        <p:nvSpPr>
          <p:cNvPr id="13" name="Text 11">
            <a:extLst>
              <a:ext uri="{FF2B5EF4-FFF2-40B4-BE49-F238E27FC236}">
                <a16:creationId xmlns:a16="http://schemas.microsoft.com/office/drawing/2014/main" id="{4C9A68FF-6702-C87C-E838-41D48B4607E0}"/>
              </a:ext>
            </a:extLst>
          </p:cNvPr>
          <p:cNvSpPr/>
          <p:nvPr/>
        </p:nvSpPr>
        <p:spPr>
          <a:xfrm>
            <a:off x="7086600" y="2258568"/>
            <a:ext cx="4434840" cy="777240"/>
          </a:xfrm>
          <a:prstGeom prst="rect">
            <a:avLst/>
          </a:prstGeom>
          <a:noFill/>
          <a:ln/>
        </p:spPr>
        <p:txBody>
          <a:bodyPr wrap="square" rtlCol="0" anchor="t"/>
          <a:lstStyle/>
          <a:p>
            <a:pPr marL="0" indent="0">
              <a:lnSpc>
                <a:spcPct val="115000"/>
              </a:lnSpc>
              <a:buNone/>
            </a:pPr>
            <a:r>
              <a:rPr lang="en-US" sz="1050" dirty="0" err="1">
                <a:solidFill>
                  <a:schemeClr val="bg2"/>
                </a:solidFill>
                <a:latin typeface="Calibri" pitchFamily="34" charset="0"/>
                <a:ea typeface="Calibri" pitchFamily="34" charset="-122"/>
                <a:cs typeface="Calibri" pitchFamily="34" charset="-120"/>
              </a:rPr>
              <a:t>Concentrar</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investimentos</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em</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logística</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própria</a:t>
            </a:r>
            <a:r>
              <a:rPr lang="en-US" sz="1050" dirty="0">
                <a:solidFill>
                  <a:schemeClr val="bg2"/>
                </a:solidFill>
                <a:latin typeface="Calibri" pitchFamily="34" charset="0"/>
                <a:ea typeface="Calibri" pitchFamily="34" charset="-122"/>
                <a:cs typeface="Calibri" pitchFamily="34" charset="-120"/>
              </a:rPr>
              <a:t> e </a:t>
            </a:r>
            <a:r>
              <a:rPr lang="en-US" sz="1050" dirty="0" err="1">
                <a:solidFill>
                  <a:schemeClr val="bg2"/>
                </a:solidFill>
                <a:latin typeface="Calibri" pitchFamily="34" charset="0"/>
                <a:ea typeface="Calibri" pitchFamily="34" charset="-122"/>
                <a:cs typeface="Calibri" pitchFamily="34" charset="-120"/>
              </a:rPr>
              <a:t>parceria</a:t>
            </a:r>
            <a:r>
              <a:rPr lang="en-US" sz="1050" dirty="0">
                <a:solidFill>
                  <a:schemeClr val="bg2"/>
                </a:solidFill>
                <a:latin typeface="Calibri" pitchFamily="34" charset="0"/>
                <a:ea typeface="Calibri" pitchFamily="34" charset="-122"/>
                <a:cs typeface="Calibri" pitchFamily="34" charset="-120"/>
              </a:rPr>
              <a:t> com </a:t>
            </a:r>
            <a:r>
              <a:rPr lang="en-US" sz="1050" dirty="0" err="1">
                <a:solidFill>
                  <a:schemeClr val="bg2"/>
                </a:solidFill>
                <a:latin typeface="Calibri" pitchFamily="34" charset="0"/>
                <a:ea typeface="Calibri" pitchFamily="34" charset="-122"/>
                <a:cs typeface="Calibri" pitchFamily="34" charset="-120"/>
              </a:rPr>
              <a:t>transportadoras</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locais</a:t>
            </a:r>
            <a:r>
              <a:rPr lang="en-US" sz="1050" dirty="0">
                <a:solidFill>
                  <a:schemeClr val="bg2"/>
                </a:solidFill>
                <a:latin typeface="Calibri" pitchFamily="34" charset="0"/>
                <a:ea typeface="Calibri" pitchFamily="34" charset="-122"/>
                <a:cs typeface="Calibri" pitchFamily="34" charset="-120"/>
              </a:rPr>
              <a:t>.</a:t>
            </a:r>
            <a:endParaRPr lang="en-US" sz="1050" dirty="0">
              <a:solidFill>
                <a:schemeClr val="bg2"/>
              </a:solidFill>
            </a:endParaRPr>
          </a:p>
        </p:txBody>
      </p:sp>
      <p:sp>
        <p:nvSpPr>
          <p:cNvPr id="14" name="Shape 12">
            <a:extLst>
              <a:ext uri="{FF2B5EF4-FFF2-40B4-BE49-F238E27FC236}">
                <a16:creationId xmlns:a16="http://schemas.microsoft.com/office/drawing/2014/main" id="{020EBD8B-5373-F7FE-06AF-A10004857630}"/>
              </a:ext>
            </a:extLst>
          </p:cNvPr>
          <p:cNvSpPr/>
          <p:nvPr/>
        </p:nvSpPr>
        <p:spPr>
          <a:xfrm>
            <a:off x="548640" y="3337560"/>
            <a:ext cx="5440680" cy="1417320"/>
          </a:xfrm>
          <a:prstGeom prst="roundRect">
            <a:avLst>
              <a:gd name="adj" fmla="val 5161"/>
            </a:avLst>
          </a:prstGeom>
          <a:solidFill>
            <a:srgbClr val="000000"/>
          </a:solidFill>
          <a:ln w="12700">
            <a:solidFill>
              <a:schemeClr val="bg2"/>
            </a:solidFill>
            <a:prstDash val="solid"/>
          </a:ln>
        </p:spPr>
        <p:txBody>
          <a:bodyPr/>
          <a:lstStyle/>
          <a:p>
            <a:endParaRPr lang="pt-BR"/>
          </a:p>
        </p:txBody>
      </p:sp>
      <p:sp>
        <p:nvSpPr>
          <p:cNvPr id="15" name="Shape 13">
            <a:extLst>
              <a:ext uri="{FF2B5EF4-FFF2-40B4-BE49-F238E27FC236}">
                <a16:creationId xmlns:a16="http://schemas.microsoft.com/office/drawing/2014/main" id="{2D2D32AD-158D-4BCD-FCE9-ED6D34CD46A8}"/>
              </a:ext>
            </a:extLst>
          </p:cNvPr>
          <p:cNvSpPr/>
          <p:nvPr/>
        </p:nvSpPr>
        <p:spPr>
          <a:xfrm>
            <a:off x="749808" y="3538728"/>
            <a:ext cx="457200" cy="457200"/>
          </a:xfrm>
          <a:prstGeom prst="ellipse">
            <a:avLst/>
          </a:prstGeom>
          <a:solidFill>
            <a:srgbClr val="ED145B"/>
          </a:solidFill>
          <a:ln/>
        </p:spPr>
        <p:txBody>
          <a:bodyPr/>
          <a:lstStyle/>
          <a:p>
            <a:endParaRPr lang="pt-BR">
              <a:solidFill>
                <a:schemeClr val="bg2">
                  <a:lumMod val="10000"/>
                </a:schemeClr>
              </a:solidFill>
            </a:endParaRPr>
          </a:p>
        </p:txBody>
      </p:sp>
      <p:sp>
        <p:nvSpPr>
          <p:cNvPr id="16" name="Text 14">
            <a:extLst>
              <a:ext uri="{FF2B5EF4-FFF2-40B4-BE49-F238E27FC236}">
                <a16:creationId xmlns:a16="http://schemas.microsoft.com/office/drawing/2014/main" id="{9A0D11D4-C305-BDA4-E44D-AB711AA9E14A}"/>
              </a:ext>
            </a:extLst>
          </p:cNvPr>
          <p:cNvSpPr/>
          <p:nvPr/>
        </p:nvSpPr>
        <p:spPr>
          <a:xfrm>
            <a:off x="749808" y="3538728"/>
            <a:ext cx="457200" cy="457200"/>
          </a:xfrm>
          <a:prstGeom prst="rect">
            <a:avLst/>
          </a:prstGeom>
          <a:noFill/>
          <a:ln/>
        </p:spPr>
        <p:txBody>
          <a:bodyPr wrap="square" rtlCol="0" anchor="ctr"/>
          <a:lstStyle/>
          <a:p>
            <a:pPr marL="0" indent="0" algn="ctr">
              <a:buNone/>
            </a:pPr>
            <a:r>
              <a:rPr lang="en-US" sz="1600" b="1" dirty="0">
                <a:solidFill>
                  <a:schemeClr val="bg2">
                    <a:lumMod val="10000"/>
                  </a:schemeClr>
                </a:solidFill>
                <a:latin typeface="Cambria" pitchFamily="34" charset="0"/>
                <a:ea typeface="Cambria" pitchFamily="34" charset="-122"/>
                <a:cs typeface="Cambria" pitchFamily="34" charset="-120"/>
              </a:rPr>
              <a:t>3</a:t>
            </a:r>
            <a:endParaRPr lang="en-US" sz="1600" dirty="0">
              <a:solidFill>
                <a:schemeClr val="bg2">
                  <a:lumMod val="10000"/>
                </a:schemeClr>
              </a:solidFill>
            </a:endParaRPr>
          </a:p>
        </p:txBody>
      </p:sp>
      <p:sp>
        <p:nvSpPr>
          <p:cNvPr id="19" name="Shape 17">
            <a:extLst>
              <a:ext uri="{FF2B5EF4-FFF2-40B4-BE49-F238E27FC236}">
                <a16:creationId xmlns:a16="http://schemas.microsoft.com/office/drawing/2014/main" id="{77FCC3A9-F688-4A45-6D49-A75E6C4F8A57}"/>
              </a:ext>
            </a:extLst>
          </p:cNvPr>
          <p:cNvSpPr/>
          <p:nvPr/>
        </p:nvSpPr>
        <p:spPr>
          <a:xfrm>
            <a:off x="6263640" y="3337560"/>
            <a:ext cx="5440680" cy="1417320"/>
          </a:xfrm>
          <a:prstGeom prst="roundRect">
            <a:avLst>
              <a:gd name="adj" fmla="val 5161"/>
            </a:avLst>
          </a:prstGeom>
          <a:solidFill>
            <a:srgbClr val="000000"/>
          </a:solidFill>
          <a:ln w="12700">
            <a:solidFill>
              <a:schemeClr val="bg2"/>
            </a:solidFill>
            <a:prstDash val="solid"/>
          </a:ln>
        </p:spPr>
        <p:txBody>
          <a:bodyPr/>
          <a:lstStyle/>
          <a:p>
            <a:endParaRPr lang="pt-BR" dirty="0"/>
          </a:p>
        </p:txBody>
      </p:sp>
      <p:sp>
        <p:nvSpPr>
          <p:cNvPr id="20" name="Shape 18">
            <a:extLst>
              <a:ext uri="{FF2B5EF4-FFF2-40B4-BE49-F238E27FC236}">
                <a16:creationId xmlns:a16="http://schemas.microsoft.com/office/drawing/2014/main" id="{37300729-085C-FE35-DD68-D86707098681}"/>
              </a:ext>
            </a:extLst>
          </p:cNvPr>
          <p:cNvSpPr/>
          <p:nvPr/>
        </p:nvSpPr>
        <p:spPr>
          <a:xfrm>
            <a:off x="6464808" y="3538728"/>
            <a:ext cx="457200" cy="457200"/>
          </a:xfrm>
          <a:prstGeom prst="ellipse">
            <a:avLst/>
          </a:prstGeom>
          <a:solidFill>
            <a:srgbClr val="ED145B"/>
          </a:solidFill>
          <a:ln/>
        </p:spPr>
        <p:txBody>
          <a:bodyPr/>
          <a:lstStyle/>
          <a:p>
            <a:endParaRPr lang="pt-BR">
              <a:solidFill>
                <a:schemeClr val="bg2">
                  <a:lumMod val="10000"/>
                </a:schemeClr>
              </a:solidFill>
            </a:endParaRPr>
          </a:p>
        </p:txBody>
      </p:sp>
      <p:sp>
        <p:nvSpPr>
          <p:cNvPr id="21" name="Text 19">
            <a:extLst>
              <a:ext uri="{FF2B5EF4-FFF2-40B4-BE49-F238E27FC236}">
                <a16:creationId xmlns:a16="http://schemas.microsoft.com/office/drawing/2014/main" id="{8F155382-837D-6271-E7A3-83FFC9FCD8FE}"/>
              </a:ext>
            </a:extLst>
          </p:cNvPr>
          <p:cNvSpPr/>
          <p:nvPr/>
        </p:nvSpPr>
        <p:spPr>
          <a:xfrm>
            <a:off x="6464808" y="3538728"/>
            <a:ext cx="457200" cy="457200"/>
          </a:xfrm>
          <a:prstGeom prst="rect">
            <a:avLst/>
          </a:prstGeom>
          <a:noFill/>
          <a:ln/>
        </p:spPr>
        <p:txBody>
          <a:bodyPr wrap="square" rtlCol="0" anchor="ctr"/>
          <a:lstStyle/>
          <a:p>
            <a:pPr marL="0" indent="0" algn="ctr">
              <a:buNone/>
            </a:pPr>
            <a:r>
              <a:rPr lang="en-US" sz="1600" b="1" dirty="0">
                <a:solidFill>
                  <a:schemeClr val="bg2">
                    <a:lumMod val="10000"/>
                  </a:schemeClr>
                </a:solidFill>
                <a:latin typeface="Cambria" pitchFamily="34" charset="0"/>
                <a:ea typeface="Cambria" pitchFamily="34" charset="-122"/>
                <a:cs typeface="Cambria" pitchFamily="34" charset="-120"/>
              </a:rPr>
              <a:t>4</a:t>
            </a:r>
            <a:endParaRPr lang="en-US" sz="1600" dirty="0">
              <a:solidFill>
                <a:schemeClr val="bg2">
                  <a:lumMod val="10000"/>
                </a:schemeClr>
              </a:solidFill>
            </a:endParaRPr>
          </a:p>
        </p:txBody>
      </p:sp>
      <p:sp>
        <p:nvSpPr>
          <p:cNvPr id="22" name="Text 20">
            <a:extLst>
              <a:ext uri="{FF2B5EF4-FFF2-40B4-BE49-F238E27FC236}">
                <a16:creationId xmlns:a16="http://schemas.microsoft.com/office/drawing/2014/main" id="{2FF22FD4-23D6-C031-4373-E672E748B622}"/>
              </a:ext>
            </a:extLst>
          </p:cNvPr>
          <p:cNvSpPr/>
          <p:nvPr/>
        </p:nvSpPr>
        <p:spPr>
          <a:xfrm>
            <a:off x="7086600" y="3483864"/>
            <a:ext cx="4434840" cy="411480"/>
          </a:xfrm>
          <a:prstGeom prst="rect">
            <a:avLst/>
          </a:prstGeom>
          <a:noFill/>
          <a:ln/>
        </p:spPr>
        <p:txBody>
          <a:bodyPr wrap="square" rtlCol="0" anchor="t"/>
          <a:lstStyle/>
          <a:p>
            <a:pPr marL="0" indent="0">
              <a:buNone/>
            </a:pPr>
            <a:r>
              <a:rPr lang="en-US" sz="1350" b="1" dirty="0" err="1">
                <a:solidFill>
                  <a:srgbClr val="FFFFFF"/>
                </a:solidFill>
                <a:latin typeface="Calibri" pitchFamily="34" charset="0"/>
                <a:ea typeface="Calibri" pitchFamily="34" charset="-122"/>
                <a:cs typeface="Calibri" pitchFamily="34" charset="-120"/>
              </a:rPr>
              <a:t>Investir</a:t>
            </a:r>
            <a:r>
              <a:rPr lang="en-US" sz="1350" b="1" dirty="0">
                <a:solidFill>
                  <a:srgbClr val="FFFFFF"/>
                </a:solidFill>
                <a:latin typeface="Calibri" pitchFamily="34" charset="0"/>
                <a:ea typeface="Calibri" pitchFamily="34" charset="-122"/>
                <a:cs typeface="Calibri" pitchFamily="34" charset="-120"/>
              </a:rPr>
              <a:t> </a:t>
            </a:r>
            <a:r>
              <a:rPr lang="en-US" sz="1350" b="1" dirty="0" err="1">
                <a:solidFill>
                  <a:srgbClr val="FFFFFF"/>
                </a:solidFill>
                <a:latin typeface="Calibri" pitchFamily="34" charset="0"/>
                <a:ea typeface="Calibri" pitchFamily="34" charset="-122"/>
                <a:cs typeface="Calibri" pitchFamily="34" charset="-120"/>
              </a:rPr>
              <a:t>em</a:t>
            </a:r>
            <a:r>
              <a:rPr lang="en-US" sz="1350" b="1" dirty="0">
                <a:solidFill>
                  <a:srgbClr val="FFFFFF"/>
                </a:solidFill>
                <a:latin typeface="Calibri" pitchFamily="34" charset="0"/>
                <a:ea typeface="Calibri" pitchFamily="34" charset="-122"/>
                <a:cs typeface="Calibri" pitchFamily="34" charset="-120"/>
              </a:rPr>
              <a:t> Centros de  </a:t>
            </a:r>
            <a:r>
              <a:rPr lang="en-US" sz="1350" b="1" dirty="0" err="1">
                <a:solidFill>
                  <a:srgbClr val="FFFFFF"/>
                </a:solidFill>
                <a:latin typeface="Calibri" pitchFamily="34" charset="0"/>
                <a:ea typeface="Calibri" pitchFamily="34" charset="-122"/>
                <a:cs typeface="Calibri" pitchFamily="34" charset="-120"/>
              </a:rPr>
              <a:t>Distribuição</a:t>
            </a:r>
            <a:endParaRPr lang="en-US" sz="1350" dirty="0"/>
          </a:p>
        </p:txBody>
      </p:sp>
      <p:sp>
        <p:nvSpPr>
          <p:cNvPr id="23" name="Text 21">
            <a:extLst>
              <a:ext uri="{FF2B5EF4-FFF2-40B4-BE49-F238E27FC236}">
                <a16:creationId xmlns:a16="http://schemas.microsoft.com/office/drawing/2014/main" id="{D0A884A1-AFAA-FEFB-7484-B261A6188A92}"/>
              </a:ext>
            </a:extLst>
          </p:cNvPr>
          <p:cNvSpPr/>
          <p:nvPr/>
        </p:nvSpPr>
        <p:spPr>
          <a:xfrm>
            <a:off x="7086600" y="3904488"/>
            <a:ext cx="4434840" cy="777240"/>
          </a:xfrm>
          <a:prstGeom prst="rect">
            <a:avLst/>
          </a:prstGeom>
          <a:noFill/>
          <a:ln/>
        </p:spPr>
        <p:txBody>
          <a:bodyPr wrap="square" rtlCol="0" anchor="t"/>
          <a:lstStyle/>
          <a:p>
            <a:pPr marL="0" indent="0">
              <a:lnSpc>
                <a:spcPct val="115000"/>
              </a:lnSpc>
              <a:buNone/>
            </a:pPr>
            <a:r>
              <a:rPr lang="en-US" sz="1050" dirty="0">
                <a:solidFill>
                  <a:schemeClr val="bg2"/>
                </a:solidFill>
                <a:latin typeface="Calibri" pitchFamily="34" charset="0"/>
                <a:ea typeface="Calibri" pitchFamily="34" charset="-122"/>
                <a:cs typeface="Calibri" pitchFamily="34" charset="-120"/>
              </a:rPr>
              <a:t>Inaugurar CDs </a:t>
            </a:r>
            <a:r>
              <a:rPr lang="en-US" sz="1050" dirty="0" err="1">
                <a:solidFill>
                  <a:schemeClr val="bg2"/>
                </a:solidFill>
                <a:latin typeface="Calibri" pitchFamily="34" charset="0"/>
                <a:ea typeface="Calibri" pitchFamily="34" charset="-122"/>
                <a:cs typeface="Calibri" pitchFamily="34" charset="-120"/>
              </a:rPr>
              <a:t>nas</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regiões</a:t>
            </a:r>
            <a:r>
              <a:rPr lang="en-US" sz="1050" dirty="0">
                <a:solidFill>
                  <a:schemeClr val="bg2"/>
                </a:solidFill>
                <a:latin typeface="Calibri" pitchFamily="34" charset="0"/>
                <a:ea typeface="Calibri" pitchFamily="34" charset="-122"/>
                <a:cs typeface="Calibri" pitchFamily="34" charset="-120"/>
              </a:rPr>
              <a:t> Norte e Nordeste, </a:t>
            </a:r>
            <a:r>
              <a:rPr lang="en-US" sz="1050" dirty="0" err="1">
                <a:solidFill>
                  <a:schemeClr val="bg2"/>
                </a:solidFill>
                <a:latin typeface="Calibri" pitchFamily="34" charset="0"/>
                <a:ea typeface="Calibri" pitchFamily="34" charset="-122"/>
                <a:cs typeface="Calibri" pitchFamily="34" charset="-120"/>
              </a:rPr>
              <a:t>onde</a:t>
            </a:r>
            <a:r>
              <a:rPr lang="en-US" sz="1050" dirty="0">
                <a:solidFill>
                  <a:schemeClr val="bg2"/>
                </a:solidFill>
                <a:latin typeface="Calibri" pitchFamily="34" charset="0"/>
                <a:ea typeface="Calibri" pitchFamily="34" charset="-122"/>
                <a:cs typeface="Calibri" pitchFamily="34" charset="-120"/>
              </a:rPr>
              <a:t> a </a:t>
            </a:r>
            <a:r>
              <a:rPr lang="en-US" sz="1050" dirty="0" err="1">
                <a:solidFill>
                  <a:schemeClr val="bg2"/>
                </a:solidFill>
                <a:latin typeface="Calibri" pitchFamily="34" charset="0"/>
                <a:ea typeface="Calibri" pitchFamily="34" charset="-122"/>
                <a:cs typeface="Calibri" pitchFamily="34" charset="-120"/>
              </a:rPr>
              <a:t>percepção</a:t>
            </a:r>
            <a:r>
              <a:rPr lang="en-US" sz="1050" dirty="0">
                <a:solidFill>
                  <a:schemeClr val="bg2"/>
                </a:solidFill>
                <a:latin typeface="Calibri" pitchFamily="34" charset="0"/>
                <a:ea typeface="Calibri" pitchFamily="34" charset="-122"/>
                <a:cs typeface="Calibri" pitchFamily="34" charset="-120"/>
              </a:rPr>
              <a:t> do </a:t>
            </a:r>
            <a:r>
              <a:rPr lang="en-US" sz="1050" dirty="0" err="1">
                <a:solidFill>
                  <a:schemeClr val="bg2"/>
                </a:solidFill>
                <a:latin typeface="Calibri" pitchFamily="34" charset="0"/>
                <a:ea typeface="Calibri" pitchFamily="34" charset="-122"/>
                <a:cs typeface="Calibri" pitchFamily="34" charset="-120"/>
              </a:rPr>
              <a:t>cliente</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mudará</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facilmente</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por</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receber</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entregas</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mais</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rápidas</a:t>
            </a:r>
            <a:r>
              <a:rPr lang="en-US" sz="1050" dirty="0">
                <a:solidFill>
                  <a:schemeClr val="bg2"/>
                </a:solidFill>
                <a:latin typeface="Calibri" pitchFamily="34" charset="0"/>
                <a:ea typeface="Calibri" pitchFamily="34" charset="-122"/>
                <a:cs typeface="Calibri" pitchFamily="34" charset="-120"/>
              </a:rPr>
              <a:t>.</a:t>
            </a:r>
            <a:endParaRPr lang="en-US" sz="1050" dirty="0">
              <a:solidFill>
                <a:schemeClr val="bg2"/>
              </a:solidFill>
            </a:endParaRPr>
          </a:p>
        </p:txBody>
      </p:sp>
      <p:sp>
        <p:nvSpPr>
          <p:cNvPr id="24" name="Shape 22">
            <a:extLst>
              <a:ext uri="{FF2B5EF4-FFF2-40B4-BE49-F238E27FC236}">
                <a16:creationId xmlns:a16="http://schemas.microsoft.com/office/drawing/2014/main" id="{E798D0F2-467A-7853-AA96-15FA49D401C8}"/>
              </a:ext>
            </a:extLst>
          </p:cNvPr>
          <p:cNvSpPr/>
          <p:nvPr/>
        </p:nvSpPr>
        <p:spPr>
          <a:xfrm>
            <a:off x="548640" y="4983480"/>
            <a:ext cx="5440680" cy="1417320"/>
          </a:xfrm>
          <a:prstGeom prst="roundRect">
            <a:avLst>
              <a:gd name="adj" fmla="val 5161"/>
            </a:avLst>
          </a:prstGeom>
          <a:solidFill>
            <a:srgbClr val="000000"/>
          </a:solidFill>
          <a:ln w="12700">
            <a:solidFill>
              <a:schemeClr val="bg2"/>
            </a:solidFill>
            <a:prstDash val="solid"/>
          </a:ln>
        </p:spPr>
        <p:txBody>
          <a:bodyPr/>
          <a:lstStyle/>
          <a:p>
            <a:endParaRPr lang="pt-BR"/>
          </a:p>
        </p:txBody>
      </p:sp>
      <p:sp>
        <p:nvSpPr>
          <p:cNvPr id="27" name="Text 25">
            <a:extLst>
              <a:ext uri="{FF2B5EF4-FFF2-40B4-BE49-F238E27FC236}">
                <a16:creationId xmlns:a16="http://schemas.microsoft.com/office/drawing/2014/main" id="{110A897E-7AAE-5396-D6CE-6088A04F6855}"/>
              </a:ext>
            </a:extLst>
          </p:cNvPr>
          <p:cNvSpPr/>
          <p:nvPr/>
        </p:nvSpPr>
        <p:spPr>
          <a:xfrm>
            <a:off x="1371600" y="5129784"/>
            <a:ext cx="4434840" cy="411480"/>
          </a:xfrm>
          <a:prstGeom prst="rect">
            <a:avLst/>
          </a:prstGeom>
          <a:noFill/>
          <a:ln/>
        </p:spPr>
        <p:txBody>
          <a:bodyPr wrap="square" rtlCol="0" anchor="t"/>
          <a:lstStyle/>
          <a:p>
            <a:pPr marL="0" indent="0">
              <a:buNone/>
            </a:pPr>
            <a:r>
              <a:rPr lang="en-US" sz="1350" b="1" dirty="0" err="1">
                <a:solidFill>
                  <a:schemeClr val="bg1"/>
                </a:solidFill>
              </a:rPr>
              <a:t>Focar</a:t>
            </a:r>
            <a:r>
              <a:rPr lang="en-US" sz="1350" b="1" dirty="0">
                <a:solidFill>
                  <a:schemeClr val="bg1"/>
                </a:solidFill>
              </a:rPr>
              <a:t> </a:t>
            </a:r>
            <a:r>
              <a:rPr lang="en-US" sz="1350" b="1" dirty="0" err="1">
                <a:solidFill>
                  <a:schemeClr val="bg1"/>
                </a:solidFill>
              </a:rPr>
              <a:t>nos</a:t>
            </a:r>
            <a:r>
              <a:rPr lang="en-US" sz="1350" b="1" dirty="0">
                <a:solidFill>
                  <a:schemeClr val="bg1"/>
                </a:solidFill>
              </a:rPr>
              <a:t> </a:t>
            </a:r>
            <a:r>
              <a:rPr lang="en-US" sz="1350" b="1" dirty="0" err="1">
                <a:solidFill>
                  <a:schemeClr val="bg1"/>
                </a:solidFill>
              </a:rPr>
              <a:t>produtos</a:t>
            </a:r>
            <a:r>
              <a:rPr lang="en-US" sz="1350" b="1" dirty="0">
                <a:solidFill>
                  <a:schemeClr val="bg1"/>
                </a:solidFill>
              </a:rPr>
              <a:t> </a:t>
            </a:r>
            <a:r>
              <a:rPr lang="en-US" sz="1350" b="1" dirty="0" err="1">
                <a:solidFill>
                  <a:schemeClr val="bg1"/>
                </a:solidFill>
              </a:rPr>
              <a:t>mais</a:t>
            </a:r>
            <a:r>
              <a:rPr lang="en-US" sz="1350" b="1" dirty="0">
                <a:solidFill>
                  <a:schemeClr val="bg1"/>
                </a:solidFill>
              </a:rPr>
              <a:t> </a:t>
            </a:r>
            <a:r>
              <a:rPr lang="en-US" sz="1350" b="1" dirty="0" err="1">
                <a:solidFill>
                  <a:schemeClr val="bg1"/>
                </a:solidFill>
              </a:rPr>
              <a:t>vendidos</a:t>
            </a:r>
            <a:endParaRPr lang="en-US" sz="1350" b="1" dirty="0">
              <a:solidFill>
                <a:schemeClr val="bg1"/>
              </a:solidFill>
            </a:endParaRPr>
          </a:p>
        </p:txBody>
      </p:sp>
      <p:sp>
        <p:nvSpPr>
          <p:cNvPr id="28" name="Text 26">
            <a:extLst>
              <a:ext uri="{FF2B5EF4-FFF2-40B4-BE49-F238E27FC236}">
                <a16:creationId xmlns:a16="http://schemas.microsoft.com/office/drawing/2014/main" id="{2EB0FB1B-FA74-E168-D453-6D3C5F176D5D}"/>
              </a:ext>
            </a:extLst>
          </p:cNvPr>
          <p:cNvSpPr/>
          <p:nvPr/>
        </p:nvSpPr>
        <p:spPr>
          <a:xfrm>
            <a:off x="1371600" y="5550408"/>
            <a:ext cx="4434840" cy="777240"/>
          </a:xfrm>
          <a:prstGeom prst="rect">
            <a:avLst/>
          </a:prstGeom>
          <a:noFill/>
          <a:ln>
            <a:noFill/>
          </a:ln>
        </p:spPr>
        <p:txBody>
          <a:bodyPr wrap="square" rtlCol="0" anchor="t"/>
          <a:lstStyle/>
          <a:p>
            <a:pPr>
              <a:lnSpc>
                <a:spcPct val="115000"/>
              </a:lnSpc>
            </a:pPr>
            <a:r>
              <a:rPr lang="pt-BR" sz="1050" dirty="0">
                <a:solidFill>
                  <a:schemeClr val="bg2"/>
                </a:solidFill>
                <a:latin typeface="Calibri" pitchFamily="34" charset="0"/>
                <a:ea typeface="Calibri" pitchFamily="34" charset="-122"/>
                <a:cs typeface="Calibri" pitchFamily="34" charset="-120"/>
              </a:rPr>
              <a:t>Ofertar especialmente produtos das 10 categorias estratégicas, que concentram 62,4% de toda a receita da base analisada.</a:t>
            </a:r>
            <a:endParaRPr lang="en-US" sz="1050" dirty="0">
              <a:solidFill>
                <a:schemeClr val="bg2"/>
              </a:solidFill>
              <a:latin typeface="Calibri" pitchFamily="34" charset="0"/>
              <a:ea typeface="Calibri" pitchFamily="34" charset="-122"/>
              <a:cs typeface="Calibri" pitchFamily="34" charset="-120"/>
            </a:endParaRPr>
          </a:p>
        </p:txBody>
      </p:sp>
      <p:sp>
        <p:nvSpPr>
          <p:cNvPr id="29" name="Shape 27">
            <a:extLst>
              <a:ext uri="{FF2B5EF4-FFF2-40B4-BE49-F238E27FC236}">
                <a16:creationId xmlns:a16="http://schemas.microsoft.com/office/drawing/2014/main" id="{42BD4E47-7EC1-9951-A8AF-DA0BBAC156A6}"/>
              </a:ext>
            </a:extLst>
          </p:cNvPr>
          <p:cNvSpPr/>
          <p:nvPr/>
        </p:nvSpPr>
        <p:spPr>
          <a:xfrm>
            <a:off x="6263640" y="4983480"/>
            <a:ext cx="5440680" cy="1417320"/>
          </a:xfrm>
          <a:prstGeom prst="roundRect">
            <a:avLst>
              <a:gd name="adj" fmla="val 5161"/>
            </a:avLst>
          </a:prstGeom>
          <a:solidFill>
            <a:srgbClr val="000000"/>
          </a:solidFill>
          <a:ln w="12700">
            <a:solidFill>
              <a:schemeClr val="bg2"/>
            </a:solidFill>
            <a:prstDash val="solid"/>
          </a:ln>
        </p:spPr>
        <p:txBody>
          <a:bodyPr/>
          <a:lstStyle/>
          <a:p>
            <a:endParaRPr lang="pt-BR"/>
          </a:p>
        </p:txBody>
      </p:sp>
      <p:sp>
        <p:nvSpPr>
          <p:cNvPr id="30" name="Shape 28">
            <a:extLst>
              <a:ext uri="{FF2B5EF4-FFF2-40B4-BE49-F238E27FC236}">
                <a16:creationId xmlns:a16="http://schemas.microsoft.com/office/drawing/2014/main" id="{4CB37F69-19B1-45EF-98CB-841A6B571B53}"/>
              </a:ext>
            </a:extLst>
          </p:cNvPr>
          <p:cNvSpPr/>
          <p:nvPr/>
        </p:nvSpPr>
        <p:spPr>
          <a:xfrm>
            <a:off x="6464808" y="5184648"/>
            <a:ext cx="457200" cy="457200"/>
          </a:xfrm>
          <a:prstGeom prst="ellipse">
            <a:avLst/>
          </a:prstGeom>
          <a:solidFill>
            <a:srgbClr val="ED145B"/>
          </a:solidFill>
          <a:ln/>
        </p:spPr>
        <p:txBody>
          <a:bodyPr/>
          <a:lstStyle/>
          <a:p>
            <a:endParaRPr lang="pt-BR">
              <a:solidFill>
                <a:schemeClr val="bg2">
                  <a:lumMod val="10000"/>
                </a:schemeClr>
              </a:solidFill>
            </a:endParaRPr>
          </a:p>
        </p:txBody>
      </p:sp>
      <p:sp>
        <p:nvSpPr>
          <p:cNvPr id="31" name="Text 29">
            <a:extLst>
              <a:ext uri="{FF2B5EF4-FFF2-40B4-BE49-F238E27FC236}">
                <a16:creationId xmlns:a16="http://schemas.microsoft.com/office/drawing/2014/main" id="{49D60579-172B-37CE-1A69-9496939E4D7B}"/>
              </a:ext>
            </a:extLst>
          </p:cNvPr>
          <p:cNvSpPr/>
          <p:nvPr/>
        </p:nvSpPr>
        <p:spPr>
          <a:xfrm>
            <a:off x="6464808" y="5184648"/>
            <a:ext cx="457200" cy="457200"/>
          </a:xfrm>
          <a:prstGeom prst="rect">
            <a:avLst/>
          </a:prstGeom>
          <a:noFill/>
          <a:ln/>
        </p:spPr>
        <p:txBody>
          <a:bodyPr wrap="square" rtlCol="0" anchor="ctr"/>
          <a:lstStyle/>
          <a:p>
            <a:pPr marL="0" indent="0" algn="ctr">
              <a:buNone/>
            </a:pPr>
            <a:r>
              <a:rPr lang="en-US" sz="1600" b="1" dirty="0">
                <a:solidFill>
                  <a:schemeClr val="bg2">
                    <a:lumMod val="10000"/>
                  </a:schemeClr>
                </a:solidFill>
                <a:latin typeface="Cambria" pitchFamily="34" charset="0"/>
                <a:ea typeface="Cambria" pitchFamily="34" charset="-122"/>
                <a:cs typeface="Cambria" pitchFamily="34" charset="-120"/>
              </a:rPr>
              <a:t>6</a:t>
            </a:r>
            <a:endParaRPr lang="en-US" sz="1600" dirty="0">
              <a:solidFill>
                <a:schemeClr val="bg2">
                  <a:lumMod val="10000"/>
                </a:schemeClr>
              </a:solidFill>
            </a:endParaRPr>
          </a:p>
        </p:txBody>
      </p:sp>
      <p:sp>
        <p:nvSpPr>
          <p:cNvPr id="32" name="Text 30">
            <a:extLst>
              <a:ext uri="{FF2B5EF4-FFF2-40B4-BE49-F238E27FC236}">
                <a16:creationId xmlns:a16="http://schemas.microsoft.com/office/drawing/2014/main" id="{2B012819-4991-3743-75B9-2141F6D1E007}"/>
              </a:ext>
            </a:extLst>
          </p:cNvPr>
          <p:cNvSpPr/>
          <p:nvPr/>
        </p:nvSpPr>
        <p:spPr>
          <a:xfrm>
            <a:off x="7086600" y="5129784"/>
            <a:ext cx="4434840" cy="411480"/>
          </a:xfrm>
          <a:prstGeom prst="rect">
            <a:avLst/>
          </a:prstGeom>
          <a:noFill/>
          <a:ln/>
        </p:spPr>
        <p:txBody>
          <a:bodyPr wrap="square" rtlCol="0" anchor="t"/>
          <a:lstStyle/>
          <a:p>
            <a:pPr marL="0" indent="0">
              <a:buNone/>
            </a:pPr>
            <a:r>
              <a:rPr lang="en-US" sz="1350" b="1" dirty="0" err="1">
                <a:solidFill>
                  <a:srgbClr val="FFFFFF"/>
                </a:solidFill>
                <a:latin typeface="Calibri" pitchFamily="34" charset="0"/>
                <a:ea typeface="Calibri" pitchFamily="34" charset="-122"/>
                <a:cs typeface="Calibri" pitchFamily="34" charset="-120"/>
              </a:rPr>
              <a:t>Distribuir</a:t>
            </a:r>
            <a:r>
              <a:rPr lang="en-US" sz="1350" b="1" dirty="0">
                <a:solidFill>
                  <a:srgbClr val="FFFFFF"/>
                </a:solidFill>
                <a:latin typeface="Calibri" pitchFamily="34" charset="0"/>
                <a:ea typeface="Calibri" pitchFamily="34" charset="-122"/>
                <a:cs typeface="Calibri" pitchFamily="34" charset="-120"/>
              </a:rPr>
              <a:t> </a:t>
            </a:r>
            <a:r>
              <a:rPr lang="en-US" sz="1350" b="1" dirty="0" err="1">
                <a:solidFill>
                  <a:srgbClr val="FFFFFF"/>
                </a:solidFill>
                <a:latin typeface="Calibri" pitchFamily="34" charset="0"/>
                <a:ea typeface="Calibri" pitchFamily="34" charset="-122"/>
                <a:cs typeface="Calibri" pitchFamily="34" charset="-120"/>
              </a:rPr>
              <a:t>produtos</a:t>
            </a:r>
            <a:r>
              <a:rPr lang="en-US" sz="1350" b="1" dirty="0">
                <a:solidFill>
                  <a:srgbClr val="FFFFFF"/>
                </a:solidFill>
                <a:latin typeface="Calibri" pitchFamily="34" charset="0"/>
                <a:ea typeface="Calibri" pitchFamily="34" charset="-122"/>
                <a:cs typeface="Calibri" pitchFamily="34" charset="-120"/>
              </a:rPr>
              <a:t> </a:t>
            </a:r>
            <a:r>
              <a:rPr lang="en-US" sz="1350" b="1" dirty="0" err="1">
                <a:solidFill>
                  <a:srgbClr val="FFFFFF"/>
                </a:solidFill>
                <a:latin typeface="Calibri" pitchFamily="34" charset="0"/>
                <a:ea typeface="Calibri" pitchFamily="34" charset="-122"/>
                <a:cs typeface="Calibri" pitchFamily="34" charset="-120"/>
              </a:rPr>
              <a:t>locais</a:t>
            </a:r>
            <a:r>
              <a:rPr lang="en-US" sz="1350" b="1" dirty="0">
                <a:solidFill>
                  <a:srgbClr val="FFFFFF"/>
                </a:solidFill>
                <a:latin typeface="Calibri" pitchFamily="34" charset="0"/>
                <a:ea typeface="Calibri" pitchFamily="34" charset="-122"/>
                <a:cs typeface="Calibri" pitchFamily="34" charset="-120"/>
              </a:rPr>
              <a:t> </a:t>
            </a:r>
            <a:endParaRPr lang="en-US" sz="1350" dirty="0"/>
          </a:p>
        </p:txBody>
      </p:sp>
      <p:sp>
        <p:nvSpPr>
          <p:cNvPr id="33" name="Text 31">
            <a:extLst>
              <a:ext uri="{FF2B5EF4-FFF2-40B4-BE49-F238E27FC236}">
                <a16:creationId xmlns:a16="http://schemas.microsoft.com/office/drawing/2014/main" id="{5B0594C7-FED7-5AEF-2BF4-1D48B7CC2433}"/>
              </a:ext>
            </a:extLst>
          </p:cNvPr>
          <p:cNvSpPr/>
          <p:nvPr/>
        </p:nvSpPr>
        <p:spPr>
          <a:xfrm>
            <a:off x="7086600" y="5550408"/>
            <a:ext cx="4434840" cy="777240"/>
          </a:xfrm>
          <a:prstGeom prst="rect">
            <a:avLst/>
          </a:prstGeom>
          <a:noFill/>
          <a:ln/>
        </p:spPr>
        <p:txBody>
          <a:bodyPr wrap="square" rtlCol="0" anchor="t"/>
          <a:lstStyle/>
          <a:p>
            <a:pPr marL="0" indent="0">
              <a:lnSpc>
                <a:spcPct val="115000"/>
              </a:lnSpc>
              <a:buNone/>
            </a:pPr>
            <a:r>
              <a:rPr lang="en-US" sz="1050" dirty="0" err="1">
                <a:solidFill>
                  <a:schemeClr val="bg2"/>
                </a:solidFill>
                <a:latin typeface="Calibri" pitchFamily="34" charset="0"/>
                <a:ea typeface="Calibri" pitchFamily="34" charset="-122"/>
                <a:cs typeface="Calibri" pitchFamily="34" charset="-120"/>
              </a:rPr>
              <a:t>Utilizar</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estrutura</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logística</a:t>
            </a:r>
            <a:r>
              <a:rPr lang="en-US" sz="1050" dirty="0">
                <a:solidFill>
                  <a:schemeClr val="bg2"/>
                </a:solidFill>
                <a:latin typeface="Calibri" pitchFamily="34" charset="0"/>
                <a:ea typeface="Calibri" pitchFamily="34" charset="-122"/>
                <a:cs typeface="Calibri" pitchFamily="34" charset="-120"/>
              </a:rPr>
              <a:t> para </a:t>
            </a:r>
            <a:r>
              <a:rPr lang="en-US" sz="1050" dirty="0" err="1">
                <a:solidFill>
                  <a:schemeClr val="bg2"/>
                </a:solidFill>
                <a:latin typeface="Calibri" pitchFamily="34" charset="0"/>
                <a:ea typeface="Calibri" pitchFamily="34" charset="-122"/>
                <a:cs typeface="Calibri" pitchFamily="34" charset="-120"/>
              </a:rPr>
              <a:t>distribuir</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produtos</a:t>
            </a:r>
            <a:r>
              <a:rPr lang="en-US" sz="1050" dirty="0">
                <a:solidFill>
                  <a:schemeClr val="bg2"/>
                </a:solidFill>
                <a:latin typeface="Calibri" pitchFamily="34" charset="0"/>
                <a:ea typeface="Calibri" pitchFamily="34" charset="-122"/>
                <a:cs typeface="Calibri" pitchFamily="34" charset="-120"/>
              </a:rPr>
              <a:t> e </a:t>
            </a:r>
            <a:r>
              <a:rPr lang="en-US" sz="1050" dirty="0" err="1">
                <a:solidFill>
                  <a:schemeClr val="bg2"/>
                </a:solidFill>
                <a:latin typeface="Calibri" pitchFamily="34" charset="0"/>
                <a:ea typeface="Calibri" pitchFamily="34" charset="-122"/>
                <a:cs typeface="Calibri" pitchFamily="34" charset="-120"/>
              </a:rPr>
              <a:t>alimentos</a:t>
            </a:r>
            <a:r>
              <a:rPr lang="en-US" sz="1050" dirty="0">
                <a:solidFill>
                  <a:schemeClr val="bg2"/>
                </a:solidFill>
                <a:latin typeface="Calibri" pitchFamily="34" charset="0"/>
                <a:ea typeface="Calibri" pitchFamily="34" charset="-122"/>
                <a:cs typeface="Calibri" pitchFamily="34" charset="-120"/>
              </a:rPr>
              <a:t> da </a:t>
            </a:r>
            <a:r>
              <a:rPr lang="en-US" sz="1050" dirty="0" err="1">
                <a:solidFill>
                  <a:schemeClr val="bg2"/>
                </a:solidFill>
                <a:latin typeface="Calibri" pitchFamily="34" charset="0"/>
                <a:ea typeface="Calibri" pitchFamily="34" charset="-122"/>
                <a:cs typeface="Calibri" pitchFamily="34" charset="-120"/>
              </a:rPr>
              <a:t>região</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Amazônica</a:t>
            </a:r>
            <a:r>
              <a:rPr lang="en-US" sz="1050" dirty="0">
                <a:solidFill>
                  <a:schemeClr val="bg2"/>
                </a:solidFill>
                <a:latin typeface="Calibri" pitchFamily="34" charset="0"/>
                <a:ea typeface="Calibri" pitchFamily="34" charset="-122"/>
                <a:cs typeface="Calibri" pitchFamily="34" charset="-120"/>
              </a:rPr>
              <a:t> para </a:t>
            </a:r>
            <a:r>
              <a:rPr lang="en-US" sz="1050" dirty="0" err="1">
                <a:solidFill>
                  <a:schemeClr val="bg2"/>
                </a:solidFill>
                <a:latin typeface="Calibri" pitchFamily="34" charset="0"/>
                <a:ea typeface="Calibri" pitchFamily="34" charset="-122"/>
                <a:cs typeface="Calibri" pitchFamily="34" charset="-120"/>
              </a:rPr>
              <a:t>todo</a:t>
            </a:r>
            <a:r>
              <a:rPr lang="en-US" sz="1050" dirty="0">
                <a:solidFill>
                  <a:schemeClr val="bg2"/>
                </a:solidFill>
                <a:latin typeface="Calibri" pitchFamily="34" charset="0"/>
                <a:ea typeface="Calibri" pitchFamily="34" charset="-122"/>
                <a:cs typeface="Calibri" pitchFamily="34" charset="-120"/>
              </a:rPr>
              <a:t> o </a:t>
            </a:r>
            <a:r>
              <a:rPr lang="en-US" sz="1050" dirty="0" err="1">
                <a:solidFill>
                  <a:schemeClr val="bg2"/>
                </a:solidFill>
                <a:latin typeface="Calibri" pitchFamily="34" charset="0"/>
                <a:ea typeface="Calibri" pitchFamily="34" charset="-122"/>
                <a:cs typeface="Calibri" pitchFamily="34" charset="-120"/>
              </a:rPr>
              <a:t>país</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gerando</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receita</a:t>
            </a:r>
            <a:r>
              <a:rPr lang="en-US" sz="1050" dirty="0">
                <a:solidFill>
                  <a:schemeClr val="bg2"/>
                </a:solidFill>
                <a:latin typeface="Calibri" pitchFamily="34" charset="0"/>
                <a:ea typeface="Calibri" pitchFamily="34" charset="-122"/>
                <a:cs typeface="Calibri" pitchFamily="34" charset="-120"/>
              </a:rPr>
              <a:t> </a:t>
            </a:r>
            <a:r>
              <a:rPr lang="en-US" sz="1050" dirty="0" err="1">
                <a:solidFill>
                  <a:schemeClr val="bg2"/>
                </a:solidFill>
                <a:latin typeface="Calibri" pitchFamily="34" charset="0"/>
                <a:ea typeface="Calibri" pitchFamily="34" charset="-122"/>
                <a:cs typeface="Calibri" pitchFamily="34" charset="-120"/>
              </a:rPr>
              <a:t>adcional</a:t>
            </a:r>
            <a:r>
              <a:rPr lang="en-US" sz="1050" dirty="0">
                <a:solidFill>
                  <a:schemeClr val="bg2"/>
                </a:solidFill>
                <a:latin typeface="Calibri" pitchFamily="34" charset="0"/>
                <a:ea typeface="Calibri" pitchFamily="34" charset="-122"/>
                <a:cs typeface="Calibri" pitchFamily="34" charset="-120"/>
              </a:rPr>
              <a:t>.</a:t>
            </a:r>
            <a:endParaRPr lang="en-US" sz="1050" dirty="0">
              <a:solidFill>
                <a:schemeClr val="bg2"/>
              </a:solidFill>
            </a:endParaRPr>
          </a:p>
        </p:txBody>
      </p:sp>
      <p:sp>
        <p:nvSpPr>
          <p:cNvPr id="34" name="Text 32">
            <a:extLst>
              <a:ext uri="{FF2B5EF4-FFF2-40B4-BE49-F238E27FC236}">
                <a16:creationId xmlns:a16="http://schemas.microsoft.com/office/drawing/2014/main" id="{65764ED8-6035-5CF3-404E-A0F932CBC92F}"/>
              </a:ext>
            </a:extLst>
          </p:cNvPr>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8098C4"/>
                </a:solidFill>
                <a:latin typeface="Calibri" pitchFamily="34" charset="0"/>
                <a:ea typeface="Calibri" pitchFamily="34" charset="-122"/>
                <a:cs typeface="Calibri" pitchFamily="34" charset="-120"/>
              </a:rPr>
              <a:t>Relatório Executivo — Case Olist</a:t>
            </a:r>
            <a:endParaRPr lang="en-US" sz="900" dirty="0"/>
          </a:p>
        </p:txBody>
      </p:sp>
      <p:sp>
        <p:nvSpPr>
          <p:cNvPr id="35" name="Text 33">
            <a:extLst>
              <a:ext uri="{FF2B5EF4-FFF2-40B4-BE49-F238E27FC236}">
                <a16:creationId xmlns:a16="http://schemas.microsoft.com/office/drawing/2014/main" id="{61CA5D44-8DDA-630B-340C-C6BEC514D3BE}"/>
              </a:ext>
            </a:extLst>
          </p:cNvPr>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098C4"/>
                </a:solidFill>
                <a:latin typeface="Calibri" pitchFamily="34" charset="0"/>
                <a:ea typeface="Calibri" pitchFamily="34" charset="-122"/>
                <a:cs typeface="Calibri" pitchFamily="34" charset="-120"/>
              </a:rPr>
              <a:t>13</a:t>
            </a:r>
            <a:endParaRPr lang="en-US" sz="900" dirty="0"/>
          </a:p>
        </p:txBody>
      </p:sp>
      <p:sp>
        <p:nvSpPr>
          <p:cNvPr id="39" name="Text 15">
            <a:extLst>
              <a:ext uri="{FF2B5EF4-FFF2-40B4-BE49-F238E27FC236}">
                <a16:creationId xmlns:a16="http://schemas.microsoft.com/office/drawing/2014/main" id="{3016FF3F-896E-B581-E601-14AEC00B2FAC}"/>
              </a:ext>
            </a:extLst>
          </p:cNvPr>
          <p:cNvSpPr/>
          <p:nvPr/>
        </p:nvSpPr>
        <p:spPr>
          <a:xfrm>
            <a:off x="1371600" y="3449152"/>
            <a:ext cx="4434840" cy="411480"/>
          </a:xfrm>
          <a:prstGeom prst="rect">
            <a:avLst/>
          </a:prstGeom>
          <a:noFill/>
          <a:ln/>
        </p:spPr>
        <p:txBody>
          <a:bodyPr wrap="square" rtlCol="0" anchor="t"/>
          <a:lstStyle/>
          <a:p>
            <a:pPr marL="0" indent="0">
              <a:buNone/>
            </a:pPr>
            <a:r>
              <a:rPr lang="en-US" sz="1350" b="1" dirty="0" err="1">
                <a:solidFill>
                  <a:srgbClr val="FFFFFF"/>
                </a:solidFill>
                <a:latin typeface="Calibri" pitchFamily="34" charset="0"/>
                <a:ea typeface="Calibri" pitchFamily="34" charset="-122"/>
                <a:cs typeface="Calibri" pitchFamily="34" charset="-120"/>
              </a:rPr>
              <a:t>Consolidar</a:t>
            </a:r>
            <a:r>
              <a:rPr lang="en-US" sz="1350" b="1" dirty="0">
                <a:solidFill>
                  <a:srgbClr val="FFFFFF"/>
                </a:solidFill>
                <a:latin typeface="Calibri" pitchFamily="34" charset="0"/>
                <a:ea typeface="Calibri" pitchFamily="34" charset="-122"/>
                <a:cs typeface="Calibri" pitchFamily="34" charset="-120"/>
              </a:rPr>
              <a:t> programa de fidelização</a:t>
            </a:r>
            <a:endParaRPr lang="en-US" sz="1350" dirty="0"/>
          </a:p>
        </p:txBody>
      </p:sp>
      <p:sp>
        <p:nvSpPr>
          <p:cNvPr id="41" name="Text 16">
            <a:extLst>
              <a:ext uri="{FF2B5EF4-FFF2-40B4-BE49-F238E27FC236}">
                <a16:creationId xmlns:a16="http://schemas.microsoft.com/office/drawing/2014/main" id="{3FA964A9-A9EC-A135-7B42-E4E77D3367E5}"/>
              </a:ext>
            </a:extLst>
          </p:cNvPr>
          <p:cNvSpPr/>
          <p:nvPr/>
        </p:nvSpPr>
        <p:spPr>
          <a:xfrm>
            <a:off x="1371600" y="3941066"/>
            <a:ext cx="4434840" cy="777240"/>
          </a:xfrm>
          <a:prstGeom prst="rect">
            <a:avLst/>
          </a:prstGeom>
          <a:noFill/>
          <a:ln/>
        </p:spPr>
        <p:txBody>
          <a:bodyPr wrap="square" rtlCol="0" anchor="t"/>
          <a:lstStyle/>
          <a:p>
            <a:pPr>
              <a:lnSpc>
                <a:spcPct val="115000"/>
              </a:lnSpc>
            </a:pPr>
            <a:r>
              <a:rPr lang="pt-BR" sz="1050" dirty="0">
                <a:solidFill>
                  <a:schemeClr val="bg2"/>
                </a:solidFill>
                <a:latin typeface="Calibri" pitchFamily="34" charset="0"/>
                <a:ea typeface="Calibri" pitchFamily="34" charset="-122"/>
                <a:cs typeface="Calibri" pitchFamily="34" charset="-120"/>
              </a:rPr>
              <a:t>Estruturar e consolidar programa de pontos ou </a:t>
            </a:r>
            <a:r>
              <a:rPr lang="pt-BR" sz="1050" dirty="0" err="1">
                <a:solidFill>
                  <a:schemeClr val="bg2"/>
                </a:solidFill>
                <a:latin typeface="Calibri" pitchFamily="34" charset="0"/>
                <a:ea typeface="Calibri" pitchFamily="34" charset="-122"/>
                <a:cs typeface="Calibri" pitchFamily="34" charset="-120"/>
              </a:rPr>
              <a:t>cashback</a:t>
            </a:r>
            <a:r>
              <a:rPr lang="pt-BR" sz="1050" dirty="0">
                <a:solidFill>
                  <a:schemeClr val="bg2"/>
                </a:solidFill>
                <a:latin typeface="Calibri" pitchFamily="34" charset="0"/>
                <a:ea typeface="Calibri" pitchFamily="34" charset="-122"/>
                <a:cs typeface="Calibri" pitchFamily="34" charset="-120"/>
              </a:rPr>
              <a:t>, visando ampliar a taxa de recompra.</a:t>
            </a:r>
            <a:endParaRPr lang="en-US" sz="1050" dirty="0">
              <a:solidFill>
                <a:schemeClr val="bg2"/>
              </a:solidFill>
            </a:endParaRPr>
          </a:p>
        </p:txBody>
      </p:sp>
      <p:sp>
        <p:nvSpPr>
          <p:cNvPr id="17" name="Shape 13">
            <a:extLst>
              <a:ext uri="{FF2B5EF4-FFF2-40B4-BE49-F238E27FC236}">
                <a16:creationId xmlns:a16="http://schemas.microsoft.com/office/drawing/2014/main" id="{70898DF7-F6B9-CB20-8E0E-B67FBBFDFBD8}"/>
              </a:ext>
            </a:extLst>
          </p:cNvPr>
          <p:cNvSpPr/>
          <p:nvPr/>
        </p:nvSpPr>
        <p:spPr>
          <a:xfrm>
            <a:off x="749808" y="5153152"/>
            <a:ext cx="457200" cy="457200"/>
          </a:xfrm>
          <a:prstGeom prst="ellipse">
            <a:avLst/>
          </a:prstGeom>
          <a:solidFill>
            <a:srgbClr val="ED145B"/>
          </a:solidFill>
          <a:ln/>
        </p:spPr>
        <p:txBody>
          <a:bodyPr/>
          <a:lstStyle/>
          <a:p>
            <a:r>
              <a:rPr lang="pt-BR" b="1" dirty="0">
                <a:solidFill>
                  <a:schemeClr val="bg2">
                    <a:lumMod val="10000"/>
                  </a:schemeClr>
                </a:solidFill>
              </a:rPr>
              <a:t>5</a:t>
            </a:r>
          </a:p>
        </p:txBody>
      </p:sp>
    </p:spTree>
    <p:extLst>
      <p:ext uri="{BB962C8B-B14F-4D97-AF65-F5344CB8AC3E}">
        <p14:creationId xmlns:p14="http://schemas.microsoft.com/office/powerpoint/2010/main" val="2598881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C0791E8-9CA9-86A2-7E00-C3F570C7788E}"/>
            </a:ext>
          </a:extLst>
        </p:cNvPr>
        <p:cNvGrpSpPr/>
        <p:nvPr/>
      </p:nvGrpSpPr>
      <p:grpSpPr>
        <a:xfrm>
          <a:off x="0" y="0"/>
          <a:ext cx="0" cy="0"/>
          <a:chOff x="0" y="0"/>
          <a:chExt cx="0" cy="0"/>
        </a:xfrm>
      </p:grpSpPr>
      <p:sp>
        <p:nvSpPr>
          <p:cNvPr id="8" name="Text 6">
            <a:extLst>
              <a:ext uri="{FF2B5EF4-FFF2-40B4-BE49-F238E27FC236}">
                <a16:creationId xmlns:a16="http://schemas.microsoft.com/office/drawing/2014/main" id="{5270DA1C-F7F8-FA97-1CAC-5D9650207CCE}"/>
              </a:ext>
            </a:extLst>
          </p:cNvPr>
          <p:cNvSpPr/>
          <p:nvPr/>
        </p:nvSpPr>
        <p:spPr>
          <a:xfrm>
            <a:off x="4202818" y="4248757"/>
            <a:ext cx="4320000" cy="736187"/>
          </a:xfrm>
          <a:prstGeom prst="rect">
            <a:avLst/>
          </a:prstGeom>
          <a:noFill/>
          <a:ln/>
        </p:spPr>
        <p:txBody>
          <a:bodyPr wrap="square" rtlCol="0" anchor="t"/>
          <a:lstStyle/>
          <a:p>
            <a:endParaRPr lang="en-US" sz="1250" dirty="0">
              <a:solidFill>
                <a:srgbClr val="1C1C1C"/>
              </a:solidFill>
              <a:latin typeface="Calibri" pitchFamily="34" charset="0"/>
              <a:ea typeface="Calibri" pitchFamily="34" charset="-122"/>
              <a:cs typeface="Calibri" pitchFamily="34" charset="-120"/>
            </a:endParaRPr>
          </a:p>
        </p:txBody>
      </p:sp>
      <p:sp>
        <p:nvSpPr>
          <p:cNvPr id="13" name="Shape 11">
            <a:extLst>
              <a:ext uri="{FF2B5EF4-FFF2-40B4-BE49-F238E27FC236}">
                <a16:creationId xmlns:a16="http://schemas.microsoft.com/office/drawing/2014/main" id="{F4F88907-F296-CA4A-EB57-232BDEFCAA3D}"/>
              </a:ext>
            </a:extLst>
          </p:cNvPr>
          <p:cNvSpPr/>
          <p:nvPr/>
        </p:nvSpPr>
        <p:spPr>
          <a:xfrm>
            <a:off x="4348546" y="3604487"/>
            <a:ext cx="3600000" cy="2520000"/>
          </a:xfrm>
          <a:prstGeom prst="roundRect">
            <a:avLst>
              <a:gd name="adj" fmla="val 1684"/>
            </a:avLst>
          </a:prstGeom>
          <a:solidFill>
            <a:srgbClr val="000000"/>
          </a:solidFill>
          <a:ln/>
        </p:spPr>
        <p:txBody>
          <a:bodyPr/>
          <a:lstStyle/>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Priorizar</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regiões</a:t>
            </a:r>
            <a:r>
              <a:rPr lang="en-US" sz="1600" dirty="0">
                <a:solidFill>
                  <a:schemeClr val="bg2"/>
                </a:solidFill>
                <a:latin typeface="Calibri" pitchFamily="34" charset="0"/>
                <a:ea typeface="Calibri" pitchFamily="34" charset="-122"/>
                <a:cs typeface="Calibri" pitchFamily="34" charset="-120"/>
              </a:rPr>
              <a:t> Norte e Nordeste</a:t>
            </a:r>
          </a:p>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Investir</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em</a:t>
            </a:r>
            <a:r>
              <a:rPr lang="en-US" sz="1600" dirty="0">
                <a:solidFill>
                  <a:schemeClr val="bg2"/>
                </a:solidFill>
                <a:latin typeface="Calibri" pitchFamily="34" charset="0"/>
                <a:ea typeface="Calibri" pitchFamily="34" charset="-122"/>
                <a:cs typeface="Calibri" pitchFamily="34" charset="-120"/>
              </a:rPr>
              <a:t> SLA </a:t>
            </a:r>
            <a:r>
              <a:rPr lang="en-US" sz="1600" dirty="0" err="1">
                <a:solidFill>
                  <a:schemeClr val="bg2"/>
                </a:solidFill>
                <a:latin typeface="Calibri" pitchFamily="34" charset="0"/>
                <a:ea typeface="Calibri" pitchFamily="34" charset="-122"/>
                <a:cs typeface="Calibri" pitchFamily="34" charset="-120"/>
              </a:rPr>
              <a:t>logístico</a:t>
            </a:r>
            <a:endParaRPr lang="en-US" sz="1600" dirty="0">
              <a:solidFill>
                <a:schemeClr val="bg2"/>
              </a:solidFill>
            </a:endParaRPr>
          </a:p>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Consolidar</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programa</a:t>
            </a:r>
            <a:r>
              <a:rPr lang="en-US" sz="1600" dirty="0">
                <a:solidFill>
                  <a:schemeClr val="bg2"/>
                </a:solidFill>
                <a:latin typeface="Calibri" pitchFamily="34" charset="0"/>
                <a:ea typeface="Calibri" pitchFamily="34" charset="-122"/>
                <a:cs typeface="Calibri" pitchFamily="34" charset="-120"/>
              </a:rPr>
              <a:t> de </a:t>
            </a:r>
            <a:r>
              <a:rPr lang="en-US" sz="1600" dirty="0" err="1">
                <a:solidFill>
                  <a:schemeClr val="bg2"/>
                </a:solidFill>
                <a:latin typeface="Calibri" pitchFamily="34" charset="0"/>
                <a:ea typeface="Calibri" pitchFamily="34" charset="-122"/>
                <a:cs typeface="Calibri" pitchFamily="34" charset="-120"/>
              </a:rPr>
              <a:t>fidelização</a:t>
            </a:r>
            <a:endParaRPr lang="en-US" sz="1600" dirty="0">
              <a:solidFill>
                <a:schemeClr val="bg2"/>
              </a:solidFill>
              <a:latin typeface="Calibri" pitchFamily="34" charset="0"/>
              <a:ea typeface="Calibri" pitchFamily="34" charset="-122"/>
              <a:cs typeface="Calibri" pitchFamily="34" charset="-120"/>
            </a:endParaRPr>
          </a:p>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Investir</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em</a:t>
            </a:r>
            <a:r>
              <a:rPr lang="en-US" sz="1600" dirty="0">
                <a:solidFill>
                  <a:schemeClr val="bg2"/>
                </a:solidFill>
                <a:latin typeface="Calibri" pitchFamily="34" charset="0"/>
                <a:ea typeface="Calibri" pitchFamily="34" charset="-122"/>
                <a:cs typeface="Calibri" pitchFamily="34" charset="-120"/>
              </a:rPr>
              <a:t> Centros de  </a:t>
            </a:r>
            <a:r>
              <a:rPr lang="en-US" sz="1600" dirty="0" err="1">
                <a:solidFill>
                  <a:schemeClr val="bg2"/>
                </a:solidFill>
                <a:latin typeface="Calibri" pitchFamily="34" charset="0"/>
                <a:ea typeface="Calibri" pitchFamily="34" charset="-122"/>
                <a:cs typeface="Calibri" pitchFamily="34" charset="-120"/>
              </a:rPr>
              <a:t>Distribuição</a:t>
            </a:r>
            <a:endParaRPr lang="en-US" sz="1600" dirty="0">
              <a:solidFill>
                <a:schemeClr val="bg2"/>
              </a:solidFill>
              <a:latin typeface="Calibri" pitchFamily="34" charset="0"/>
              <a:ea typeface="Calibri" pitchFamily="34" charset="-122"/>
              <a:cs typeface="Calibri" pitchFamily="34" charset="-120"/>
            </a:endParaRPr>
          </a:p>
          <a:p>
            <a:pPr marL="285750" indent="-285750">
              <a:lnSpc>
                <a:spcPct val="150000"/>
              </a:lnSpc>
              <a:buFont typeface="Arial" panose="020B0604020202020204" pitchFamily="34" charset="0"/>
              <a:buChar char="•"/>
            </a:pPr>
            <a:r>
              <a:rPr lang="en-US" sz="1600" dirty="0" err="1">
                <a:solidFill>
                  <a:schemeClr val="bg2"/>
                </a:solidFill>
              </a:rPr>
              <a:t>Focar</a:t>
            </a:r>
            <a:r>
              <a:rPr lang="en-US" sz="1600" dirty="0">
                <a:solidFill>
                  <a:schemeClr val="bg2"/>
                </a:solidFill>
              </a:rPr>
              <a:t> </a:t>
            </a:r>
            <a:r>
              <a:rPr lang="en-US" sz="1600" dirty="0" err="1">
                <a:solidFill>
                  <a:schemeClr val="bg2"/>
                </a:solidFill>
              </a:rPr>
              <a:t>nos</a:t>
            </a:r>
            <a:r>
              <a:rPr lang="en-US" sz="1600" dirty="0">
                <a:solidFill>
                  <a:schemeClr val="bg2"/>
                </a:solidFill>
              </a:rPr>
              <a:t> </a:t>
            </a:r>
            <a:r>
              <a:rPr lang="en-US" sz="1600" dirty="0" err="1">
                <a:solidFill>
                  <a:schemeClr val="bg2"/>
                </a:solidFill>
              </a:rPr>
              <a:t>produtos</a:t>
            </a:r>
            <a:r>
              <a:rPr lang="en-US" sz="1600" dirty="0">
                <a:solidFill>
                  <a:schemeClr val="bg2"/>
                </a:solidFill>
              </a:rPr>
              <a:t> </a:t>
            </a:r>
            <a:r>
              <a:rPr lang="en-US" sz="1600" dirty="0" err="1">
                <a:solidFill>
                  <a:schemeClr val="bg2"/>
                </a:solidFill>
              </a:rPr>
              <a:t>mais</a:t>
            </a:r>
            <a:r>
              <a:rPr lang="en-US" sz="1600" dirty="0">
                <a:solidFill>
                  <a:schemeClr val="bg2"/>
                </a:solidFill>
              </a:rPr>
              <a:t> </a:t>
            </a:r>
            <a:r>
              <a:rPr lang="en-US" sz="1600" dirty="0" err="1">
                <a:solidFill>
                  <a:schemeClr val="bg2"/>
                </a:solidFill>
              </a:rPr>
              <a:t>vendidos</a:t>
            </a:r>
            <a:endParaRPr lang="en-US" sz="1600" dirty="0">
              <a:solidFill>
                <a:schemeClr val="bg2"/>
              </a:solidFill>
            </a:endParaRPr>
          </a:p>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Distribuir</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produtos</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locais</a:t>
            </a:r>
            <a:r>
              <a:rPr lang="en-US" sz="1600" dirty="0">
                <a:solidFill>
                  <a:schemeClr val="bg2"/>
                </a:solidFill>
                <a:latin typeface="Calibri" pitchFamily="34" charset="0"/>
                <a:ea typeface="Calibri" pitchFamily="34" charset="-122"/>
                <a:cs typeface="Calibri" pitchFamily="34" charset="-120"/>
              </a:rPr>
              <a:t> </a:t>
            </a:r>
            <a:endParaRPr lang="en-US" sz="1600" dirty="0">
              <a:solidFill>
                <a:schemeClr val="bg2"/>
              </a:solidFill>
            </a:endParaRPr>
          </a:p>
          <a:p>
            <a:pPr>
              <a:lnSpc>
                <a:spcPct val="150000"/>
              </a:lnSpc>
            </a:pPr>
            <a:endParaRPr lang="pt-BR" sz="1600" dirty="0">
              <a:solidFill>
                <a:schemeClr val="bg2"/>
              </a:solidFill>
            </a:endParaRPr>
          </a:p>
        </p:txBody>
      </p:sp>
      <p:sp>
        <p:nvSpPr>
          <p:cNvPr id="4" name="Text 2">
            <a:extLst>
              <a:ext uri="{FF2B5EF4-FFF2-40B4-BE49-F238E27FC236}">
                <a16:creationId xmlns:a16="http://schemas.microsoft.com/office/drawing/2014/main" id="{30BEE752-194F-DF3E-198C-4DA5B9044EBE}"/>
              </a:ext>
            </a:extLst>
          </p:cNvPr>
          <p:cNvSpPr/>
          <p:nvPr/>
        </p:nvSpPr>
        <p:spPr>
          <a:xfrm>
            <a:off x="548640" y="1600200"/>
            <a:ext cx="5486400" cy="365760"/>
          </a:xfrm>
          <a:prstGeom prst="rect">
            <a:avLst/>
          </a:prstGeom>
          <a:noFill/>
          <a:ln/>
        </p:spPr>
        <p:txBody>
          <a:bodyPr wrap="square" rtlCol="0" anchor="ctr"/>
          <a:lstStyle/>
          <a:p>
            <a:pPr marL="0" indent="0">
              <a:buNone/>
            </a:pPr>
            <a:r>
              <a:rPr lang="en-US" sz="1500" b="1" dirty="0">
                <a:solidFill>
                  <a:srgbClr val="ED145B"/>
                </a:solidFill>
                <a:latin typeface="Calibri" pitchFamily="34" charset="0"/>
                <a:ea typeface="Calibri" pitchFamily="34" charset="-122"/>
                <a:cs typeface="Calibri" pitchFamily="34" charset="-120"/>
              </a:rPr>
              <a:t>Sugestões de </a:t>
            </a:r>
            <a:r>
              <a:rPr lang="en-US" sz="1500" b="1" dirty="0" err="1">
                <a:solidFill>
                  <a:srgbClr val="ED145B"/>
                </a:solidFill>
                <a:latin typeface="Calibri" pitchFamily="34" charset="0"/>
                <a:ea typeface="Calibri" pitchFamily="34" charset="-122"/>
                <a:cs typeface="Calibri" pitchFamily="34" charset="-120"/>
              </a:rPr>
              <a:t>investimento</a:t>
            </a:r>
            <a:r>
              <a:rPr lang="en-US" sz="1500" b="1" dirty="0">
                <a:solidFill>
                  <a:srgbClr val="ED145B"/>
                </a:solidFill>
                <a:latin typeface="Calibri" pitchFamily="34" charset="0"/>
                <a:ea typeface="Calibri" pitchFamily="34" charset="-122"/>
                <a:cs typeface="Calibri" pitchFamily="34" charset="-120"/>
              </a:rPr>
              <a:t>:</a:t>
            </a:r>
          </a:p>
        </p:txBody>
      </p:sp>
      <p:sp>
        <p:nvSpPr>
          <p:cNvPr id="5" name="Text 3">
            <a:extLst>
              <a:ext uri="{FF2B5EF4-FFF2-40B4-BE49-F238E27FC236}">
                <a16:creationId xmlns:a16="http://schemas.microsoft.com/office/drawing/2014/main" id="{6645C5DC-47EA-41BD-1D40-D2573189BCA0}"/>
              </a:ext>
            </a:extLst>
          </p:cNvPr>
          <p:cNvSpPr/>
          <p:nvPr/>
        </p:nvSpPr>
        <p:spPr>
          <a:xfrm>
            <a:off x="548640" y="1962912"/>
            <a:ext cx="5623560" cy="1554480"/>
          </a:xfrm>
          <a:prstGeom prst="rect">
            <a:avLst/>
          </a:prstGeom>
          <a:noFill/>
          <a:ln/>
        </p:spPr>
        <p:txBody>
          <a:bodyPr wrap="square" rtlCol="0" anchor="t"/>
          <a:lstStyle/>
          <a:p>
            <a:pPr>
              <a:lnSpc>
                <a:spcPct val="125000"/>
              </a:lnSpc>
            </a:pPr>
            <a:r>
              <a:rPr lang="pt-BR" sz="1300" dirty="0">
                <a:solidFill>
                  <a:schemeClr val="bg2">
                    <a:lumMod val="10000"/>
                  </a:schemeClr>
                </a:solidFill>
                <a:latin typeface="Calibri" pitchFamily="34" charset="0"/>
                <a:ea typeface="Calibri" pitchFamily="34" charset="-122"/>
                <a:cs typeface="Calibri" pitchFamily="34" charset="-120"/>
              </a:rPr>
              <a:t>Considerando as análises feitas a partir das bases Olist, sugere-se duas linhas de investimentos: Curto prazo - visando manter o negócio funcionando, competitivo e gerando receita; Médio prazo – visão estratégica, com foco em expansão do negócio e ampliar sua competitividade.</a:t>
            </a:r>
          </a:p>
          <a:p>
            <a:pPr>
              <a:lnSpc>
                <a:spcPct val="125000"/>
              </a:lnSpc>
            </a:pPr>
            <a:endParaRPr lang="pt-BR" sz="1300" dirty="0">
              <a:solidFill>
                <a:schemeClr val="bg2">
                  <a:lumMod val="10000"/>
                </a:schemeClr>
              </a:solidFill>
              <a:latin typeface="Calibri" pitchFamily="34" charset="0"/>
              <a:ea typeface="Calibri" pitchFamily="34" charset="-122"/>
              <a:cs typeface="Calibri" pitchFamily="34" charset="-120"/>
            </a:endParaRPr>
          </a:p>
          <a:p>
            <a:pPr>
              <a:lnSpc>
                <a:spcPct val="125000"/>
              </a:lnSpc>
            </a:pPr>
            <a:endParaRPr lang="en-US" sz="1300" dirty="0">
              <a:solidFill>
                <a:schemeClr val="bg2">
                  <a:lumMod val="10000"/>
                </a:schemeClr>
              </a:solidFill>
            </a:endParaRPr>
          </a:p>
        </p:txBody>
      </p:sp>
      <p:sp>
        <p:nvSpPr>
          <p:cNvPr id="26" name="Text 24">
            <a:extLst>
              <a:ext uri="{FF2B5EF4-FFF2-40B4-BE49-F238E27FC236}">
                <a16:creationId xmlns:a16="http://schemas.microsoft.com/office/drawing/2014/main" id="{6E843730-A013-D6C8-7349-F07501238490}"/>
              </a:ext>
            </a:extLst>
          </p:cNvPr>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472"/>
                </a:solidFill>
                <a:latin typeface="Calibri" pitchFamily="34" charset="0"/>
                <a:ea typeface="Calibri" pitchFamily="34" charset="-122"/>
                <a:cs typeface="Calibri" pitchFamily="34" charset="-120"/>
              </a:rPr>
              <a:t>Relatório Executivo — Case Olist</a:t>
            </a:r>
            <a:endParaRPr lang="en-US" sz="900" dirty="0"/>
          </a:p>
        </p:txBody>
      </p:sp>
      <p:sp>
        <p:nvSpPr>
          <p:cNvPr id="27" name="Text 25">
            <a:extLst>
              <a:ext uri="{FF2B5EF4-FFF2-40B4-BE49-F238E27FC236}">
                <a16:creationId xmlns:a16="http://schemas.microsoft.com/office/drawing/2014/main" id="{189D5D7E-7187-0347-C6E7-F1CF4A406720}"/>
              </a:ext>
            </a:extLst>
          </p:cNvPr>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
        <p:nvSpPr>
          <p:cNvPr id="14" name="Text 1">
            <a:extLst>
              <a:ext uri="{FF2B5EF4-FFF2-40B4-BE49-F238E27FC236}">
                <a16:creationId xmlns:a16="http://schemas.microsoft.com/office/drawing/2014/main" id="{059D0D0E-2CF1-F459-30B3-F0632F5DF935}"/>
              </a:ext>
            </a:extLst>
          </p:cNvPr>
          <p:cNvSpPr/>
          <p:nvPr/>
        </p:nvSpPr>
        <p:spPr>
          <a:xfrm>
            <a:off x="487680" y="622626"/>
            <a:ext cx="11094720" cy="640080"/>
          </a:xfrm>
          <a:prstGeom prst="rect">
            <a:avLst/>
          </a:prstGeom>
          <a:noFill/>
          <a:ln/>
        </p:spPr>
        <p:txBody>
          <a:bodyPr wrap="square" rtlCol="0" anchor="ctr"/>
          <a:lstStyle/>
          <a:p>
            <a:r>
              <a:rPr lang="en-US" sz="2800" b="1" dirty="0" err="1">
                <a:solidFill>
                  <a:srgbClr val="ED145B"/>
                </a:solidFill>
                <a:latin typeface="Cambria" pitchFamily="34" charset="0"/>
                <a:ea typeface="Cambria" pitchFamily="34" charset="-122"/>
              </a:rPr>
              <a:t>Recomendações</a:t>
            </a:r>
            <a:r>
              <a:rPr lang="en-US" sz="2800" b="1" dirty="0">
                <a:solidFill>
                  <a:srgbClr val="ED145B"/>
                </a:solidFill>
                <a:latin typeface="Cambria" pitchFamily="34" charset="0"/>
                <a:ea typeface="Cambria" pitchFamily="34" charset="-122"/>
              </a:rPr>
              <a:t> para </a:t>
            </a:r>
            <a:r>
              <a:rPr lang="en-US" sz="2800" b="1" dirty="0" err="1">
                <a:solidFill>
                  <a:srgbClr val="ED145B"/>
                </a:solidFill>
                <a:latin typeface="Cambria" pitchFamily="34" charset="0"/>
                <a:ea typeface="Cambria" pitchFamily="34" charset="-122"/>
              </a:rPr>
              <a:t>expansão</a:t>
            </a:r>
            <a:r>
              <a:rPr lang="en-US" sz="2800" b="1" dirty="0">
                <a:solidFill>
                  <a:srgbClr val="ED145B"/>
                </a:solidFill>
                <a:latin typeface="Cambria" pitchFamily="34" charset="0"/>
                <a:ea typeface="Cambria" pitchFamily="34" charset="-122"/>
              </a:rPr>
              <a:t> do </a:t>
            </a:r>
            <a:r>
              <a:rPr lang="en-US" sz="2800" b="1" dirty="0" err="1">
                <a:solidFill>
                  <a:srgbClr val="ED145B"/>
                </a:solidFill>
                <a:latin typeface="Cambria" pitchFamily="34" charset="0"/>
                <a:ea typeface="Cambria" pitchFamily="34" charset="-122"/>
              </a:rPr>
              <a:t>negócio</a:t>
            </a:r>
            <a:endParaRPr lang="en-US" sz="2800" b="1" dirty="0">
              <a:solidFill>
                <a:srgbClr val="ED145B"/>
              </a:solidFill>
              <a:latin typeface="Cambria" pitchFamily="34" charset="0"/>
              <a:ea typeface="Cambria" pitchFamily="34" charset="-122"/>
            </a:endParaRPr>
          </a:p>
        </p:txBody>
      </p:sp>
      <p:sp>
        <p:nvSpPr>
          <p:cNvPr id="20" name="Shape 11">
            <a:extLst>
              <a:ext uri="{FF2B5EF4-FFF2-40B4-BE49-F238E27FC236}">
                <a16:creationId xmlns:a16="http://schemas.microsoft.com/office/drawing/2014/main" id="{C4BBFD69-8DA6-24FB-415F-6986E86844AC}"/>
              </a:ext>
            </a:extLst>
          </p:cNvPr>
          <p:cNvSpPr/>
          <p:nvPr/>
        </p:nvSpPr>
        <p:spPr>
          <a:xfrm>
            <a:off x="437160" y="3604487"/>
            <a:ext cx="3600000" cy="2520000"/>
          </a:xfrm>
          <a:prstGeom prst="roundRect">
            <a:avLst>
              <a:gd name="adj" fmla="val 1684"/>
            </a:avLst>
          </a:prstGeom>
          <a:solidFill>
            <a:srgbClr val="000000"/>
          </a:solidFill>
          <a:ln/>
        </p:spPr>
        <p:txBody>
          <a:bodyPr/>
          <a:lstStyle/>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Investir</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em</a:t>
            </a:r>
            <a:r>
              <a:rPr lang="en-US" sz="1600" dirty="0">
                <a:solidFill>
                  <a:schemeClr val="bg2"/>
                </a:solidFill>
                <a:latin typeface="Calibri" pitchFamily="34" charset="0"/>
                <a:ea typeface="Calibri" pitchFamily="34" charset="-122"/>
                <a:cs typeface="Calibri" pitchFamily="34" charset="-120"/>
              </a:rPr>
              <a:t> SLA </a:t>
            </a:r>
            <a:r>
              <a:rPr lang="en-US" sz="1600" dirty="0" err="1">
                <a:solidFill>
                  <a:schemeClr val="bg2"/>
                </a:solidFill>
                <a:latin typeface="Calibri" pitchFamily="34" charset="0"/>
                <a:ea typeface="Calibri" pitchFamily="34" charset="-122"/>
                <a:cs typeface="Calibri" pitchFamily="34" charset="-120"/>
              </a:rPr>
              <a:t>logístico</a:t>
            </a:r>
            <a:endParaRPr lang="en-US" sz="1600" dirty="0">
              <a:solidFill>
                <a:schemeClr val="bg2"/>
              </a:solidFill>
              <a:latin typeface="Calibri" pitchFamily="34" charset="0"/>
              <a:ea typeface="Calibri" pitchFamily="34" charset="-122"/>
              <a:cs typeface="Calibri" pitchFamily="34" charset="-120"/>
            </a:endParaRPr>
          </a:p>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Priorizar</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categorias</a:t>
            </a:r>
            <a:r>
              <a:rPr lang="en-US" sz="1600" dirty="0">
                <a:solidFill>
                  <a:schemeClr val="bg2"/>
                </a:solidFill>
                <a:latin typeface="Calibri" pitchFamily="34" charset="0"/>
                <a:ea typeface="Calibri" pitchFamily="34" charset="-122"/>
                <a:cs typeface="Calibri" pitchFamily="34" charset="-120"/>
              </a:rPr>
              <a:t> e </a:t>
            </a:r>
            <a:r>
              <a:rPr lang="en-US" sz="1600" dirty="0" err="1">
                <a:solidFill>
                  <a:schemeClr val="bg2"/>
                </a:solidFill>
                <a:latin typeface="Calibri" pitchFamily="34" charset="0"/>
                <a:ea typeface="Calibri" pitchFamily="34" charset="-122"/>
                <a:cs typeface="Calibri" pitchFamily="34" charset="-120"/>
              </a:rPr>
              <a:t>regiões-chave</a:t>
            </a:r>
            <a:endParaRPr lang="en-US" sz="1600" dirty="0">
              <a:solidFill>
                <a:schemeClr val="bg2"/>
              </a:solidFill>
              <a:latin typeface="Calibri" pitchFamily="34" charset="0"/>
              <a:ea typeface="Calibri" pitchFamily="34" charset="-122"/>
              <a:cs typeface="Calibri" pitchFamily="34" charset="-120"/>
            </a:endParaRPr>
          </a:p>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Estruturar</a:t>
            </a:r>
            <a:r>
              <a:rPr lang="en-US" sz="1600" dirty="0">
                <a:solidFill>
                  <a:schemeClr val="bg2"/>
                </a:solidFill>
                <a:latin typeface="Calibri" pitchFamily="34" charset="0"/>
                <a:ea typeface="Calibri" pitchFamily="34" charset="-122"/>
                <a:cs typeface="Calibri" pitchFamily="34" charset="-120"/>
              </a:rPr>
              <a:t> </a:t>
            </a:r>
            <a:r>
              <a:rPr lang="en-US" sz="1600" err="1">
                <a:solidFill>
                  <a:schemeClr val="bg2"/>
                </a:solidFill>
                <a:latin typeface="Calibri" pitchFamily="34" charset="0"/>
                <a:ea typeface="Calibri" pitchFamily="34" charset="-122"/>
                <a:cs typeface="Calibri" pitchFamily="34" charset="-120"/>
              </a:rPr>
              <a:t>programa</a:t>
            </a:r>
            <a:r>
              <a:rPr lang="en-US" sz="1600">
                <a:solidFill>
                  <a:schemeClr val="bg2"/>
                </a:solidFill>
                <a:latin typeface="Calibri" pitchFamily="34" charset="0"/>
                <a:ea typeface="Calibri" pitchFamily="34" charset="-122"/>
                <a:cs typeface="Calibri" pitchFamily="34" charset="-120"/>
              </a:rPr>
              <a:t> de </a:t>
            </a:r>
            <a:r>
              <a:rPr lang="en-US" sz="1600" dirty="0" err="1">
                <a:solidFill>
                  <a:schemeClr val="bg2"/>
                </a:solidFill>
                <a:latin typeface="Calibri" pitchFamily="34" charset="0"/>
                <a:ea typeface="Calibri" pitchFamily="34" charset="-122"/>
                <a:cs typeface="Calibri" pitchFamily="34" charset="-120"/>
              </a:rPr>
              <a:t>fidelização</a:t>
            </a:r>
            <a:endParaRPr lang="en-US" sz="1600" dirty="0">
              <a:solidFill>
                <a:schemeClr val="bg2"/>
              </a:solidFill>
              <a:latin typeface="Calibri" pitchFamily="34" charset="0"/>
              <a:ea typeface="Calibri" pitchFamily="34" charset="-122"/>
              <a:cs typeface="Calibri" pitchFamily="34" charset="-120"/>
            </a:endParaRPr>
          </a:p>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Reduzir</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concentração</a:t>
            </a:r>
            <a:r>
              <a:rPr lang="en-US" sz="1600" dirty="0">
                <a:solidFill>
                  <a:schemeClr val="bg2"/>
                </a:solidFill>
                <a:latin typeface="Calibri" pitchFamily="34" charset="0"/>
                <a:ea typeface="Calibri" pitchFamily="34" charset="-122"/>
                <a:cs typeface="Calibri" pitchFamily="34" charset="-120"/>
              </a:rPr>
              <a:t> de sellers</a:t>
            </a:r>
          </a:p>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Monitorar</a:t>
            </a:r>
            <a:r>
              <a:rPr lang="en-US" sz="1600" dirty="0">
                <a:solidFill>
                  <a:schemeClr val="bg2"/>
                </a:solidFill>
                <a:latin typeface="Calibri" pitchFamily="34" charset="0"/>
                <a:ea typeface="Calibri" pitchFamily="34" charset="-122"/>
                <a:cs typeface="Calibri" pitchFamily="34" charset="-120"/>
              </a:rPr>
              <a:t> a </a:t>
            </a:r>
            <a:r>
              <a:rPr lang="en-US" sz="1600" dirty="0" err="1">
                <a:solidFill>
                  <a:schemeClr val="bg2"/>
                </a:solidFill>
                <a:latin typeface="Calibri" pitchFamily="34" charset="0"/>
                <a:ea typeface="Calibri" pitchFamily="34" charset="-122"/>
                <a:cs typeface="Calibri" pitchFamily="34" charset="-120"/>
              </a:rPr>
              <a:t>voz</a:t>
            </a:r>
            <a:r>
              <a:rPr lang="en-US" sz="1600" dirty="0">
                <a:solidFill>
                  <a:schemeClr val="bg2"/>
                </a:solidFill>
                <a:latin typeface="Calibri" pitchFamily="34" charset="0"/>
                <a:ea typeface="Calibri" pitchFamily="34" charset="-122"/>
                <a:cs typeface="Calibri" pitchFamily="34" charset="-120"/>
              </a:rPr>
              <a:t> do </a:t>
            </a:r>
            <a:r>
              <a:rPr lang="en-US" sz="1600" dirty="0" err="1">
                <a:solidFill>
                  <a:schemeClr val="bg2"/>
                </a:solidFill>
                <a:latin typeface="Calibri" pitchFamily="34" charset="0"/>
                <a:ea typeface="Calibri" pitchFamily="34" charset="-122"/>
                <a:cs typeface="Calibri" pitchFamily="34" charset="-120"/>
              </a:rPr>
              <a:t>cliente</a:t>
            </a:r>
            <a:endParaRPr lang="en-US" sz="1600" dirty="0">
              <a:solidFill>
                <a:schemeClr val="bg2"/>
              </a:solidFill>
              <a:latin typeface="Calibri" pitchFamily="34" charset="0"/>
              <a:ea typeface="Calibri" pitchFamily="34" charset="-122"/>
              <a:cs typeface="Calibri" pitchFamily="34" charset="-120"/>
            </a:endParaRPr>
          </a:p>
          <a:p>
            <a:pPr marL="285750" indent="-285750">
              <a:lnSpc>
                <a:spcPct val="150000"/>
              </a:lnSpc>
              <a:buFont typeface="Arial" panose="020B0604020202020204" pitchFamily="34" charset="0"/>
              <a:buChar char="•"/>
            </a:pPr>
            <a:r>
              <a:rPr lang="en-US" sz="1600" dirty="0" err="1">
                <a:solidFill>
                  <a:schemeClr val="bg2"/>
                </a:solidFill>
                <a:latin typeface="Calibri" pitchFamily="34" charset="0"/>
                <a:ea typeface="Calibri" pitchFamily="34" charset="-122"/>
                <a:cs typeface="Calibri" pitchFamily="34" charset="-120"/>
              </a:rPr>
              <a:t>Explorar</a:t>
            </a:r>
            <a:r>
              <a:rPr lang="en-US" sz="1600" dirty="0">
                <a:solidFill>
                  <a:schemeClr val="bg2"/>
                </a:solidFill>
                <a:latin typeface="Calibri" pitchFamily="34" charset="0"/>
                <a:ea typeface="Calibri" pitchFamily="34" charset="-122"/>
                <a:cs typeface="Calibri" pitchFamily="34" charset="-120"/>
              </a:rPr>
              <a:t> </a:t>
            </a:r>
            <a:r>
              <a:rPr lang="en-US" sz="1600" dirty="0" err="1">
                <a:solidFill>
                  <a:schemeClr val="bg2"/>
                </a:solidFill>
                <a:latin typeface="Calibri" pitchFamily="34" charset="0"/>
                <a:ea typeface="Calibri" pitchFamily="34" charset="-122"/>
                <a:cs typeface="Calibri" pitchFamily="34" charset="-120"/>
              </a:rPr>
              <a:t>parcelamento</a:t>
            </a:r>
            <a:endParaRPr lang="en-US" sz="1600" dirty="0">
              <a:solidFill>
                <a:schemeClr val="bg2"/>
              </a:solidFill>
              <a:latin typeface="Calibri" pitchFamily="34" charset="0"/>
              <a:ea typeface="Calibri" pitchFamily="34" charset="-122"/>
              <a:cs typeface="Calibri" pitchFamily="34" charset="-120"/>
            </a:endParaRPr>
          </a:p>
        </p:txBody>
      </p:sp>
      <p:sp>
        <p:nvSpPr>
          <p:cNvPr id="22" name="Text 3">
            <a:extLst>
              <a:ext uri="{FF2B5EF4-FFF2-40B4-BE49-F238E27FC236}">
                <a16:creationId xmlns:a16="http://schemas.microsoft.com/office/drawing/2014/main" id="{EDD61BF2-8C34-59E7-DC40-371F9B0A3953}"/>
              </a:ext>
            </a:extLst>
          </p:cNvPr>
          <p:cNvSpPr/>
          <p:nvPr/>
        </p:nvSpPr>
        <p:spPr>
          <a:xfrm>
            <a:off x="437160" y="3229543"/>
            <a:ext cx="3600000" cy="450195"/>
          </a:xfrm>
          <a:prstGeom prst="rect">
            <a:avLst/>
          </a:prstGeom>
          <a:noFill/>
          <a:ln/>
        </p:spPr>
        <p:txBody>
          <a:bodyPr wrap="square" rtlCol="0" anchor="t"/>
          <a:lstStyle/>
          <a:p>
            <a:pPr algn="ctr">
              <a:lnSpc>
                <a:spcPct val="125000"/>
              </a:lnSpc>
            </a:pPr>
            <a:r>
              <a:rPr lang="pt-BR" sz="1500" b="1" dirty="0">
                <a:solidFill>
                  <a:srgbClr val="ED145B"/>
                </a:solidFill>
                <a:latin typeface="Calibri" pitchFamily="34" charset="0"/>
                <a:ea typeface="Calibri" pitchFamily="34" charset="-122"/>
                <a:cs typeface="Calibri" pitchFamily="34" charset="-120"/>
              </a:rPr>
              <a:t>Investimentos de curto prazo</a:t>
            </a:r>
          </a:p>
          <a:p>
            <a:pPr algn="ctr">
              <a:lnSpc>
                <a:spcPct val="125000"/>
              </a:lnSpc>
            </a:pPr>
            <a:endParaRPr lang="pt-BR" sz="1300" b="1" dirty="0">
              <a:solidFill>
                <a:srgbClr val="ED145B"/>
              </a:solidFill>
              <a:latin typeface="Calibri" pitchFamily="34" charset="0"/>
              <a:ea typeface="Calibri" pitchFamily="34" charset="-122"/>
              <a:cs typeface="Calibri" pitchFamily="34" charset="-120"/>
            </a:endParaRPr>
          </a:p>
          <a:p>
            <a:pPr algn="ctr">
              <a:lnSpc>
                <a:spcPct val="125000"/>
              </a:lnSpc>
            </a:pPr>
            <a:endParaRPr lang="en-US" sz="1300" b="1" dirty="0">
              <a:solidFill>
                <a:srgbClr val="ED145B"/>
              </a:solidFill>
            </a:endParaRPr>
          </a:p>
        </p:txBody>
      </p:sp>
      <p:sp>
        <p:nvSpPr>
          <p:cNvPr id="24" name="Text 3">
            <a:extLst>
              <a:ext uri="{FF2B5EF4-FFF2-40B4-BE49-F238E27FC236}">
                <a16:creationId xmlns:a16="http://schemas.microsoft.com/office/drawing/2014/main" id="{EC1A0EC9-A35B-80A0-756D-14286598DBC9}"/>
              </a:ext>
            </a:extLst>
          </p:cNvPr>
          <p:cNvSpPr/>
          <p:nvPr/>
        </p:nvSpPr>
        <p:spPr>
          <a:xfrm>
            <a:off x="4348546" y="3229543"/>
            <a:ext cx="3600000" cy="450195"/>
          </a:xfrm>
          <a:prstGeom prst="rect">
            <a:avLst/>
          </a:prstGeom>
          <a:noFill/>
          <a:ln/>
        </p:spPr>
        <p:txBody>
          <a:bodyPr wrap="square" rtlCol="0" anchor="t"/>
          <a:lstStyle/>
          <a:p>
            <a:pPr algn="ctr">
              <a:lnSpc>
                <a:spcPct val="125000"/>
              </a:lnSpc>
            </a:pPr>
            <a:r>
              <a:rPr lang="pt-BR" sz="1500" b="1" dirty="0">
                <a:solidFill>
                  <a:srgbClr val="ED145B"/>
                </a:solidFill>
                <a:latin typeface="Calibri" pitchFamily="34" charset="0"/>
                <a:ea typeface="Calibri" pitchFamily="34" charset="-122"/>
                <a:cs typeface="Calibri" pitchFamily="34" charset="-120"/>
              </a:rPr>
              <a:t>Investimentos de médio prazo</a:t>
            </a:r>
          </a:p>
          <a:p>
            <a:pPr algn="ctr">
              <a:lnSpc>
                <a:spcPct val="125000"/>
              </a:lnSpc>
            </a:pPr>
            <a:endParaRPr lang="pt-BR" sz="1300" b="1" dirty="0">
              <a:solidFill>
                <a:srgbClr val="ED145B"/>
              </a:solidFill>
              <a:latin typeface="Calibri" pitchFamily="34" charset="0"/>
              <a:ea typeface="Calibri" pitchFamily="34" charset="-122"/>
              <a:cs typeface="Calibri" pitchFamily="34" charset="-120"/>
            </a:endParaRPr>
          </a:p>
          <a:p>
            <a:pPr algn="ctr">
              <a:lnSpc>
                <a:spcPct val="125000"/>
              </a:lnSpc>
            </a:pPr>
            <a:endParaRPr lang="en-US" sz="1300" b="1" dirty="0">
              <a:solidFill>
                <a:srgbClr val="ED145B"/>
              </a:solidFill>
            </a:endParaRPr>
          </a:p>
        </p:txBody>
      </p:sp>
      <p:sp>
        <p:nvSpPr>
          <p:cNvPr id="30" name="Retângulo: Cantos Arredondados 29">
            <a:extLst>
              <a:ext uri="{FF2B5EF4-FFF2-40B4-BE49-F238E27FC236}">
                <a16:creationId xmlns:a16="http://schemas.microsoft.com/office/drawing/2014/main" id="{0639EC4A-1596-A57E-3AF4-97B526BDC0B9}"/>
              </a:ext>
            </a:extLst>
          </p:cNvPr>
          <p:cNvSpPr/>
          <p:nvPr/>
        </p:nvSpPr>
        <p:spPr>
          <a:xfrm rot="18547115">
            <a:off x="9457140" y="-516031"/>
            <a:ext cx="8528711" cy="7597454"/>
          </a:xfrm>
          <a:prstGeom prst="roundRect">
            <a:avLst>
              <a:gd name="adj" fmla="val 10101"/>
            </a:avLst>
          </a:prstGeom>
          <a:solidFill>
            <a:schemeClr val="bg2">
              <a:lumMod val="10000"/>
            </a:schemeClr>
          </a:solidFill>
          <a:ln/>
        </p:spPr>
        <p:txBody>
          <a:bodyPr/>
          <a:lstStyle/>
          <a:p>
            <a:endParaRPr lang="pt-BR"/>
          </a:p>
        </p:txBody>
      </p:sp>
    </p:spTree>
    <p:extLst>
      <p:ext uri="{BB962C8B-B14F-4D97-AF65-F5344CB8AC3E}">
        <p14:creationId xmlns:p14="http://schemas.microsoft.com/office/powerpoint/2010/main" val="85930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a:extLst>
            <a:ext uri="{FF2B5EF4-FFF2-40B4-BE49-F238E27FC236}">
              <a16:creationId xmlns:a16="http://schemas.microsoft.com/office/drawing/2014/main" id="{D23F929B-5806-662B-3901-0E68EB09109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1AF091-8F34-DADD-946C-9719380ACC56}"/>
              </a:ext>
            </a:extLst>
          </p:cNvPr>
          <p:cNvSpPr/>
          <p:nvPr/>
        </p:nvSpPr>
        <p:spPr>
          <a:xfrm>
            <a:off x="9799320" y="-1188720"/>
            <a:ext cx="4114800" cy="4114800"/>
          </a:xfrm>
          <a:prstGeom prst="ellipse">
            <a:avLst/>
          </a:prstGeom>
          <a:solidFill>
            <a:schemeClr val="tx1">
              <a:lumMod val="65000"/>
              <a:lumOff val="35000"/>
              <a:alpha val="30000"/>
            </a:schemeClr>
          </a:solidFill>
          <a:ln>
            <a:solidFill>
              <a:srgbClr val="ED145B"/>
            </a:solidFill>
          </a:ln>
        </p:spPr>
        <p:txBody>
          <a:bodyPr/>
          <a:lstStyle/>
          <a:p>
            <a:endParaRPr lang="pt-BR"/>
          </a:p>
        </p:txBody>
      </p:sp>
      <p:sp>
        <p:nvSpPr>
          <p:cNvPr id="4" name="Text 2">
            <a:extLst>
              <a:ext uri="{FF2B5EF4-FFF2-40B4-BE49-F238E27FC236}">
                <a16:creationId xmlns:a16="http://schemas.microsoft.com/office/drawing/2014/main" id="{F352B7C2-A072-883B-60C6-ED2649E3768C}"/>
              </a:ext>
            </a:extLst>
          </p:cNvPr>
          <p:cNvSpPr/>
          <p:nvPr/>
        </p:nvSpPr>
        <p:spPr>
          <a:xfrm>
            <a:off x="822960" y="1965960"/>
            <a:ext cx="6210138" cy="365760"/>
          </a:xfrm>
          <a:prstGeom prst="rect">
            <a:avLst/>
          </a:prstGeom>
          <a:noFill/>
          <a:ln/>
        </p:spPr>
        <p:txBody>
          <a:bodyPr wrap="square" rtlCol="0" anchor="ctr"/>
          <a:lstStyle/>
          <a:p>
            <a:r>
              <a:rPr lang="en-US" sz="1300" b="1" kern="0" spc="200" dirty="0">
                <a:solidFill>
                  <a:schemeClr val="bg2">
                    <a:lumMod val="75000"/>
                  </a:schemeClr>
                </a:solidFill>
                <a:latin typeface="Calibri" pitchFamily="34" charset="0"/>
                <a:ea typeface="Calibri" pitchFamily="34" charset="-122"/>
                <a:cs typeface="Calibri" pitchFamily="34" charset="-120"/>
              </a:rPr>
              <a:t>TECH CHALLENGE · FASE 1 · POSTECH DATA ANALYTICS · FIAP</a:t>
            </a:r>
            <a:endParaRPr lang="en-US" sz="1300" dirty="0">
              <a:solidFill>
                <a:schemeClr val="bg2">
                  <a:lumMod val="75000"/>
                </a:schemeClr>
              </a:solidFill>
            </a:endParaRPr>
          </a:p>
        </p:txBody>
      </p:sp>
      <p:sp>
        <p:nvSpPr>
          <p:cNvPr id="3" name="Shape 1">
            <a:extLst>
              <a:ext uri="{FF2B5EF4-FFF2-40B4-BE49-F238E27FC236}">
                <a16:creationId xmlns:a16="http://schemas.microsoft.com/office/drawing/2014/main" id="{15D9DBB1-3A65-728A-AEE6-E4DBD59EF94E}"/>
              </a:ext>
            </a:extLst>
          </p:cNvPr>
          <p:cNvSpPr/>
          <p:nvPr/>
        </p:nvSpPr>
        <p:spPr>
          <a:xfrm>
            <a:off x="-1371600" y="4846320"/>
            <a:ext cx="3657600" cy="3657600"/>
          </a:xfrm>
          <a:prstGeom prst="ellipse">
            <a:avLst/>
          </a:prstGeom>
          <a:solidFill>
            <a:schemeClr val="bg1">
              <a:lumMod val="85000"/>
              <a:alpha val="15000"/>
            </a:schemeClr>
          </a:solidFill>
          <a:ln/>
        </p:spPr>
        <p:txBody>
          <a:bodyPr/>
          <a:lstStyle/>
          <a:p>
            <a:endParaRPr lang="pt-BR"/>
          </a:p>
        </p:txBody>
      </p:sp>
      <p:sp>
        <p:nvSpPr>
          <p:cNvPr id="5" name="Text 3">
            <a:extLst>
              <a:ext uri="{FF2B5EF4-FFF2-40B4-BE49-F238E27FC236}">
                <a16:creationId xmlns:a16="http://schemas.microsoft.com/office/drawing/2014/main" id="{B8BC248E-5E24-8442-F557-C8B815903A16}"/>
              </a:ext>
            </a:extLst>
          </p:cNvPr>
          <p:cNvSpPr/>
          <p:nvPr/>
        </p:nvSpPr>
        <p:spPr>
          <a:xfrm>
            <a:off x="822960" y="2697480"/>
            <a:ext cx="6210138" cy="640080"/>
          </a:xfrm>
          <a:prstGeom prst="rect">
            <a:avLst/>
          </a:prstGeom>
          <a:solidFill>
            <a:srgbClr val="ED145B"/>
          </a:solidFill>
          <a:ln/>
        </p:spPr>
        <p:txBody>
          <a:bodyPr wrap="square" rtlCol="0" anchor="ctr"/>
          <a:lstStyle/>
          <a:p>
            <a:pPr marL="0" indent="0">
              <a:buNone/>
            </a:pPr>
            <a:r>
              <a:rPr lang="en-US" sz="3600" b="1" dirty="0">
                <a:solidFill>
                  <a:schemeClr val="tx1">
                    <a:lumMod val="85000"/>
                    <a:lumOff val="15000"/>
                  </a:schemeClr>
                </a:solidFill>
                <a:latin typeface="Copperplate Gothic Light" panose="020E0507020206020404" pitchFamily="34" charset="0"/>
                <a:ea typeface="Cambria" pitchFamily="34" charset="-122"/>
              </a:rPr>
              <a:t>RELATÓRIO EXECUTIVO</a:t>
            </a:r>
            <a:endParaRPr lang="en-US" sz="3600" b="1" dirty="0">
              <a:solidFill>
                <a:schemeClr val="tx1">
                  <a:lumMod val="85000"/>
                  <a:lumOff val="15000"/>
                </a:schemeClr>
              </a:solidFill>
              <a:latin typeface="Copperplate Gothic Light" panose="020E0507020206020404" pitchFamily="34" charset="0"/>
            </a:endParaRPr>
          </a:p>
        </p:txBody>
      </p:sp>
      <p:sp>
        <p:nvSpPr>
          <p:cNvPr id="6" name="Text 4">
            <a:extLst>
              <a:ext uri="{FF2B5EF4-FFF2-40B4-BE49-F238E27FC236}">
                <a16:creationId xmlns:a16="http://schemas.microsoft.com/office/drawing/2014/main" id="{31C9D6C8-0EA6-8014-92FE-496D59D5C6F5}"/>
              </a:ext>
            </a:extLst>
          </p:cNvPr>
          <p:cNvSpPr/>
          <p:nvPr/>
        </p:nvSpPr>
        <p:spPr>
          <a:xfrm>
            <a:off x="822960" y="3175104"/>
            <a:ext cx="6210138" cy="640080"/>
          </a:xfrm>
          <a:prstGeom prst="rect">
            <a:avLst/>
          </a:prstGeom>
          <a:noFill/>
          <a:ln/>
        </p:spPr>
        <p:txBody>
          <a:bodyPr wrap="square" rtlCol="0" anchor="ctr"/>
          <a:lstStyle/>
          <a:p>
            <a:pPr algn="ctr"/>
            <a:r>
              <a:rPr lang="en-US" sz="1400" dirty="0">
                <a:solidFill>
                  <a:srgbClr val="ED145B"/>
                </a:solidFill>
                <a:latin typeface="Calibri" pitchFamily="34" charset="0"/>
                <a:ea typeface="Calibri" pitchFamily="34" charset="-122"/>
                <a:cs typeface="Calibri" pitchFamily="34" charset="-120"/>
              </a:rPr>
              <a:t>Case </a:t>
            </a:r>
            <a:r>
              <a:rPr lang="en-US" sz="1400" dirty="0" err="1">
                <a:solidFill>
                  <a:srgbClr val="ED145B"/>
                </a:solidFill>
                <a:latin typeface="Calibri" pitchFamily="34" charset="0"/>
                <a:ea typeface="Calibri" pitchFamily="34" charset="-122"/>
                <a:cs typeface="Calibri" pitchFamily="34" charset="-120"/>
              </a:rPr>
              <a:t>Olist</a:t>
            </a:r>
            <a:r>
              <a:rPr lang="en-US" sz="1400" dirty="0">
                <a:solidFill>
                  <a:srgbClr val="ED145B"/>
                </a:solidFill>
                <a:latin typeface="Calibri" pitchFamily="34" charset="0"/>
                <a:ea typeface="Calibri" pitchFamily="34" charset="-122"/>
                <a:cs typeface="Calibri" pitchFamily="34" charset="-120"/>
              </a:rPr>
              <a:t> e-commerce: </a:t>
            </a:r>
            <a:r>
              <a:rPr lang="en-US" sz="1400" dirty="0" err="1">
                <a:solidFill>
                  <a:srgbClr val="ED145B"/>
                </a:solidFill>
                <a:latin typeface="Calibri" pitchFamily="34" charset="0"/>
                <a:ea typeface="Calibri" pitchFamily="34" charset="-122"/>
                <a:cs typeface="Calibri" pitchFamily="34" charset="-120"/>
              </a:rPr>
              <a:t>Desempenho</a:t>
            </a:r>
            <a:r>
              <a:rPr lang="en-US" sz="1400" dirty="0">
                <a:solidFill>
                  <a:srgbClr val="ED145B"/>
                </a:solidFill>
                <a:latin typeface="Calibri" pitchFamily="34" charset="0"/>
                <a:ea typeface="Calibri" pitchFamily="34" charset="-122"/>
                <a:cs typeface="Calibri" pitchFamily="34" charset="-120"/>
              </a:rPr>
              <a:t> </a:t>
            </a:r>
            <a:r>
              <a:rPr lang="en-US" sz="1400" dirty="0" err="1">
                <a:solidFill>
                  <a:srgbClr val="ED145B"/>
                </a:solidFill>
                <a:latin typeface="Calibri" pitchFamily="34" charset="0"/>
                <a:ea typeface="Calibri" pitchFamily="34" charset="-122"/>
                <a:cs typeface="Calibri" pitchFamily="34" charset="-120"/>
              </a:rPr>
              <a:t>Comercial</a:t>
            </a:r>
            <a:r>
              <a:rPr lang="en-US" sz="1400" dirty="0">
                <a:solidFill>
                  <a:srgbClr val="ED145B"/>
                </a:solidFill>
                <a:latin typeface="Calibri" pitchFamily="34" charset="0"/>
                <a:ea typeface="Calibri" pitchFamily="34" charset="-122"/>
                <a:cs typeface="Calibri" pitchFamily="34" charset="-120"/>
              </a:rPr>
              <a:t>, </a:t>
            </a:r>
            <a:r>
              <a:rPr lang="en-US" sz="1400" dirty="0" err="1">
                <a:solidFill>
                  <a:srgbClr val="ED145B"/>
                </a:solidFill>
                <a:latin typeface="Calibri" pitchFamily="34" charset="0"/>
                <a:ea typeface="Calibri" pitchFamily="34" charset="-122"/>
                <a:cs typeface="Calibri" pitchFamily="34" charset="-120"/>
              </a:rPr>
              <a:t>Logística</a:t>
            </a:r>
            <a:r>
              <a:rPr lang="en-US" sz="1400" dirty="0">
                <a:solidFill>
                  <a:srgbClr val="ED145B"/>
                </a:solidFill>
                <a:latin typeface="Calibri" pitchFamily="34" charset="0"/>
                <a:ea typeface="Calibri" pitchFamily="34" charset="-122"/>
                <a:cs typeface="Calibri" pitchFamily="34" charset="-120"/>
              </a:rPr>
              <a:t> e </a:t>
            </a:r>
            <a:r>
              <a:rPr lang="en-US" sz="1400" dirty="0" err="1">
                <a:solidFill>
                  <a:srgbClr val="ED145B"/>
                </a:solidFill>
                <a:latin typeface="Calibri" pitchFamily="34" charset="0"/>
                <a:ea typeface="Calibri" pitchFamily="34" charset="-122"/>
                <a:cs typeface="Calibri" pitchFamily="34" charset="-120"/>
              </a:rPr>
              <a:t>Satisfação</a:t>
            </a:r>
            <a:r>
              <a:rPr lang="en-US" sz="1400" dirty="0">
                <a:solidFill>
                  <a:srgbClr val="ED145B"/>
                </a:solidFill>
                <a:latin typeface="Calibri" pitchFamily="34" charset="0"/>
                <a:ea typeface="Calibri" pitchFamily="34" charset="-122"/>
                <a:cs typeface="Calibri" pitchFamily="34" charset="-120"/>
              </a:rPr>
              <a:t> do </a:t>
            </a:r>
            <a:r>
              <a:rPr lang="en-US" sz="1400" dirty="0" err="1">
                <a:solidFill>
                  <a:srgbClr val="ED145B"/>
                </a:solidFill>
                <a:latin typeface="Calibri" pitchFamily="34" charset="0"/>
                <a:ea typeface="Calibri" pitchFamily="34" charset="-122"/>
                <a:cs typeface="Calibri" pitchFamily="34" charset="-120"/>
              </a:rPr>
              <a:t>Cliente</a:t>
            </a:r>
            <a:endParaRPr lang="en-US" sz="1400" dirty="0">
              <a:solidFill>
                <a:srgbClr val="ED145B"/>
              </a:solidFill>
            </a:endParaRPr>
          </a:p>
        </p:txBody>
      </p:sp>
      <p:sp>
        <p:nvSpPr>
          <p:cNvPr id="12" name="Elipse 11">
            <a:extLst>
              <a:ext uri="{FF2B5EF4-FFF2-40B4-BE49-F238E27FC236}">
                <a16:creationId xmlns:a16="http://schemas.microsoft.com/office/drawing/2014/main" id="{A8F45FBF-0BEF-F3C5-0611-45E3CD6062E4}"/>
              </a:ext>
            </a:extLst>
          </p:cNvPr>
          <p:cNvSpPr/>
          <p:nvPr/>
        </p:nvSpPr>
        <p:spPr>
          <a:xfrm>
            <a:off x="-941205" y="5845240"/>
            <a:ext cx="2052320" cy="1798320"/>
          </a:xfrm>
          <a:prstGeom prst="ellipse">
            <a:avLst/>
          </a:prstGeom>
          <a:solidFill>
            <a:srgbClr val="ED14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6">
            <a:extLst>
              <a:ext uri="{FF2B5EF4-FFF2-40B4-BE49-F238E27FC236}">
                <a16:creationId xmlns:a16="http://schemas.microsoft.com/office/drawing/2014/main" id="{DCBE90E2-C11F-FD13-050C-841F7F210463}"/>
              </a:ext>
            </a:extLst>
          </p:cNvPr>
          <p:cNvSpPr/>
          <p:nvPr/>
        </p:nvSpPr>
        <p:spPr>
          <a:xfrm>
            <a:off x="822960" y="3925000"/>
            <a:ext cx="6210138" cy="365760"/>
          </a:xfrm>
          <a:prstGeom prst="rect">
            <a:avLst/>
          </a:prstGeom>
          <a:noFill/>
          <a:ln/>
        </p:spPr>
        <p:txBody>
          <a:bodyPr wrap="square" rtlCol="0" anchor="ctr"/>
          <a:lstStyle/>
          <a:p>
            <a:pPr marL="0" indent="0" algn="ctr">
              <a:buNone/>
            </a:pPr>
            <a:r>
              <a:rPr lang="en-US" sz="1300" dirty="0">
                <a:solidFill>
                  <a:schemeClr val="bg2">
                    <a:lumMod val="75000"/>
                  </a:schemeClr>
                </a:solidFill>
                <a:latin typeface="Calibri" pitchFamily="34" charset="0"/>
                <a:ea typeface="Calibri" pitchFamily="34" charset="-122"/>
                <a:cs typeface="Calibri" pitchFamily="34" charset="-120"/>
              </a:rPr>
              <a:t>Base: Brazilian E-Commerce Public Dataset by Olist  ·  Período analisado: 2016–2018</a:t>
            </a:r>
            <a:endParaRPr lang="en-US" sz="1300" dirty="0">
              <a:solidFill>
                <a:schemeClr val="bg2">
                  <a:lumMod val="75000"/>
                </a:schemeClr>
              </a:solidFill>
            </a:endParaRPr>
          </a:p>
        </p:txBody>
      </p:sp>
      <p:sp>
        <p:nvSpPr>
          <p:cNvPr id="8" name="Text 6">
            <a:extLst>
              <a:ext uri="{FF2B5EF4-FFF2-40B4-BE49-F238E27FC236}">
                <a16:creationId xmlns:a16="http://schemas.microsoft.com/office/drawing/2014/main" id="{EF00E573-D090-D4B1-A88E-D1B48133E0E1}"/>
              </a:ext>
            </a:extLst>
          </p:cNvPr>
          <p:cNvSpPr/>
          <p:nvPr/>
        </p:nvSpPr>
        <p:spPr>
          <a:xfrm>
            <a:off x="8280400" y="4683760"/>
            <a:ext cx="3281680" cy="1808480"/>
          </a:xfrm>
          <a:prstGeom prst="rect">
            <a:avLst/>
          </a:prstGeom>
          <a:noFill/>
          <a:ln/>
        </p:spPr>
        <p:txBody>
          <a:bodyPr wrap="square" rtlCol="0" anchor="ctr"/>
          <a:lstStyle/>
          <a:p>
            <a:r>
              <a:rPr lang="en-US" sz="1100" b="1" dirty="0">
                <a:solidFill>
                  <a:schemeClr val="bg2">
                    <a:lumMod val="75000"/>
                  </a:schemeClr>
                </a:solidFill>
              </a:rPr>
              <a:t>Grupo:</a:t>
            </a:r>
            <a:endParaRPr lang="en-US" sz="1400" b="1" dirty="0">
              <a:solidFill>
                <a:schemeClr val="bg2">
                  <a:lumMod val="75000"/>
                </a:schemeClr>
              </a:solidFill>
            </a:endParaRPr>
          </a:p>
          <a:p>
            <a:r>
              <a:rPr lang="pt-BR" sz="1400" dirty="0">
                <a:solidFill>
                  <a:schemeClr val="bg2">
                    <a:lumMod val="75000"/>
                  </a:schemeClr>
                </a:solidFill>
              </a:rPr>
              <a:t>RM377014 - Gean da Cruz Gonçalves</a:t>
            </a:r>
          </a:p>
          <a:p>
            <a:r>
              <a:rPr lang="en-US" sz="1400" dirty="0">
                <a:solidFill>
                  <a:schemeClr val="bg2">
                    <a:lumMod val="75000"/>
                  </a:schemeClr>
                </a:solidFill>
              </a:rPr>
              <a:t>RM377057 - Matheus de Gois Fidelis</a:t>
            </a:r>
          </a:p>
          <a:p>
            <a:r>
              <a:rPr lang="pt-BR" sz="1400" dirty="0">
                <a:solidFill>
                  <a:schemeClr val="bg2">
                    <a:lumMod val="75000"/>
                  </a:schemeClr>
                </a:solidFill>
              </a:rPr>
              <a:t>RM375141 - Vinícius Rodrigues Fernandes </a:t>
            </a:r>
          </a:p>
          <a:p>
            <a:r>
              <a:rPr lang="pt-BR" sz="1400" dirty="0">
                <a:solidFill>
                  <a:schemeClr val="bg2">
                    <a:lumMod val="75000"/>
                  </a:schemeClr>
                </a:solidFill>
              </a:rPr>
              <a:t>RM375659 - Rius Serejo da Silva</a:t>
            </a:r>
            <a:endParaRPr lang="en-US" sz="1400" dirty="0">
              <a:solidFill>
                <a:schemeClr val="bg2">
                  <a:lumMod val="75000"/>
                </a:schemeClr>
              </a:solidFill>
            </a:endParaRPr>
          </a:p>
        </p:txBody>
      </p:sp>
    </p:spTree>
    <p:extLst>
      <p:ext uri="{BB962C8B-B14F-4D97-AF65-F5344CB8AC3E}">
        <p14:creationId xmlns:p14="http://schemas.microsoft.com/office/powerpoint/2010/main" val="487614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466</TotalTime>
  <Words>2503</Words>
  <Application>Microsoft Office PowerPoint</Application>
  <PresentationFormat>Widescreen</PresentationFormat>
  <Paragraphs>219</Paragraphs>
  <Slides>21</Slides>
  <Notes>16</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21</vt:i4>
      </vt:variant>
    </vt:vector>
  </HeadingPairs>
  <TitlesOfParts>
    <vt:vector size="26" baseType="lpstr">
      <vt:lpstr>Arial</vt:lpstr>
      <vt:lpstr>Calibri</vt:lpstr>
      <vt:lpstr>Cambria</vt:lpstr>
      <vt:lpstr>Copperplate Gothic Light</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Rius Silva</cp:lastModifiedBy>
  <cp:revision>166</cp:revision>
  <dcterms:created xsi:type="dcterms:W3CDTF">2026-08-06T22:51:11Z</dcterms:created>
  <dcterms:modified xsi:type="dcterms:W3CDTF">2026-08-26T03:50:13Z</dcterms:modified>
</cp:coreProperties>
</file>